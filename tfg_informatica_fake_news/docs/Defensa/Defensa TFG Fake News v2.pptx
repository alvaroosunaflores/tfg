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5ffeecae-258a-7465-f8e1-613004401d6d}">
          <p14:sldIdLst>
            <p14:sldId id="256"/>
            <p14:sldId id="257"/>
          </p14:sldIdLst>
        </p14:section>
        <p14:section name="1 Introducción" id="{d9e17613-010f-1dd8-658b-b4f9c1b051f7}">
          <p14:sldIdLst>
            <p14:sldId id="258"/>
            <p14:sldId id="259"/>
          </p14:sldIdLst>
        </p14:section>
        <p14:section name="2 Contexto" id="{cd2c7979-947b-0659-f192-0c45c7941757}">
          <p14:sldIdLst>
            <p14:sldId id="260"/>
            <p14:sldId id="261"/>
          </p14:sldIdLst>
        </p14:section>
        <p14:section name="3 Metodología" id="{87c95d04-6177-ac4b-c6d4-4c4d1b42eaea}">
          <p14:sldIdLst>
            <p14:sldId id="262"/>
            <p14:sldId id="263"/>
            <p14:sldId id="264"/>
          </p14:sldIdLst>
        </p14:section>
        <p14:section name="4 Desarrollo" id="{c6e4cbcb-122b-28d6-174c-613337f42749}">
          <p14:sldIdLst>
            <p14:sldId id="265"/>
            <p14:sldId id="266"/>
            <p14:sldId id="267"/>
            <p14:sldId id="268"/>
          </p14:sldIdLst>
        </p14:section>
        <p14:section name="5 Evaluación" id="{355a49a7-b896-26b4-929c-7e00bd5cfaee}">
          <p14:sldIdLst>
            <p14:sldId id="269"/>
            <p14:sldId id="270"/>
            <p14:sldId id="271"/>
            <p14:sldId id="272"/>
            <p14:sldId id="273"/>
            <p14:sldId id="274"/>
          </p14:sldIdLst>
        </p14:section>
        <p14:section name="6 Conclusiones" id="{6cc20e1d-07d7-23fc-61ed-d8c44d858f51}">
          <p14:sldIdLst>
            <p14:sldId id="275"/>
          </p14:sldIdLst>
        </p14:section>
        <p14:section name="Cierre" id="{b9230ca0-3a2e-921b-f343-21da316803fe}">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Registros</c:v>
                </c:pt>
              </c:strCache>
            </c:strRef>
          </c:tx>
          <c:spPr>
            <a:solidFill>
              <a:srgbClr val="2F5D8A"/>
            </a:solidFill>
            <a:effectLst/>
          </c:spPr>
          <c:invertIfNegative val="0"/>
          <c:dLbls>
            <c:numFmt formatCode="#,##0" sourceLinked="0"/>
            <c:txPr>
              <a:bodyPr/>
              <a:lstStyle/>
              <a:p>
                <a:pPr>
                  <a:defRPr b="0" i="0" strike="noStrike" sz="800" u="none">
                    <a:solidFill>
                      <a:srgbClr val="141821"/>
                    </a:solidFill>
                    <a:latin typeface="+mn-lt"/>
                  </a:defRPr>
                </a:pPr>
              </a:p>
            </c:txPr>
            <c:showLegendKey val="0"/>
            <c:showVal val="1"/>
            <c:showCatName val="0"/>
            <c:showSerName val="0"/>
            <c:showPercent val="0"/>
            <c:showBubbleSize val="0"/>
            <c:showLeaderLines val="0"/>
          </c:dLbls>
          <c:dPt>
            <c:idx val="0"/>
            <c:invertIfNegative val="0"/>
            <c:bubble3D val="0"/>
            <c:spPr>
              <a:solidFill>
                <a:srgbClr val="2F5D8A"/>
              </a:solidFill>
              <a:effectLst/>
            </c:spPr>
          </c:dPt>
          <c:dPt>
            <c:idx val="1"/>
            <c:invertIfNegative val="0"/>
            <c:bubble3D val="0"/>
            <c:spPr>
              <a:solidFill>
                <a:srgbClr val="CA061C"/>
              </a:solidFill>
              <a:effectLst/>
            </c:spPr>
          </c:dPt>
          <c:dPt>
            <c:idx val="2"/>
            <c:invertIfNegative val="0"/>
            <c:bubble3D val="0"/>
            <c:spPr>
              <a:solidFill>
                <a:srgbClr val="2F5D8A"/>
              </a:solidFill>
              <a:effectLst/>
            </c:spPr>
          </c:dPt>
          <c:dPt>
            <c:idx val="3"/>
            <c:invertIfNegative val="0"/>
            <c:bubble3D val="0"/>
            <c:spPr>
              <a:solidFill>
                <a:srgbClr val="CA061C"/>
              </a:solidFill>
              <a:effectLst/>
            </c:spPr>
          </c:dPt>
          <c:cat>
            <c:multiLvlStrRef>
              <c:f>Sheet1!$A$2:$A$5</c:f>
              <c:multiLvlStrCache>
                <c:ptCount val="4"/>
                <c:lvl>
                  <c:pt idx="0">
                    <c:v>archive2 · no_fake</c:v>
                  </c:pt>
                  <c:pt idx="1">
                    <c:v>archive2 · fake_news</c:v>
                  </c:pt>
                  <c:pt idx="2">
                    <c:v>LIAR · no_fake</c:v>
                  </c:pt>
                  <c:pt idx="3">
                    <c:v>LIAR · fake_news</c:v>
                  </c:pt>
                </c:lvl>
              </c:multiLvlStrCache>
            </c:multiLvlStrRef>
          </c:cat>
          <c:val>
            <c:numRef>
              <c:f>Sheet1!$B$2:$B$5</c:f>
              <c:numCache>
                <c:formatCode>General</c:formatCode>
                <c:ptCount val="4"/>
                <c:pt idx="0">
                  <c:v>20926</c:v>
                </c:pt>
                <c:pt idx="1">
                  <c:v>17900</c:v>
                </c:pt>
                <c:pt idx="2">
                  <c:v>2049</c:v>
                </c:pt>
                <c:pt idx="3">
                  <c:v>3533</c:v>
                </c:pt>
              </c:numCache>
            </c:numRef>
          </c:val>
        </c:ser>
        <c:dLbls>
          <c:numFmt formatCode="#,##0" sourceLinked="0"/>
          <c:txPr>
            <a:bodyPr/>
            <a:lstStyle/>
            <a:p>
              <a:pPr>
                <a:defRPr b="0" i="0" strike="noStrike" sz="800" u="none">
                  <a:solidFill>
                    <a:srgbClr val="1418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A4250"/>
                </a:solidFill>
                <a:latin typeface="+mn-lt"/>
              </a:defRPr>
            </a:pPr>
            <a:endParaRPr lang="en-US"/>
          </a:p>
        </c:txPr>
        <c:crossAx val="2094734552"/>
        <c:crosses val="autoZero"/>
        <c:auto val="1"/>
        <c:lblAlgn val="ctr"/>
        <c:noMultiLvlLbl val="1"/>
      </c:catAx>
      <c:valAx>
        <c:axId val="2094734552"/>
        <c:scaling>
          <c:orientation val="minMax"/>
          <c:max val="26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Regresión logística</c:v>
                </c:pt>
              </c:strCache>
            </c:strRef>
          </c:tx>
          <c:spPr>
            <a:solidFill>
              <a:srgbClr val="CA061C"/>
            </a:solidFill>
            <a:ln w="25400" cap="flat">
              <a:solidFill>
                <a:srgbClr val="CA06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A061C"/>
              </a:solidFill>
              <a:ln w="9525" cap="flat">
                <a:solidFill>
                  <a:srgbClr val="CA061C"/>
                </a:solidFill>
                <a:prstDash val="solid"/>
                <a:round/>
              </a:ln>
              <a:effectLst/>
            </c:spPr>
          </c:marker>
          <c:cat>
            <c:multiLvlStrRef>
              <c:f>Sheet1!$A$2:$A$6</c:f>
              <c:multiLvlStrCache>
                <c:ptCount val="5"/>
                <c:lvl>
                  <c:pt idx="0">
                    <c:v>Fold 1</c:v>
                  </c:pt>
                  <c:pt idx="1">
                    <c:v>Fold 2</c:v>
                  </c:pt>
                  <c:pt idx="2">
                    <c:v>Fold 3</c:v>
                  </c:pt>
                  <c:pt idx="3">
                    <c:v>Fold 4</c:v>
                  </c:pt>
                  <c:pt idx="4">
                    <c:v>Fold 5</c:v>
                  </c:pt>
                </c:lvl>
              </c:multiLvlStrCache>
            </c:multiLvlStrRef>
          </c:cat>
          <c:val>
            <c:numRef>
              <c:f>Sheet1!$B$2:$B$6</c:f>
              <c:numCache>
                <c:formatCode>General</c:formatCode>
                <c:ptCount val="5"/>
                <c:pt idx="0">
                  <c:v>0.9379</c:v>
                </c:pt>
                <c:pt idx="1">
                  <c:v>0.9395</c:v>
                </c:pt>
                <c:pt idx="2">
                  <c:v>0.9412</c:v>
                </c:pt>
                <c:pt idx="3">
                  <c:v>0.9391</c:v>
                </c:pt>
                <c:pt idx="4">
                  <c:v>0.9384</c:v>
                </c:pt>
              </c:numCache>
            </c:numRef>
          </c:val>
          <c:smooth val="0"/>
        </c:ser>
        <c:ser>
          <c:idx val="1"/>
          <c:order val="1"/>
          <c:tx>
            <c:strRef>
              <c:f>Sheet1!$C$1</c:f>
              <c:strCache>
                <c:ptCount val="1"/>
                <c:pt idx="0">
                  <c:v>Linear SVC</c:v>
                </c:pt>
              </c:strCache>
            </c:strRef>
          </c:tx>
          <c:spPr>
            <a:solidFill>
              <a:srgbClr val="141821"/>
            </a:solidFill>
            <a:ln w="25400" cap="flat">
              <a:solidFill>
                <a:srgbClr val="1418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41821"/>
              </a:solidFill>
              <a:ln w="9525" cap="flat">
                <a:solidFill>
                  <a:srgbClr val="141821"/>
                </a:solidFill>
                <a:prstDash val="solid"/>
                <a:round/>
              </a:ln>
              <a:effectLst/>
            </c:spPr>
          </c:marker>
          <c:cat>
            <c:multiLvlStrRef>
              <c:f>Sheet1!$A$2:$A$6</c:f>
              <c:multiLvlStrCache>
                <c:ptCount val="5"/>
                <c:lvl>
                  <c:pt idx="0">
                    <c:v>Fold 1</c:v>
                  </c:pt>
                  <c:pt idx="1">
                    <c:v>Fold 2</c:v>
                  </c:pt>
                  <c:pt idx="2">
                    <c:v>Fold 3</c:v>
                  </c:pt>
                  <c:pt idx="3">
                    <c:v>Fold 4</c:v>
                  </c:pt>
                  <c:pt idx="4">
                    <c:v>Fold 5</c:v>
                  </c:pt>
                </c:lvl>
              </c:multiLvlStrCache>
            </c:multiLvlStrRef>
          </c:cat>
          <c:val>
            <c:numRef>
              <c:f>Sheet1!$C$2:$C$6</c:f>
              <c:numCache>
                <c:formatCode>General</c:formatCode>
                <c:ptCount val="5"/>
                <c:pt idx="0">
                  <c:v>0.9416</c:v>
                </c:pt>
                <c:pt idx="1">
                  <c:v>0.9367</c:v>
                </c:pt>
                <c:pt idx="2">
                  <c:v>0.9396</c:v>
                </c:pt>
                <c:pt idx="3">
                  <c:v>0.9388</c:v>
                </c:pt>
                <c:pt idx="4">
                  <c:v>0.9372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0.943"/>
          <c:min val="0.935"/>
        </c:scaling>
        <c:delete val="0"/>
        <c:axPos val="l"/>
        <c:majorGridlines>
          <c:spPr>
            <a:ln w="6350" cap="flat">
              <a:solidFill>
                <a:srgbClr val="E5E8EE"/>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472"/>
                </a:solidFill>
                <a:latin typeface="+mn-lt"/>
              </a:defRPr>
            </a:pPr>
            <a:endParaRPr lang="en-US"/>
          </a:p>
        </c:txPr>
        <c:crossAx val="2094734554"/>
        <c:crosses val="autoZero"/>
        <c:crossBetween val="between"/>
        <c:majorUnit val="0.002"/>
      </c:valAx>
      <c:spPr>
        <a:noFill/>
        <a:ln>
          <a:noFill/>
        </a:ln>
        <a:effectLst/>
      </c:spPr>
    </c:plotArea>
    <c:legend>
      <c:legendPos val="b"/>
      <c:overlay val="0"/>
      <c:txPr>
        <a:bodyPr/>
        <a:lstStyle/>
        <a:p>
          <a:pPr>
            <a:defRPr sz="850">
              <a:solidFill>
                <a:srgbClr val="14182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Álvaro Osuna Flores y defiendo mi Trabajo Fin de Grado del Grado en Ingeniería Informática: diseño de un pipeline experimental reproducible para la clasificación de fake news mediante modelos de aprendizaje automático. La tutora ha sido Liliana Patricia Santacruz Valencia. El trabajo propone una metodología experimental reproducible, con especial atención a la trazabilidad de los datos, las transformaciones aplicadas y los resultados obtenidos.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defensa sigue la estructura de la memoria, en seis capítulos: introducción, contexto, metodología, requisitos y arquitectura funcional, desarrollo e implementación, evaluación experimental y análisis de resultados, y conclusiones y líneas futuras. En la franja inferior de cada diapositiva se resalta el capítulo en el que nos encontramos.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noticias falsas pueden propagarse en redes sociales con mayor rapidez y alcanzar a más usuarios que las verdaderas, y la revisión manual de todo el contenido es inviable. Por eso interesa la clasificación automática. Pero el reto que motiva este trabajo es otro: determinar hasta qué punto un buen resultado refleja de verdad la capacidad de identificar desinformación. La procedencia, el estilo de redacción, el formato o los criterios de etiquetado pueden introducir patrones que el modelo aprovecha sin que tengan relación con la veracidad. Por eso planteo un pipeline reproducible que integre datasets públicos, prepare los textos, entrene modelos bajo condiciones comunes y analice los resultados de forma sistemática. Más que buscar el modelo con mejores métricas, busco un proceso que permita interpretarlas.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diseñar, implementar y evaluar un proceso experimental reproducible para la clasificación automática de fake news a partir de contenido textual, mediante la construcción y validación de un corpus unificado y el entrenamiento y comparación de modelos supervisados. De ahí salen siete objetivos específicos: construir y validar el corpus binario con criterios explícitos; un pipeline de procesamiento textual determinista; controles automáticos de calidad del corpus; entrenar y comparar modelos con TF-IDF y una configuración común; evaluarlos con métricas, análisis de errores y términos influyentes; garantizar la trazabilidad y reproducibilidad de cada ejecución; y, como extensión, un módulo de adquisición bajo demanda de mensajes de canales públicos de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se apoya en cuatro pilares. Primero, fake news se usa como categoría operativa: el modelo separa registros etiquetados como fake_news de los etiquetados como no_fake; no comprueba afirmaciones ni recupera evidencias, así que no es fact-checking. Segundo, la clasificación es basada en contenido, y el preprocesamiento forma parte de la definición experimental. Tercero, el corpus se deriva de LIAR, declaraciones de PolitiFact en seis niveles, y archive2, los ficheros Fake y True atribuidos a ISOT. Cuarto, TF-IDF con clasificadores lineales como línea base ligera, explicable y reproducible antes de pasar a modelos como BERT. Y como marco transversal, la evaluación: macro F1 con dispersión, registros relacionados en una sola partición y control de duplicados, porque la fuga de datos produce estimaciones optimistas.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trabajos relacionados comparo dimensiones metodológicas, no cifras, porque los resultados dependen del corpus y del protocolo. Shu y colaboradores aportan una taxonomía y revisión, sin un experimento único. Wang publica LIAR con baselines y un modelo híbrido multiclase; mi binarización reduce su granularidad. Ruchansky propone CSI, que requiere contexto social, por lo que no es comparable con un pipeline solo textual. Ozbay y Alatas comparan veintitrés clasificadores sobre tres conjuntos. Y este TFG se sitúa como corpus binario derivado de archive2 y LIAR, TF-IDF de unigramas y bigramas, dos modelos lineales en cinco particiones agrupadas y transferencia en ambas direcciones, con un alcance explícitamente acotado.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método se organiza como una cadena de evidencias. Primero se conserva la fuente y se genera una auditoría fila a fila. Después se agrupan los duplicados exactos y casi duplicados antes de crear particiones. Se generan cinco particiones con StratifiedGroupKFold y semilla 42, y ambos clasificadores reciben exactamente las mismas asignaciones. En cada fold, el vectorizador TF-IDF y el modelo se ajustan solo con entrenamiento, y el fold reservado produce predicciones fuera de entrenamiento para todos los registros. Una ruta separada evalúa la transferencia entre archive2 y LIAR en ambos sentidos. Las etapas tienen estado persistido: una ejecución interrumpida solo reutiliza una etapa completa si coinciden las huellas de entrada, configuración, código y versiones. Telegram queda desacoplado: produce mensajes sin etiqueta y no entra en la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siguen el orden del flujo experimental. Los funcionales: construir el corpus conservando procedencia y agrupando duplicados antes de particionar; preprocesar de forma determinista; validar esquema, tipos, integridad, etiquetas, nulos y duplicados; entrenar TF-IDF y los dos lineales solo con el entrenamiento de cinco particiones agrupadas; comparar y evaluar por partición y fuente, con matrices, errores y transferencia; persistir los artefactos; permitir la reproducción reanudando solo etapas con huellas coincidentes; y la adquisición opcional desde Telegram sin incorporarla al experimento. Los no funcionales fijan cómo debe ser: reproducible, trazable con un identificador único por run, robusto deteniendo el flujo ante incoherencias, mantenible con bajo acoplamiento, con Telegram separado del experimento y con salidas documentadas e interpretables. Cada requisito está trazado en la memoria con secciones, evidencias y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funcional de la Figura 1 de la memoria, organizada en dos rutas independientes. La ruta experimental evaluada parte de archive2 y LIAR, construye y valida el corpus unificado, aplica el preprocesamiento y la representación TF-IDF, entrena los modelos lineales y termina con la evaluación y la persistencia de artefactos. La ruta complementaria adquiere bajo demanda mensajes de canales públicos de Telegram, los deduplica y preprocesa, y produce mensajes sin etiquetar destinados únicamente a preparar un futuro corpus. A la derecha, las herramientas: Telethon para la adquisición, re, html y langdetect para el preprocesamiento, pandas para los datos, scikit-learn para el modelado, JSON, CSV y joblib para la persistencia y Pytest para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construcción histórica generó un archivo unificado de 50.503 filas: 44.898 de archive2 y 5.605 de LIAR. La nueva preparación produce una versión derivada sin sobrescribirlo, con auditoría por fila. Cada fila original queda en un estado exclusivo: 44.408 representantes conservados, 6.090 duplicados exactos y 5 filas excluidas por pertenecer a componentes con etiquetas contradictorias; la suma reproduce las 50.503. Las reglas de etiqueta: en archive2, Fake pasa a fake_news y True a no_fake; en LIAR, false y pants-fire a fake_news y true a no_fake, y se excluyen las 7.184 categorías intermedias. El resultado está razonablemente equilibrado: 51,7% no_fake y 48,3% fake_news, con predominio de archive2. Importante: no_fake es una etiqueta negativa heredada, no una verificación independiente de cada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evitar que textos repetidos o casi idénticos caigan a la vez en entrenamiento y prueba, la deduplicación se hace antes de particionar. Los duplicados exactos, con texto normalizado idéntico, se consolidan en el representante de menor source_id. Para los casi duplicados, MinHash LSH propone candidatos con secuencias de cinco palabras, 128 permutaciones, semilla 42 y 32 bandas de cuatro filas, y solo el Jaccard sobre las secuencias completas, con umbral 0,90, confirma cada relación. Se forman componentes conexos antes de excluir conflictos: se detectaron 42 componentes con 45 aristas confirmadas, 2 componentes con etiquetas contradictorias, que suman 5 filas excluidas, y ningún grupo de procedencia mixta. Además, la validación estructural comprueba columnas, identificadores únicos, etiquetas, coherencia, nulos y textos vacíos. Pero estos controles son estructurales: no verifican la veracidad ni la calidad semántica de las etiquetas, y LSH no garantiza encontrar todas las paráfrasis.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preprocessing.py transforma cada texto en una representación normalizada con siete reglas documentadas y persistidas junto al corpus. R1 decodifica HTML y pasa a minúsculas. R2 sustituye URLs por el token url y menciones por usuario. R3 conserva el término base de los hashtags. R4 elimina emojis y caracteres fuera de la clase latina configurada. R5 compacta espacios y tokeniza con una expresión regular alfanumérica. R6 filtra stopwords configurables. Y R7 marca textos vacíos, demasiado cortos o de idioma desconocido mediante quality_flags. El orden es estable, el detector de idioma usa semilla fija y, sobre todo, el texto original no se borra: normalized_text se guarda junto a text, de modo que siempre puedo volver al original y ver qué se transformó. Cualquier cambio en estas reglas define nuevas condiciones experimentales.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reproducibilidad se implementa en tres niveles: configuración en un fichero JSON, versionado de artefactos con una carpeta propia por run que no sobrescribe resultados anteriores, y validación automática antes de entrenar. El run principal es robustness-1a94400d502b149f, y las huellas SHA-256 identifican la fuente, la configuración, el ejecutor, el corpus derivado y la auditoría por fila. El manifiesto registra además versiones de Python, NumPy, pandas y scikit-learn, tamaños de fold, duración, iteraciones y avisos. En cuanto a pruebas, la suite registra 28 pruebas superadas y ninguna fallida: 16 del conjunto anterior y 12 del protocolo de robustez. Verifican contratos técnicos, no rendimiento. Y se comprobó la integridad de la ejecución: 44.408 predicciones por modelo, ningún grupo repartido entre folds y ningún aviso de convergencia en los diez ajustes.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 dos candidatos con la misma representación, TF-IDF de unigramas y bigramas con 5.000 características, y las mismas cinco particiones agrupadas. La regresión logística usa C igual a 1, class_weight balanced y solver lbfgs, con umbral probabilístico 0,60; Linear SVC usa C igual a 1, class_weight balanced y umbral 0,30 sobre decision_function. Ambos umbrales se fijaron antes de evaluar. La regresión logística obtiene el mayor macro F1 medio, 0,9392 con desviación 0,0013, frente a 0,9388 con desviación 0,0020 de Linear SVC. La diferencia es mínima: la uso solo como criterio interno de selección, no como diferencia estadísticamente significativa ni como estimación independiente. A la derecha se ve el macro F1 de cada fold: ambos modelos se mueven en la misma franja.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métricas globales fuera de entrenamiento del modelo seleccionado, la regresión logística, sobre las 44.408 predicciones: accuracy 0,9394, macro F1 0,9392, precisión macro 0,9396 y recall macro 0,9390. La matriz de confusión agrega todas esas predicciones: de los registros etiquetados no_fake, 21.819 bien clasificados y 1.156 falsos positivos; de los etiquetados fake_news, 19.896 detectados y 1.537 falsos negativos. Hay menos falsos positivos que falsos negativos, coherente con el umbral 0,60, fijado manualmente para reducir falsos positivos en este experimento. Matizo dos cosas: los errores son discrepancias con las etiquetas del dataset, no verificaciones factuales; y el umbral no es aprendido ni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hallazgo más importante. Si desgloso las predicciones fuera de entrenamiento por fuente, el macro F1 en archive2 es 0,9845, pero en LIAR baja a 0,5949. Los errores lo confirman: en archive2 hay 95 falsos positivos y 502 falsos negativos, mientras que LIAR, con muchos menos registros, acumula 1.061 y 1.035. Además evalué la transferencia en ambos sentidos: entrenar con una fuente y probar en la otra. Los cuatro macro F1 quedan entre 0,47 y 0,52. Esto es consistente con que las fuentes difieren en longitud, formato, estilo y construcción de etiquetas. La conclusión es que parte del rendimiento global puede explicarse por patrones propios de las fuentes y no solo por señales de veracidad. El protocolo no permite atribuir la diferencia a un único factor causal, y estos resultados no se extrapolan a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referencia separada, conservo el baseline histórico de una sola partición, el run de abril de 2026: Linear SVC obtuvo un macro F1 de 0,9424 sobre un holdout de 12.626 ejemplos. Una auditoría posterior identificó solapamiento de textos normalizados entre entrenamiento y holdout, y por eso el protocolo actual agrupa duplicados antes de particionar. Como los protocolos no son equivalentes, no atribuyo causalmente la diferencia al control de duplicados. Los términos de ese modelo lineal son reveladores: hacia la clase negativa empujan reuters, washington reuters, said u on tuesday; hacia fake news, via, read more, video, breaking o featured image. Sugieren dependencia del estilo editorial y de la procedencia. Pero son asociaciones del baseline histórico, no coeficientes del modelo actual, ni causas de la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Reúno las amenazas a la validez de la Tabla 25. Efecto de fuente: macro F1 de 0,9845 en archive2 frente a 0,5949 en LIAR; por eso desgloso por fuente. Duplicación residual: MinHash es aproximado y puede omitir paráfrasis. Validez de constructo: las etiquetas son heredadas y LIAR se simplifica, excluyendo 7.184 categorías intermedias. Validez estadística: la media de cinco folds es una comparación interna, no una evaluación independiente tras la selección. Validez externa: la transferencia solo se midió entre archive2 y LIAR; no demuestra adaptación a otros dominios, épocas ni a Telegram. Y validez de implementación: los cambios de código o datos pueden cambiar las salidas, por lo que conservo hashes, manifiesto, asignaciones, modelos y pruebas. Los controles reducen riesgos, pero no eliminan el sesgo de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a la demostración. Como es un trabajo centrado en datos y método, la demo es la reproducción del protocolo según la Tabla 17 de la memoria: comprobar la identidad prevista con dry-run, ejecutar la preparación, la validación cruzada agrupada y la transferencia con la configuración de robustez, mostrar que la reanudación solo reutiliza etapas con hashes coincidentes y ejecutar la suite de pruebas. Aquí dejo el hueco para el vídeo. Si la reproducción fallara, a la derecha tengo la secuencia y el run de referencia como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se ha alcanzado el objetivo general: un proceso experimental reproducible para la clasificación de fake news a partir de texto. La principal aportación es una línea base reproducible, interpretable y auditable: un corpus derivado con criterios explícitos y agrupación de duplicados, un flujo que conserva la procedencia y permite reconstruir cada ejecución, y una comparación en particiones agrupadas donde la regresión logística obtiene 0,9392 frente a 0,9388. El análisis muestra que la métrica final no basta: parte del rendimiento puede venir de patrones de las fuentes. Telegram queda como módulo independiente, porque disponer de datos de una plataforma no implica poder usarlos directamente en un experimento supervisado. Como líneas futuras: un corpus de Telegram con anotación documentada, particiones temporales y fuentes adicionales, análisis de errores y estabilidad de términos, calibración de las salidas y, después, modelos preentrenados con particiones equivalentes. La utilidad de un clasificador no depende solo de una métrica elevada, sino de poder explicar con qué datos, decisiones y limitaciones se ha obtenido.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termino. Muchas gracias por su atención; quedo a disposición del tribunal para las preguntas que consideren.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18872" cy="5143500"/>
          </a:xfrm>
          <a:prstGeom prst="rect">
            <a:avLst/>
          </a:prstGeom>
          <a:solidFill>
            <a:srgbClr val="CA061C"/>
          </a:solidFill>
          <a:ln w="12700">
            <a:solidFill>
              <a:srgbClr val="CA061C"/>
            </a:solidFill>
            <a:prstDash val="solid"/>
          </a:ln>
        </p:spPr>
      </p:sp>
      <p:pic>
        <p:nvPicPr>
          <p:cNvPr id="4" name="Image 0" descr="/tmp/claude-0/-home-user/ce555fa8-9152-5329-9285-191cb93ac5af/scratchpad/logo.png">    </p:cNvPr>
          <p:cNvPicPr>
            <a:picLocks noChangeAspect="1"/>
          </p:cNvPicPr>
          <p:nvPr/>
        </p:nvPicPr>
        <p:blipFill>
          <a:blip r:embed="rId1"/>
          <a:stretch>
            <a:fillRect/>
          </a:stretch>
        </p:blipFill>
        <p:spPr>
          <a:xfrm>
            <a:off x="493776" y="329184"/>
            <a:ext cx="210312" cy="429768"/>
          </a:xfrm>
          <a:prstGeom prst="rect">
            <a:avLst/>
          </a:prstGeom>
        </p:spPr>
      </p:pic>
      <p:sp>
        <p:nvSpPr>
          <p:cNvPr id="5" name="Text 1"/>
          <p:cNvSpPr txBox="1"/>
          <p:nvPr/>
        </p:nvSpPr>
        <p:spPr>
          <a:xfrm>
            <a:off x="4754880" y="384048"/>
            <a:ext cx="3931920" cy="329184"/>
          </a:xfrm>
          <a:prstGeom prst="rect">
            <a:avLst/>
          </a:prstGeom>
          <a:noFill/>
          <a:ln/>
        </p:spPr>
        <p:txBody>
          <a:bodyPr wrap="square" lIns="0" tIns="0" rIns="0" bIns="0" rtlCol="0" anchor="ctr"/>
          <a:lstStyle/>
          <a:p>
            <a:pPr algn="r" indent="0" marL="0">
              <a:lnSpc>
                <a:spcPct val="130000"/>
              </a:lnSpc>
              <a:buNone/>
            </a:pPr>
            <a:r>
              <a:rPr lang="en-US" sz="750" b="1" spc="150" kern="0" dirty="0">
                <a:solidFill>
                  <a:srgbClr val="3A4250"/>
                </a:solidFill>
                <a:latin typeface="Calibri" pitchFamily="34" charset="0"/>
                <a:ea typeface="Calibri" pitchFamily="34" charset="-122"/>
                <a:cs typeface="Calibri" pitchFamily="34" charset="-120"/>
              </a:rPr>
              <a:t>ESCUELA TÉCNICA SUPERIOR DE INGENIERÍA INFORMÁTICA</a:t>
            </a:r>
            <a:endParaRPr lang="en-US" sz="750" dirty="0"/>
          </a:p>
          <a:p>
            <a:pPr algn="r" indent="0" marL="0">
              <a:lnSpc>
                <a:spcPct val="130000"/>
              </a:lnSpc>
              <a:buNone/>
            </a:pPr>
            <a:r>
              <a:rPr lang="en-US" sz="750" b="1" spc="150" kern="0" dirty="0">
                <a:solidFill>
                  <a:srgbClr val="3A4250"/>
                </a:solidFill>
                <a:latin typeface="Calibri" pitchFamily="34" charset="0"/>
                <a:ea typeface="Calibri" pitchFamily="34" charset="-122"/>
                <a:cs typeface="Calibri" pitchFamily="34" charset="-120"/>
              </a:rPr>
              <a:t>UNIVERSIDAD REY JUAN CARLOS</a:t>
            </a:r>
            <a:endParaRPr lang="en-US" sz="750" dirty="0"/>
          </a:p>
        </p:txBody>
      </p:sp>
      <p:sp>
        <p:nvSpPr>
          <p:cNvPr id="6" name="Text 2"/>
          <p:cNvSpPr txBox="1"/>
          <p:nvPr/>
        </p:nvSpPr>
        <p:spPr>
          <a:xfrm>
            <a:off x="493776" y="1828800"/>
            <a:ext cx="7315200" cy="201168"/>
          </a:xfrm>
          <a:prstGeom prst="rect">
            <a:avLst/>
          </a:prstGeom>
          <a:noFill/>
          <a:ln/>
        </p:spPr>
        <p:txBody>
          <a:bodyPr wrap="square" lIns="0" tIns="0" rIns="0" bIns="0" rtlCol="0" anchor="ctr"/>
          <a:lstStyle/>
          <a:p>
            <a:pPr indent="0" marL="0">
              <a:buNone/>
            </a:pPr>
            <a:r>
              <a:rPr lang="en-US" sz="900" b="1" spc="250" kern="0" dirty="0">
                <a:solidFill>
                  <a:srgbClr val="CA061C"/>
                </a:solidFill>
                <a:latin typeface="Calibri" pitchFamily="34" charset="0"/>
                <a:ea typeface="Calibri" pitchFamily="34" charset="-122"/>
                <a:cs typeface="Calibri" pitchFamily="34" charset="-120"/>
              </a:rPr>
              <a:t>TRABAJO FIN DE GRADO · CURSO 2026 / 2027</a:t>
            </a:r>
            <a:endParaRPr lang="en-US" sz="900" dirty="0"/>
          </a:p>
        </p:txBody>
      </p:sp>
      <p:sp>
        <p:nvSpPr>
          <p:cNvPr id="7" name="Text 3"/>
          <p:cNvSpPr txBox="1"/>
          <p:nvPr/>
        </p:nvSpPr>
        <p:spPr>
          <a:xfrm>
            <a:off x="493776" y="2084832"/>
            <a:ext cx="8138160" cy="960120"/>
          </a:xfrm>
          <a:prstGeom prst="rect">
            <a:avLst/>
          </a:prstGeom>
          <a:noFill/>
          <a:ln/>
        </p:spPr>
        <p:txBody>
          <a:bodyPr wrap="square" lIns="0" tIns="0" rIns="0" bIns="0" rtlCol="0" anchor="t"/>
          <a:lstStyle/>
          <a:p>
            <a:pPr indent="0" marL="0">
              <a:buNone/>
            </a:pPr>
            <a:r>
              <a:rPr lang="en-US" sz="2100" b="1" dirty="0">
                <a:solidFill>
                  <a:srgbClr val="141821"/>
                </a:solidFill>
                <a:latin typeface="Cambria" pitchFamily="34" charset="0"/>
                <a:ea typeface="Cambria" pitchFamily="34" charset="-122"/>
                <a:cs typeface="Cambria" pitchFamily="34" charset="-120"/>
              </a:rPr>
              <a:t>Diseño de un pipeline experimental reproducible para la clasificación de </a:t>
            </a:r>
            <a:pPr indent="0" marL="0">
              <a:buNone/>
            </a:pPr>
            <a:r>
              <a:rPr lang="en-US" sz="2100" b="1" dirty="0">
                <a:solidFill>
                  <a:srgbClr val="CA061C"/>
                </a:solidFill>
                <a:latin typeface="Cambria" pitchFamily="34" charset="0"/>
                <a:ea typeface="Cambria" pitchFamily="34" charset="-122"/>
                <a:cs typeface="Cambria" pitchFamily="34" charset="-120"/>
              </a:rPr>
              <a:t>fake news</a:t>
            </a:r>
            <a:pPr indent="0" marL="0">
              <a:buNone/>
            </a:pPr>
            <a:r>
              <a:rPr lang="en-US" sz="2100" b="1" dirty="0">
                <a:solidFill>
                  <a:srgbClr val="141821"/>
                </a:solidFill>
                <a:latin typeface="Cambria" pitchFamily="34" charset="0"/>
                <a:ea typeface="Cambria" pitchFamily="34" charset="-122"/>
                <a:cs typeface="Cambria" pitchFamily="34" charset="-120"/>
              </a:rPr>
              <a:t> mediante modelos de aprendizaje automático</a:t>
            </a:r>
            <a:endParaRPr lang="en-US" sz="2100" dirty="0"/>
          </a:p>
        </p:txBody>
      </p:sp>
      <p:sp>
        <p:nvSpPr>
          <p:cNvPr id="8" name="Shape 4"/>
          <p:cNvSpPr/>
          <p:nvPr/>
        </p:nvSpPr>
        <p:spPr>
          <a:xfrm>
            <a:off x="493776" y="3227832"/>
            <a:ext cx="27432" cy="182880"/>
          </a:xfrm>
          <a:prstGeom prst="rect">
            <a:avLst/>
          </a:prstGeom>
          <a:solidFill>
            <a:srgbClr val="CA061C"/>
          </a:solidFill>
          <a:ln w="12700">
            <a:solidFill>
              <a:srgbClr val="CA061C"/>
            </a:solidFill>
            <a:prstDash val="solid"/>
          </a:ln>
        </p:spPr>
      </p:sp>
      <p:sp>
        <p:nvSpPr>
          <p:cNvPr id="9" name="Text 5"/>
          <p:cNvSpPr txBox="1"/>
          <p:nvPr/>
        </p:nvSpPr>
        <p:spPr>
          <a:xfrm>
            <a:off x="603504" y="3200400"/>
            <a:ext cx="7863840" cy="237744"/>
          </a:xfrm>
          <a:prstGeom prst="rect">
            <a:avLst/>
          </a:prstGeom>
          <a:noFill/>
          <a:ln/>
        </p:spPr>
        <p:txBody>
          <a:bodyPr wrap="square" lIns="0" tIns="0" rIns="0" bIns="0" rtlCol="0" anchor="ctr"/>
          <a:lstStyle/>
          <a:p>
            <a:pPr indent="0" marL="0">
              <a:buNone/>
            </a:pPr>
            <a:r>
              <a:rPr lang="en-US" sz="1200" dirty="0">
                <a:solidFill>
                  <a:srgbClr val="3A4250"/>
                </a:solidFill>
                <a:latin typeface="Cambria" pitchFamily="34" charset="0"/>
                <a:ea typeface="Cambria" pitchFamily="34" charset="-122"/>
                <a:cs typeface="Cambria" pitchFamily="34" charset="-120"/>
              </a:rPr>
              <a:t>Una línea base reproducible e interpretable, centrada en la </a:t>
            </a:r>
            <a:pPr indent="0" marL="0">
              <a:buNone/>
            </a:pPr>
            <a:r>
              <a:rPr lang="en-US" sz="1200" b="1" dirty="0">
                <a:solidFill>
                  <a:srgbClr val="141821"/>
                </a:solidFill>
                <a:latin typeface="Cambria" pitchFamily="34" charset="0"/>
                <a:ea typeface="Cambria" pitchFamily="34" charset="-122"/>
                <a:cs typeface="Cambria" pitchFamily="34" charset="-120"/>
              </a:rPr>
              <a:t>trazabilidad de datos, transformaciones y resultados</a:t>
            </a:r>
            <a:endParaRPr lang="en-US" sz="1200" dirty="0"/>
          </a:p>
        </p:txBody>
      </p:sp>
      <p:sp>
        <p:nvSpPr>
          <p:cNvPr id="10" name="Shape 6"/>
          <p:cNvSpPr/>
          <p:nvPr/>
        </p:nvSpPr>
        <p:spPr>
          <a:xfrm>
            <a:off x="493776" y="4041648"/>
            <a:ext cx="8193024" cy="0"/>
          </a:xfrm>
          <a:prstGeom prst="line">
            <a:avLst/>
          </a:prstGeom>
          <a:noFill/>
          <a:ln w="12700">
            <a:solidFill>
              <a:srgbClr val="141821"/>
            </a:solidFill>
            <a:prstDash val="solid"/>
          </a:ln>
        </p:spPr>
      </p:sp>
      <p:sp>
        <p:nvSpPr>
          <p:cNvPr id="11" name="Text 7"/>
          <p:cNvSpPr txBox="1"/>
          <p:nvPr/>
        </p:nvSpPr>
        <p:spPr>
          <a:xfrm>
            <a:off x="493776" y="4160520"/>
            <a:ext cx="18288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AUTOR</a:t>
            </a:r>
            <a:endParaRPr lang="en-US" sz="750" dirty="0"/>
          </a:p>
        </p:txBody>
      </p:sp>
      <p:sp>
        <p:nvSpPr>
          <p:cNvPr id="12" name="Text 8"/>
          <p:cNvSpPr txBox="1"/>
          <p:nvPr/>
        </p:nvSpPr>
        <p:spPr>
          <a:xfrm>
            <a:off x="493776" y="4343400"/>
            <a:ext cx="3657600" cy="22860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Álvaro Osuna Flores</a:t>
            </a:r>
            <a:endParaRPr lang="en-US" sz="1300" dirty="0"/>
          </a:p>
        </p:txBody>
      </p:sp>
      <p:sp>
        <p:nvSpPr>
          <p:cNvPr id="13" name="Text 9"/>
          <p:cNvSpPr txBox="1"/>
          <p:nvPr/>
        </p:nvSpPr>
        <p:spPr>
          <a:xfrm>
            <a:off x="493776" y="4572000"/>
            <a:ext cx="365760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Grado en Ingeniería Informática</a:t>
            </a:r>
            <a:endParaRPr lang="en-US" sz="1000" dirty="0"/>
          </a:p>
        </p:txBody>
      </p:sp>
      <p:sp>
        <p:nvSpPr>
          <p:cNvPr id="14" name="Text 10"/>
          <p:cNvSpPr txBox="1"/>
          <p:nvPr/>
        </p:nvSpPr>
        <p:spPr>
          <a:xfrm>
            <a:off x="5943600" y="4389120"/>
            <a:ext cx="2743200" cy="182880"/>
          </a:xfrm>
          <a:prstGeom prst="rect">
            <a:avLst/>
          </a:prstGeom>
          <a:noFill/>
          <a:ln/>
        </p:spPr>
        <p:txBody>
          <a:bodyPr wrap="square" lIns="0" tIns="0" rIns="0" bIns="0" rtlCol="0" anchor="ctr"/>
          <a:lstStyle/>
          <a:p>
            <a:pPr algn="r" indent="0" marL="0">
              <a:buNone/>
            </a:pPr>
            <a:r>
              <a:rPr lang="en-US" sz="750" b="1" spc="150" kern="0" dirty="0">
                <a:solidFill>
                  <a:srgbClr val="5B6472"/>
                </a:solidFill>
                <a:latin typeface="Calibri" pitchFamily="34" charset="0"/>
                <a:ea typeface="Calibri" pitchFamily="34" charset="-122"/>
                <a:cs typeface="Calibri" pitchFamily="34" charset="-120"/>
              </a:rPr>
              <a:t>TUTORA</a:t>
            </a:r>
            <a:endParaRPr lang="en-US" sz="750" dirty="0"/>
          </a:p>
        </p:txBody>
      </p:sp>
      <p:sp>
        <p:nvSpPr>
          <p:cNvPr id="15" name="Text 11"/>
          <p:cNvSpPr txBox="1"/>
          <p:nvPr/>
        </p:nvSpPr>
        <p:spPr>
          <a:xfrm>
            <a:off x="5029200" y="4572000"/>
            <a:ext cx="3657600" cy="219456"/>
          </a:xfrm>
          <a:prstGeom prst="rect">
            <a:avLst/>
          </a:prstGeom>
          <a:noFill/>
          <a:ln/>
        </p:spPr>
        <p:txBody>
          <a:bodyPr wrap="square" lIns="0" tIns="0" rIns="0" bIns="0" rtlCol="0" anchor="ctr"/>
          <a:lstStyle/>
          <a:p>
            <a:pPr algn="r" indent="0" marL="0">
              <a:buNone/>
            </a:pPr>
            <a:r>
              <a:rPr lang="en-US" sz="1150" b="1" dirty="0">
                <a:solidFill>
                  <a:srgbClr val="141821"/>
                </a:solidFill>
                <a:latin typeface="Calibri" pitchFamily="34" charset="0"/>
                <a:ea typeface="Calibri" pitchFamily="34" charset="-122"/>
                <a:cs typeface="Calibri" pitchFamily="34" charset="-120"/>
              </a:rPr>
              <a:t>Liliana Patricia Santacruz Valencia</a:t>
            </a:r>
            <a:endParaRPr lang="en-US" sz="1150" dirty="0"/>
          </a:p>
        </p:txBody>
      </p:sp>
      <p:sp>
        <p:nvSpPr>
          <p:cNvPr id="16" name="Text 12"/>
          <p:cNvSpPr txBox="1"/>
          <p:nvPr/>
        </p:nvSpPr>
        <p:spPr>
          <a:xfrm>
            <a:off x="8138160" y="4864608"/>
            <a:ext cx="822960" cy="182880"/>
          </a:xfrm>
          <a:prstGeom prst="rect">
            <a:avLst/>
          </a:prstGeom>
          <a:noFill/>
          <a:ln/>
        </p:spPr>
        <p:txBody>
          <a:bodyPr wrap="square" lIns="0" tIns="0" rIns="0" bIns="0" rtlCol="0" anchor="ctr"/>
          <a:lstStyle/>
          <a:p>
            <a:pPr algn="r" indent="0" marL="0">
              <a:buNone/>
            </a:pPr>
            <a:r>
              <a:rPr lang="en-US" sz="700" dirty="0">
                <a:solidFill>
                  <a:srgbClr val="9AA2AF"/>
                </a:solidFill>
                <a:latin typeface="Courier New" pitchFamily="34" charset="0"/>
                <a:ea typeface="Courier New" pitchFamily="34" charset="-122"/>
                <a:cs typeface="Courier New" pitchFamily="34" charset="-120"/>
              </a:rPr>
              <a:t>01 / 21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ÍNDICE DE LA DEFENSA</a:t>
            </a:r>
            <a:endParaRPr lang="en-US" sz="850" dirty="0"/>
          </a:p>
        </p:txBody>
      </p:sp>
      <p:sp>
        <p:nvSpPr>
          <p:cNvPr id="3" name="Text 1"/>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Estructura de la memoria</a:t>
            </a:r>
            <a:endParaRPr lang="en-US" sz="2400" dirty="0"/>
          </a:p>
        </p:txBody>
      </p:sp>
      <p:sp>
        <p:nvSpPr>
          <p:cNvPr id="5" name="Shape 2"/>
          <p:cNvSpPr/>
          <p:nvPr/>
        </p:nvSpPr>
        <p:spPr>
          <a:xfrm>
            <a:off x="411480" y="1490472"/>
            <a:ext cx="3977640" cy="0"/>
          </a:xfrm>
          <a:prstGeom prst="line">
            <a:avLst/>
          </a:prstGeom>
          <a:noFill/>
          <a:ln w="9525">
            <a:solidFill>
              <a:srgbClr val="D5DAE2"/>
            </a:solidFill>
            <a:prstDash val="solid"/>
          </a:ln>
        </p:spPr>
      </p:sp>
      <p:sp>
        <p:nvSpPr>
          <p:cNvPr id="6" name="Text 3"/>
          <p:cNvSpPr txBox="1"/>
          <p:nvPr/>
        </p:nvSpPr>
        <p:spPr>
          <a:xfrm>
            <a:off x="411480" y="1600200"/>
            <a:ext cx="320040" cy="274320"/>
          </a:xfrm>
          <a:prstGeom prst="rect">
            <a:avLst/>
          </a:prstGeom>
          <a:noFill/>
          <a:ln/>
        </p:spPr>
        <p:txBody>
          <a:bodyPr wrap="square" lIns="0" tIns="0" rIns="0" bIns="0" rtlCol="0" anchor="ctr"/>
          <a:lstStyle/>
          <a:p>
            <a:pPr indent="0" marL="0">
              <a:buNone/>
            </a:pPr>
            <a:r>
              <a:rPr lang="en-US" sz="1600" b="1" dirty="0">
                <a:solidFill>
                  <a:srgbClr val="CA061C"/>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95528" y="1600200"/>
            <a:ext cx="3566160" cy="24688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Introducción</a:t>
            </a:r>
            <a:endParaRPr lang="en-US" sz="1250" dirty="0"/>
          </a:p>
        </p:txBody>
      </p:sp>
      <p:sp>
        <p:nvSpPr>
          <p:cNvPr id="8" name="Text 5"/>
          <p:cNvSpPr txBox="1"/>
          <p:nvPr/>
        </p:nvSpPr>
        <p:spPr>
          <a:xfrm>
            <a:off x="795528" y="1865376"/>
            <a:ext cx="356616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Motivación, objetivos y estructura</a:t>
            </a:r>
            <a:endParaRPr lang="en-US" sz="950" dirty="0"/>
          </a:p>
        </p:txBody>
      </p:sp>
      <p:sp>
        <p:nvSpPr>
          <p:cNvPr id="9" name="Shape 6"/>
          <p:cNvSpPr/>
          <p:nvPr/>
        </p:nvSpPr>
        <p:spPr>
          <a:xfrm>
            <a:off x="411480" y="2359152"/>
            <a:ext cx="3977640" cy="0"/>
          </a:xfrm>
          <a:prstGeom prst="line">
            <a:avLst/>
          </a:prstGeom>
          <a:noFill/>
          <a:ln w="9525">
            <a:solidFill>
              <a:srgbClr val="D5DAE2"/>
            </a:solidFill>
            <a:prstDash val="solid"/>
          </a:ln>
        </p:spPr>
      </p:sp>
      <p:sp>
        <p:nvSpPr>
          <p:cNvPr id="10" name="Text 7"/>
          <p:cNvSpPr txBox="1"/>
          <p:nvPr/>
        </p:nvSpPr>
        <p:spPr>
          <a:xfrm>
            <a:off x="411480" y="2468880"/>
            <a:ext cx="320040" cy="274320"/>
          </a:xfrm>
          <a:prstGeom prst="rect">
            <a:avLst/>
          </a:prstGeom>
          <a:noFill/>
          <a:ln/>
        </p:spPr>
        <p:txBody>
          <a:bodyPr wrap="square" lIns="0" tIns="0" rIns="0" bIns="0" rtlCol="0" anchor="ctr"/>
          <a:lstStyle/>
          <a:p>
            <a:pPr indent="0" marL="0">
              <a:buNone/>
            </a:pPr>
            <a:r>
              <a:rPr lang="en-US" sz="1600" b="1" dirty="0">
                <a:solidFill>
                  <a:srgbClr val="CA061C"/>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795528" y="2468880"/>
            <a:ext cx="3566160" cy="24688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Contexto</a:t>
            </a:r>
            <a:endParaRPr lang="en-US" sz="1250" dirty="0"/>
          </a:p>
        </p:txBody>
      </p:sp>
      <p:sp>
        <p:nvSpPr>
          <p:cNvPr id="12" name="Text 9"/>
          <p:cNvSpPr txBox="1"/>
          <p:nvPr/>
        </p:nvSpPr>
        <p:spPr>
          <a:xfrm>
            <a:off x="795528" y="2734056"/>
            <a:ext cx="356616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Fundamentos, trabajos relacionados y alcance</a:t>
            </a:r>
            <a:endParaRPr lang="en-US" sz="950" dirty="0"/>
          </a:p>
        </p:txBody>
      </p:sp>
      <p:sp>
        <p:nvSpPr>
          <p:cNvPr id="13" name="Shape 10"/>
          <p:cNvSpPr/>
          <p:nvPr/>
        </p:nvSpPr>
        <p:spPr>
          <a:xfrm>
            <a:off x="411480" y="3227832"/>
            <a:ext cx="3977640" cy="0"/>
          </a:xfrm>
          <a:prstGeom prst="line">
            <a:avLst/>
          </a:prstGeom>
          <a:noFill/>
          <a:ln w="9525">
            <a:solidFill>
              <a:srgbClr val="D5DAE2"/>
            </a:solidFill>
            <a:prstDash val="solid"/>
          </a:ln>
        </p:spPr>
      </p:sp>
      <p:sp>
        <p:nvSpPr>
          <p:cNvPr id="14" name="Text 11"/>
          <p:cNvSpPr txBox="1"/>
          <p:nvPr/>
        </p:nvSpPr>
        <p:spPr>
          <a:xfrm>
            <a:off x="411480" y="3337560"/>
            <a:ext cx="320040" cy="274320"/>
          </a:xfrm>
          <a:prstGeom prst="rect">
            <a:avLst/>
          </a:prstGeom>
          <a:noFill/>
          <a:ln/>
        </p:spPr>
        <p:txBody>
          <a:bodyPr wrap="square" lIns="0" tIns="0" rIns="0" bIns="0" rtlCol="0" anchor="ctr"/>
          <a:lstStyle/>
          <a:p>
            <a:pPr indent="0" marL="0">
              <a:buNone/>
            </a:pPr>
            <a:r>
              <a:rPr lang="en-US" sz="1600" b="1" dirty="0">
                <a:solidFill>
                  <a:srgbClr val="CA061C"/>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795528" y="3337560"/>
            <a:ext cx="3566160" cy="24688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Metodología, requisitos y arquitectura</a:t>
            </a:r>
            <a:endParaRPr lang="en-US" sz="1250" dirty="0"/>
          </a:p>
        </p:txBody>
      </p:sp>
      <p:sp>
        <p:nvSpPr>
          <p:cNvPr id="16" name="Text 13"/>
          <p:cNvSpPr txBox="1"/>
          <p:nvPr/>
        </p:nvSpPr>
        <p:spPr>
          <a:xfrm>
            <a:off x="795528" y="3602736"/>
            <a:ext cx="356616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Protocolo agrupado, RF / RNF y arquitectura funcional</a:t>
            </a:r>
            <a:endParaRPr lang="en-US" sz="950" dirty="0"/>
          </a:p>
        </p:txBody>
      </p:sp>
      <p:sp>
        <p:nvSpPr>
          <p:cNvPr id="17" name="Shape 14"/>
          <p:cNvSpPr/>
          <p:nvPr/>
        </p:nvSpPr>
        <p:spPr>
          <a:xfrm>
            <a:off x="4663440" y="1490472"/>
            <a:ext cx="3977640" cy="0"/>
          </a:xfrm>
          <a:prstGeom prst="line">
            <a:avLst/>
          </a:prstGeom>
          <a:noFill/>
          <a:ln w="9525">
            <a:solidFill>
              <a:srgbClr val="D5DAE2"/>
            </a:solidFill>
            <a:prstDash val="solid"/>
          </a:ln>
        </p:spPr>
      </p:sp>
      <p:sp>
        <p:nvSpPr>
          <p:cNvPr id="18" name="Text 15"/>
          <p:cNvSpPr txBox="1"/>
          <p:nvPr/>
        </p:nvSpPr>
        <p:spPr>
          <a:xfrm>
            <a:off x="4663440" y="1600200"/>
            <a:ext cx="320040" cy="274320"/>
          </a:xfrm>
          <a:prstGeom prst="rect">
            <a:avLst/>
          </a:prstGeom>
          <a:noFill/>
          <a:ln/>
        </p:spPr>
        <p:txBody>
          <a:bodyPr wrap="square" lIns="0" tIns="0" rIns="0" bIns="0" rtlCol="0" anchor="ctr"/>
          <a:lstStyle/>
          <a:p>
            <a:pPr indent="0" marL="0">
              <a:buNone/>
            </a:pPr>
            <a:r>
              <a:rPr lang="en-US" sz="1600" b="1" dirty="0">
                <a:solidFill>
                  <a:srgbClr val="CA061C"/>
                </a:solidFill>
                <a:latin typeface="Cambria" pitchFamily="34" charset="0"/>
                <a:ea typeface="Cambria" pitchFamily="34" charset="-122"/>
                <a:cs typeface="Cambria" pitchFamily="34" charset="-120"/>
              </a:rPr>
              <a:t>4</a:t>
            </a:r>
            <a:endParaRPr lang="en-US" sz="1600" dirty="0"/>
          </a:p>
        </p:txBody>
      </p:sp>
      <p:sp>
        <p:nvSpPr>
          <p:cNvPr id="19" name="Text 16"/>
          <p:cNvSpPr txBox="1"/>
          <p:nvPr/>
        </p:nvSpPr>
        <p:spPr>
          <a:xfrm>
            <a:off x="5047488" y="1600200"/>
            <a:ext cx="3566160" cy="24688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Desarrollo e implementación</a:t>
            </a:r>
            <a:endParaRPr lang="en-US" sz="1250" dirty="0"/>
          </a:p>
        </p:txBody>
      </p:sp>
      <p:sp>
        <p:nvSpPr>
          <p:cNvPr id="20" name="Text 17"/>
          <p:cNvSpPr txBox="1"/>
          <p:nvPr/>
        </p:nvSpPr>
        <p:spPr>
          <a:xfrm>
            <a:off x="5047488" y="1865376"/>
            <a:ext cx="356616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Corpus derivado, validación, preprocesamiento y trazabilidad</a:t>
            </a:r>
            <a:endParaRPr lang="en-US" sz="950" dirty="0"/>
          </a:p>
        </p:txBody>
      </p:sp>
      <p:sp>
        <p:nvSpPr>
          <p:cNvPr id="21" name="Shape 18"/>
          <p:cNvSpPr/>
          <p:nvPr/>
        </p:nvSpPr>
        <p:spPr>
          <a:xfrm>
            <a:off x="4663440" y="2359152"/>
            <a:ext cx="3977640" cy="0"/>
          </a:xfrm>
          <a:prstGeom prst="line">
            <a:avLst/>
          </a:prstGeom>
          <a:noFill/>
          <a:ln w="9525">
            <a:solidFill>
              <a:srgbClr val="D5DAE2"/>
            </a:solidFill>
            <a:prstDash val="solid"/>
          </a:ln>
        </p:spPr>
      </p:sp>
      <p:sp>
        <p:nvSpPr>
          <p:cNvPr id="22" name="Text 19"/>
          <p:cNvSpPr txBox="1"/>
          <p:nvPr/>
        </p:nvSpPr>
        <p:spPr>
          <a:xfrm>
            <a:off x="4663440" y="2468880"/>
            <a:ext cx="320040" cy="274320"/>
          </a:xfrm>
          <a:prstGeom prst="rect">
            <a:avLst/>
          </a:prstGeom>
          <a:noFill/>
          <a:ln/>
        </p:spPr>
        <p:txBody>
          <a:bodyPr wrap="square" lIns="0" tIns="0" rIns="0" bIns="0" rtlCol="0" anchor="ctr"/>
          <a:lstStyle/>
          <a:p>
            <a:pPr indent="0" marL="0">
              <a:buNone/>
            </a:pPr>
            <a:r>
              <a:rPr lang="en-US" sz="1600" b="1" dirty="0">
                <a:solidFill>
                  <a:srgbClr val="CA061C"/>
                </a:solidFill>
                <a:latin typeface="Cambria" pitchFamily="34" charset="0"/>
                <a:ea typeface="Cambria" pitchFamily="34" charset="-122"/>
                <a:cs typeface="Cambria" pitchFamily="34" charset="-120"/>
              </a:rPr>
              <a:t>5</a:t>
            </a:r>
            <a:endParaRPr lang="en-US" sz="1600" dirty="0"/>
          </a:p>
        </p:txBody>
      </p:sp>
      <p:sp>
        <p:nvSpPr>
          <p:cNvPr id="23" name="Text 20"/>
          <p:cNvSpPr txBox="1"/>
          <p:nvPr/>
        </p:nvSpPr>
        <p:spPr>
          <a:xfrm>
            <a:off x="5047488" y="2468880"/>
            <a:ext cx="3566160" cy="24688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Evaluación y análisis de resultados</a:t>
            </a:r>
            <a:endParaRPr lang="en-US" sz="1250" dirty="0"/>
          </a:p>
        </p:txBody>
      </p:sp>
      <p:sp>
        <p:nvSpPr>
          <p:cNvPr id="24" name="Text 21"/>
          <p:cNvSpPr txBox="1"/>
          <p:nvPr/>
        </p:nvSpPr>
        <p:spPr>
          <a:xfrm>
            <a:off x="5047488" y="2734056"/>
            <a:ext cx="356616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Comparativa, matriz, fuentes, transferencia y validez</a:t>
            </a:r>
            <a:endParaRPr lang="en-US" sz="950" dirty="0"/>
          </a:p>
        </p:txBody>
      </p:sp>
      <p:sp>
        <p:nvSpPr>
          <p:cNvPr id="25" name="Shape 22"/>
          <p:cNvSpPr/>
          <p:nvPr/>
        </p:nvSpPr>
        <p:spPr>
          <a:xfrm>
            <a:off x="4663440" y="3227832"/>
            <a:ext cx="3977640" cy="0"/>
          </a:xfrm>
          <a:prstGeom prst="line">
            <a:avLst/>
          </a:prstGeom>
          <a:noFill/>
          <a:ln w="9525">
            <a:solidFill>
              <a:srgbClr val="D5DAE2"/>
            </a:solidFill>
            <a:prstDash val="solid"/>
          </a:ln>
        </p:spPr>
      </p:sp>
      <p:sp>
        <p:nvSpPr>
          <p:cNvPr id="26" name="Text 23"/>
          <p:cNvSpPr txBox="1"/>
          <p:nvPr/>
        </p:nvSpPr>
        <p:spPr>
          <a:xfrm>
            <a:off x="4663440" y="3337560"/>
            <a:ext cx="320040" cy="274320"/>
          </a:xfrm>
          <a:prstGeom prst="rect">
            <a:avLst/>
          </a:prstGeom>
          <a:noFill/>
          <a:ln/>
        </p:spPr>
        <p:txBody>
          <a:bodyPr wrap="square" lIns="0" tIns="0" rIns="0" bIns="0" rtlCol="0" anchor="ctr"/>
          <a:lstStyle/>
          <a:p>
            <a:pPr indent="0" marL="0">
              <a:buNone/>
            </a:pPr>
            <a:r>
              <a:rPr lang="en-US" sz="1600" b="1" dirty="0">
                <a:solidFill>
                  <a:srgbClr val="CA061C"/>
                </a:solidFill>
                <a:latin typeface="Cambria" pitchFamily="34" charset="0"/>
                <a:ea typeface="Cambria" pitchFamily="34" charset="-122"/>
                <a:cs typeface="Cambria" pitchFamily="34" charset="-120"/>
              </a:rPr>
              <a:t>6</a:t>
            </a:r>
            <a:endParaRPr lang="en-US" sz="1600" dirty="0"/>
          </a:p>
        </p:txBody>
      </p:sp>
      <p:sp>
        <p:nvSpPr>
          <p:cNvPr id="27" name="Text 24"/>
          <p:cNvSpPr txBox="1"/>
          <p:nvPr/>
        </p:nvSpPr>
        <p:spPr>
          <a:xfrm>
            <a:off x="5047488" y="3337560"/>
            <a:ext cx="3566160" cy="24688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Conclusiones y líneas futuras</a:t>
            </a:r>
            <a:endParaRPr lang="en-US" sz="1250" dirty="0"/>
          </a:p>
        </p:txBody>
      </p:sp>
      <p:sp>
        <p:nvSpPr>
          <p:cNvPr id="28" name="Text 25"/>
          <p:cNvSpPr txBox="1"/>
          <p:nvPr/>
        </p:nvSpPr>
        <p:spPr>
          <a:xfrm>
            <a:off x="5047488" y="3602736"/>
            <a:ext cx="356616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Aportaciones, limitaciones y extensiones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Shape 1"/>
          <p:cNvSpPr/>
          <p:nvPr/>
        </p:nvSpPr>
        <p:spPr>
          <a:xfrm>
            <a:off x="201168" y="4914900"/>
            <a:ext cx="888797" cy="187452"/>
          </a:xfrm>
          <a:prstGeom prst="roundRect">
            <a:avLst>
              <a:gd name="adj" fmla="val 19512"/>
            </a:avLst>
          </a:prstGeom>
          <a:solidFill>
            <a:srgbClr val="CA061C"/>
          </a:solidFill>
          <a:ln w="12700">
            <a:solidFill>
              <a:srgbClr val="CA061C"/>
            </a:solidFill>
            <a:prstDash val="solid"/>
          </a:ln>
        </p:spPr>
      </p:sp>
      <p:sp>
        <p:nvSpPr>
          <p:cNvPr id="4" name="Text 2"/>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 Introducción</a:t>
            </a:r>
            <a:endParaRPr lang="en-US" sz="750" dirty="0"/>
          </a:p>
        </p:txBody>
      </p:sp>
      <p:sp>
        <p:nvSpPr>
          <p:cNvPr id="5" name="Text 3"/>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03</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1 · INTRODUCCIÓN · MOTIVACIÓN</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Una métrica alta no basta: hay que poder explicarla</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Un rendimiento elevado puede deberse a la fuente, el formato o el estilo editorial, y no a señales generalizables de desinformación</a:t>
            </a:r>
            <a:endParaRPr lang="en-US" sz="1100" dirty="0"/>
          </a:p>
        </p:txBody>
      </p:sp>
      <p:sp>
        <p:nvSpPr>
          <p:cNvPr id="15" name="Shape 12"/>
          <p:cNvSpPr/>
          <p:nvPr/>
        </p:nvSpPr>
        <p:spPr>
          <a:xfrm>
            <a:off x="411480" y="1280160"/>
            <a:ext cx="3977640" cy="2514600"/>
          </a:xfrm>
          <a:prstGeom prst="roundRect">
            <a:avLst>
              <a:gd name="adj" fmla="val 2182"/>
            </a:avLst>
          </a:prstGeom>
          <a:solidFill>
            <a:srgbClr val="CA061C"/>
          </a:solidFill>
          <a:ln w="9525">
            <a:solidFill>
              <a:srgbClr val="CA061C"/>
            </a:solidFill>
            <a:prstDash val="solid"/>
          </a:ln>
        </p:spPr>
      </p:sp>
      <p:sp>
        <p:nvSpPr>
          <p:cNvPr id="16" name="Text 13"/>
          <p:cNvSpPr txBox="1"/>
          <p:nvPr/>
        </p:nvSpPr>
        <p:spPr>
          <a:xfrm>
            <a:off x="640080" y="1463040"/>
            <a:ext cx="3200400" cy="182880"/>
          </a:xfrm>
          <a:prstGeom prst="rect">
            <a:avLst/>
          </a:prstGeom>
          <a:noFill/>
          <a:ln/>
        </p:spPr>
        <p:txBody>
          <a:bodyPr wrap="square" lIns="0" tIns="0" rIns="0" bIns="0" rtlCol="0" anchor="ctr"/>
          <a:lstStyle/>
          <a:p>
            <a:pPr indent="0" marL="0">
              <a:buNone/>
            </a:pPr>
            <a:r>
              <a:rPr lang="en-US" sz="750" b="1" spc="150" kern="0" dirty="0">
                <a:solidFill>
                  <a:srgbClr val="F2B8BF"/>
                </a:solidFill>
                <a:latin typeface="Calibri" pitchFamily="34" charset="0"/>
                <a:ea typeface="Calibri" pitchFamily="34" charset="-122"/>
                <a:cs typeface="Calibri" pitchFamily="34" charset="-120"/>
              </a:rPr>
              <a:t>EL PROBLEMA</a:t>
            </a:r>
            <a:endParaRPr lang="en-US" sz="750" dirty="0"/>
          </a:p>
        </p:txBody>
      </p:sp>
      <p:sp>
        <p:nvSpPr>
          <p:cNvPr id="17" name="Text 14"/>
          <p:cNvSpPr txBox="1"/>
          <p:nvPr/>
        </p:nvSpPr>
        <p:spPr>
          <a:xfrm>
            <a:off x="640080" y="1737360"/>
            <a:ext cx="3566160" cy="19202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Las noticias falsas pueden propagarse </a:t>
            </a:r>
            <a:pPr indent="0" marL="0">
              <a:buNone/>
            </a:pPr>
            <a:r>
              <a:rPr lang="en-US" sz="1200" b="1" dirty="0">
                <a:solidFill>
                  <a:srgbClr val="FFFFFF"/>
                </a:solidFill>
                <a:latin typeface="Calibri" pitchFamily="34" charset="0"/>
                <a:ea typeface="Calibri" pitchFamily="34" charset="-122"/>
                <a:cs typeface="Calibri" pitchFamily="34" charset="-120"/>
              </a:rPr>
              <a:t>más rápido y más lejos</a:t>
            </a:r>
            <a:pPr indent="0" marL="0">
              <a:buNone/>
            </a:pPr>
            <a:r>
              <a:rPr lang="en-US" sz="1200" dirty="0">
                <a:solidFill>
                  <a:srgbClr val="FFFFFF"/>
                </a:solidFill>
                <a:latin typeface="Calibri" pitchFamily="34" charset="0"/>
                <a:ea typeface="Calibri" pitchFamily="34" charset="-122"/>
                <a:cs typeface="Calibri" pitchFamily="34" charset="-120"/>
              </a:rPr>
              <a:t> que las verdaderas (Vosoughi et al., 2018).</a:t>
            </a:r>
            <a:endParaRPr lang="en-US" sz="1200" dirty="0"/>
          </a:p>
          <a:p>
            <a:pPr indent="0" marL="0">
              <a:buNone/>
            </a:pPr>
            <a:r>
              <a:rPr lang="en-US" sz="600" dirty="0">
                <a:solidFill>
                  <a:srgbClr val="141821"/>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La revisión manual de todo el contenido es </a:t>
            </a:r>
            <a:pPr indent="0" marL="0">
              <a:buNone/>
            </a:pPr>
            <a:r>
              <a:rPr lang="en-US" sz="1200" b="1" dirty="0">
                <a:solidFill>
                  <a:srgbClr val="FFFFFF"/>
                </a:solidFill>
                <a:latin typeface="Calibri" pitchFamily="34" charset="0"/>
                <a:ea typeface="Calibri" pitchFamily="34" charset="-122"/>
                <a:cs typeface="Calibri" pitchFamily="34" charset="-120"/>
              </a:rPr>
              <a:t>inviable</a:t>
            </a:r>
            <a:pP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a:p>
            <a:pPr indent="0" marL="0">
              <a:buNone/>
            </a:pPr>
            <a:r>
              <a:rPr lang="en-US" sz="600" dirty="0">
                <a:solidFill>
                  <a:srgbClr val="141821"/>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Pero obtener buenas métricas </a:t>
            </a:r>
            <a:pPr indent="0" marL="0">
              <a:buNone/>
            </a:pPr>
            <a:r>
              <a:rPr lang="en-US" sz="1200" b="1" dirty="0">
                <a:solidFill>
                  <a:srgbClr val="FFFFFF"/>
                </a:solidFill>
                <a:latin typeface="Calibri" pitchFamily="34" charset="0"/>
                <a:ea typeface="Calibri" pitchFamily="34" charset="-122"/>
                <a:cs typeface="Calibri" pitchFamily="34" charset="-120"/>
              </a:rPr>
              <a:t>no implica</a:t>
            </a:r>
            <a:pPr indent="0" marL="0">
              <a:buNone/>
            </a:pPr>
            <a:r>
              <a:rPr lang="en-US" sz="1200" dirty="0">
                <a:solidFill>
                  <a:srgbClr val="FFFFFF"/>
                </a:solidFill>
                <a:latin typeface="Calibri" pitchFamily="34" charset="0"/>
                <a:ea typeface="Calibri" pitchFamily="34" charset="-122"/>
                <a:cs typeface="Calibri" pitchFamily="34" charset="-120"/>
              </a:rPr>
              <a:t> reconocer la desinformación de forma generalizable.</a:t>
            </a:r>
            <a:endParaRPr lang="en-US" sz="1200" dirty="0"/>
          </a:p>
        </p:txBody>
      </p:sp>
      <p:sp>
        <p:nvSpPr>
          <p:cNvPr id="18" name="Shape 15"/>
          <p:cNvSpPr/>
          <p:nvPr/>
        </p:nvSpPr>
        <p:spPr>
          <a:xfrm>
            <a:off x="4572000" y="1280160"/>
            <a:ext cx="4160520" cy="2514600"/>
          </a:xfrm>
          <a:prstGeom prst="roundRect">
            <a:avLst>
              <a:gd name="adj" fmla="val 2182"/>
            </a:avLst>
          </a:prstGeom>
          <a:solidFill>
            <a:srgbClr val="EEF1F6"/>
          </a:solidFill>
          <a:ln w="9525">
            <a:solidFill>
              <a:srgbClr val="EEF1F6"/>
            </a:solidFill>
            <a:prstDash val="solid"/>
          </a:ln>
        </p:spPr>
      </p:sp>
      <p:sp>
        <p:nvSpPr>
          <p:cNvPr id="19" name="Text 16"/>
          <p:cNvSpPr txBox="1"/>
          <p:nvPr/>
        </p:nvSpPr>
        <p:spPr>
          <a:xfrm>
            <a:off x="4800600" y="1463040"/>
            <a:ext cx="36576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PATRONES QUE EL MODELO PUEDE APROVECHAR</a:t>
            </a:r>
            <a:endParaRPr lang="en-US" sz="750" dirty="0"/>
          </a:p>
        </p:txBody>
      </p:sp>
      <p:sp>
        <p:nvSpPr>
          <p:cNvPr id="20" name="Shape 17"/>
          <p:cNvSpPr/>
          <p:nvPr/>
        </p:nvSpPr>
        <p:spPr>
          <a:xfrm>
            <a:off x="4800600" y="1783080"/>
            <a:ext cx="1828800" cy="777240"/>
          </a:xfrm>
          <a:prstGeom prst="roundRect">
            <a:avLst>
              <a:gd name="adj" fmla="val 7059"/>
            </a:avLst>
          </a:prstGeom>
          <a:solidFill>
            <a:srgbClr val="FFFFFF"/>
          </a:solidFill>
          <a:ln w="9525">
            <a:solidFill>
              <a:srgbClr val="D5DAE2"/>
            </a:solidFill>
            <a:prstDash val="solid"/>
          </a:ln>
        </p:spPr>
      </p:sp>
      <p:sp>
        <p:nvSpPr>
          <p:cNvPr id="21" name="Text 18"/>
          <p:cNvSpPr txBox="1"/>
          <p:nvPr/>
        </p:nvSpPr>
        <p:spPr>
          <a:xfrm>
            <a:off x="4937760" y="1874520"/>
            <a:ext cx="457200" cy="228600"/>
          </a:xfrm>
          <a:prstGeom prst="rect">
            <a:avLst/>
          </a:prstGeom>
          <a:noFill/>
          <a:ln/>
        </p:spPr>
        <p:txBody>
          <a:bodyPr wrap="square" lIns="0" tIns="0" rIns="0" bIns="0" rtlCol="0" anchor="ctr"/>
          <a:lstStyle/>
          <a:p>
            <a:pPr indent="0" marL="0">
              <a:buNone/>
            </a:pPr>
            <a:r>
              <a:rPr lang="en-US" sz="1300" b="1" dirty="0">
                <a:solidFill>
                  <a:srgbClr val="CA061C"/>
                </a:solidFill>
                <a:latin typeface="Cambria" pitchFamily="34" charset="0"/>
                <a:ea typeface="Cambria" pitchFamily="34" charset="-122"/>
                <a:cs typeface="Cambria" pitchFamily="34" charset="-120"/>
              </a:rPr>
              <a:t>01</a:t>
            </a:r>
            <a:endParaRPr lang="en-US" sz="1300" dirty="0"/>
          </a:p>
        </p:txBody>
      </p:sp>
      <p:sp>
        <p:nvSpPr>
          <p:cNvPr id="22" name="Text 19"/>
          <p:cNvSpPr txBox="1"/>
          <p:nvPr/>
        </p:nvSpPr>
        <p:spPr>
          <a:xfrm>
            <a:off x="4937760" y="2112264"/>
            <a:ext cx="1645920" cy="411480"/>
          </a:xfrm>
          <a:prstGeom prst="rect">
            <a:avLst/>
          </a:prstGeom>
          <a:noFill/>
          <a:ln/>
        </p:spPr>
        <p:txBody>
          <a:bodyPr wrap="square" lIns="0" tIns="0" rIns="0" bIns="0" rtlCol="0" anchor="t"/>
          <a:lstStyle/>
          <a:p>
            <a:pPr indent="0" marL="0">
              <a:buNone/>
            </a:pPr>
            <a:r>
              <a:rPr lang="en-US" sz="1000" b="1" dirty="0">
                <a:solidFill>
                  <a:srgbClr val="141821"/>
                </a:solidFill>
                <a:latin typeface="Calibri" pitchFamily="34" charset="0"/>
                <a:ea typeface="Calibri" pitchFamily="34" charset="-122"/>
                <a:cs typeface="Calibri" pitchFamily="34" charset="-120"/>
              </a:rPr>
              <a:t>Procedencia</a:t>
            </a:r>
            <a:endParaRPr lang="en-US" sz="1000" dirty="0"/>
          </a:p>
          <a:p>
            <a:pPr indent="0" marL="0">
              <a:buNone/>
            </a:pPr>
            <a:r>
              <a:rPr lang="en-US" sz="1000" dirty="0">
                <a:solidFill>
                  <a:srgbClr val="5B6472"/>
                </a:solidFill>
                <a:latin typeface="Calibri" pitchFamily="34" charset="0"/>
                <a:ea typeface="Calibri" pitchFamily="34" charset="-122"/>
                <a:cs typeface="Calibri" pitchFamily="34" charset="-120"/>
              </a:rPr>
              <a:t>de las noticias</a:t>
            </a:r>
            <a:endParaRPr lang="en-US" sz="1000" dirty="0"/>
          </a:p>
        </p:txBody>
      </p:sp>
      <p:sp>
        <p:nvSpPr>
          <p:cNvPr id="23" name="Shape 20"/>
          <p:cNvSpPr/>
          <p:nvPr/>
        </p:nvSpPr>
        <p:spPr>
          <a:xfrm>
            <a:off x="6739128" y="1783080"/>
            <a:ext cx="1828800" cy="777240"/>
          </a:xfrm>
          <a:prstGeom prst="roundRect">
            <a:avLst>
              <a:gd name="adj" fmla="val 7059"/>
            </a:avLst>
          </a:prstGeom>
          <a:solidFill>
            <a:srgbClr val="FFFFFF"/>
          </a:solidFill>
          <a:ln w="9525">
            <a:solidFill>
              <a:srgbClr val="D5DAE2"/>
            </a:solidFill>
            <a:prstDash val="solid"/>
          </a:ln>
        </p:spPr>
      </p:sp>
      <p:sp>
        <p:nvSpPr>
          <p:cNvPr id="24" name="Text 21"/>
          <p:cNvSpPr txBox="1"/>
          <p:nvPr/>
        </p:nvSpPr>
        <p:spPr>
          <a:xfrm>
            <a:off x="6876288" y="1874520"/>
            <a:ext cx="457200" cy="228600"/>
          </a:xfrm>
          <a:prstGeom prst="rect">
            <a:avLst/>
          </a:prstGeom>
          <a:noFill/>
          <a:ln/>
        </p:spPr>
        <p:txBody>
          <a:bodyPr wrap="square" lIns="0" tIns="0" rIns="0" bIns="0" rtlCol="0" anchor="ctr"/>
          <a:lstStyle/>
          <a:p>
            <a:pPr indent="0" marL="0">
              <a:buNone/>
            </a:pPr>
            <a:r>
              <a:rPr lang="en-US" sz="1300" b="1" dirty="0">
                <a:solidFill>
                  <a:srgbClr val="CA061C"/>
                </a:solidFill>
                <a:latin typeface="Cambria" pitchFamily="34" charset="0"/>
                <a:ea typeface="Cambria" pitchFamily="34" charset="-122"/>
                <a:cs typeface="Cambria" pitchFamily="34" charset="-120"/>
              </a:rPr>
              <a:t>02</a:t>
            </a:r>
            <a:endParaRPr lang="en-US" sz="1300" dirty="0"/>
          </a:p>
        </p:txBody>
      </p:sp>
      <p:sp>
        <p:nvSpPr>
          <p:cNvPr id="25" name="Text 22"/>
          <p:cNvSpPr txBox="1"/>
          <p:nvPr/>
        </p:nvSpPr>
        <p:spPr>
          <a:xfrm>
            <a:off x="6876288" y="2112264"/>
            <a:ext cx="1645920" cy="411480"/>
          </a:xfrm>
          <a:prstGeom prst="rect">
            <a:avLst/>
          </a:prstGeom>
          <a:noFill/>
          <a:ln/>
        </p:spPr>
        <p:txBody>
          <a:bodyPr wrap="square" lIns="0" tIns="0" rIns="0" bIns="0" rtlCol="0" anchor="t"/>
          <a:lstStyle/>
          <a:p>
            <a:pPr indent="0" marL="0">
              <a:buNone/>
            </a:pPr>
            <a:r>
              <a:rPr lang="en-US" sz="1000" b="1" dirty="0">
                <a:solidFill>
                  <a:srgbClr val="141821"/>
                </a:solidFill>
                <a:latin typeface="Calibri" pitchFamily="34" charset="0"/>
                <a:ea typeface="Calibri" pitchFamily="34" charset="-122"/>
                <a:cs typeface="Calibri" pitchFamily="34" charset="-120"/>
              </a:rPr>
              <a:t>Estilo</a:t>
            </a:r>
            <a:endParaRPr lang="en-US" sz="1000" dirty="0"/>
          </a:p>
          <a:p>
            <a:pPr indent="0" marL="0">
              <a:buNone/>
            </a:pPr>
            <a:r>
              <a:rPr lang="en-US" sz="1000" dirty="0">
                <a:solidFill>
                  <a:srgbClr val="5B6472"/>
                </a:solidFill>
                <a:latin typeface="Calibri" pitchFamily="34" charset="0"/>
                <a:ea typeface="Calibri" pitchFamily="34" charset="-122"/>
                <a:cs typeface="Calibri" pitchFamily="34" charset="-120"/>
              </a:rPr>
              <a:t>de redacción</a:t>
            </a:r>
            <a:endParaRPr lang="en-US" sz="1000" dirty="0"/>
          </a:p>
        </p:txBody>
      </p:sp>
      <p:sp>
        <p:nvSpPr>
          <p:cNvPr id="26" name="Shape 23"/>
          <p:cNvSpPr/>
          <p:nvPr/>
        </p:nvSpPr>
        <p:spPr>
          <a:xfrm>
            <a:off x="4800600" y="2697480"/>
            <a:ext cx="1828800" cy="777240"/>
          </a:xfrm>
          <a:prstGeom prst="roundRect">
            <a:avLst>
              <a:gd name="adj" fmla="val 7059"/>
            </a:avLst>
          </a:prstGeom>
          <a:solidFill>
            <a:srgbClr val="FFFFFF"/>
          </a:solidFill>
          <a:ln w="9525">
            <a:solidFill>
              <a:srgbClr val="D5DAE2"/>
            </a:solidFill>
            <a:prstDash val="solid"/>
          </a:ln>
        </p:spPr>
      </p:sp>
      <p:sp>
        <p:nvSpPr>
          <p:cNvPr id="27" name="Text 24"/>
          <p:cNvSpPr txBox="1"/>
          <p:nvPr/>
        </p:nvSpPr>
        <p:spPr>
          <a:xfrm>
            <a:off x="4937760" y="2788920"/>
            <a:ext cx="457200" cy="228600"/>
          </a:xfrm>
          <a:prstGeom prst="rect">
            <a:avLst/>
          </a:prstGeom>
          <a:noFill/>
          <a:ln/>
        </p:spPr>
        <p:txBody>
          <a:bodyPr wrap="square" lIns="0" tIns="0" rIns="0" bIns="0" rtlCol="0" anchor="ctr"/>
          <a:lstStyle/>
          <a:p>
            <a:pPr indent="0" marL="0">
              <a:buNone/>
            </a:pPr>
            <a:r>
              <a:rPr lang="en-US" sz="1300" b="1" dirty="0">
                <a:solidFill>
                  <a:srgbClr val="CA061C"/>
                </a:solidFill>
                <a:latin typeface="Cambria" pitchFamily="34" charset="0"/>
                <a:ea typeface="Cambria" pitchFamily="34" charset="-122"/>
                <a:cs typeface="Cambria" pitchFamily="34" charset="-120"/>
              </a:rPr>
              <a:t>03</a:t>
            </a:r>
            <a:endParaRPr lang="en-US" sz="1300" dirty="0"/>
          </a:p>
        </p:txBody>
      </p:sp>
      <p:sp>
        <p:nvSpPr>
          <p:cNvPr id="28" name="Text 25"/>
          <p:cNvSpPr txBox="1"/>
          <p:nvPr/>
        </p:nvSpPr>
        <p:spPr>
          <a:xfrm>
            <a:off x="4937760" y="3026664"/>
            <a:ext cx="1645920" cy="411480"/>
          </a:xfrm>
          <a:prstGeom prst="rect">
            <a:avLst/>
          </a:prstGeom>
          <a:noFill/>
          <a:ln/>
        </p:spPr>
        <p:txBody>
          <a:bodyPr wrap="square" lIns="0" tIns="0" rIns="0" bIns="0" rtlCol="0" anchor="t"/>
          <a:lstStyle/>
          <a:p>
            <a:pPr indent="0" marL="0">
              <a:buNone/>
            </a:pPr>
            <a:r>
              <a:rPr lang="en-US" sz="1000" b="1" dirty="0">
                <a:solidFill>
                  <a:srgbClr val="141821"/>
                </a:solidFill>
                <a:latin typeface="Calibri" pitchFamily="34" charset="0"/>
                <a:ea typeface="Calibri" pitchFamily="34" charset="-122"/>
                <a:cs typeface="Calibri" pitchFamily="34" charset="-120"/>
              </a:rPr>
              <a:t>Longitud y formato</a:t>
            </a:r>
            <a:endParaRPr lang="en-US" sz="1000" dirty="0"/>
          </a:p>
          <a:p>
            <a:pPr indent="0" marL="0">
              <a:buNone/>
            </a:pPr>
            <a:r>
              <a:rPr lang="en-US" sz="1000" dirty="0">
                <a:solidFill>
                  <a:srgbClr val="5B6472"/>
                </a:solidFill>
                <a:latin typeface="Calibri" pitchFamily="34" charset="0"/>
                <a:ea typeface="Calibri" pitchFamily="34" charset="-122"/>
                <a:cs typeface="Calibri" pitchFamily="34" charset="-120"/>
              </a:rPr>
              <a:t>de los documentos</a:t>
            </a:r>
            <a:endParaRPr lang="en-US" sz="1000" dirty="0"/>
          </a:p>
        </p:txBody>
      </p:sp>
      <p:sp>
        <p:nvSpPr>
          <p:cNvPr id="29" name="Shape 26"/>
          <p:cNvSpPr/>
          <p:nvPr/>
        </p:nvSpPr>
        <p:spPr>
          <a:xfrm>
            <a:off x="6739128" y="2697480"/>
            <a:ext cx="1828800" cy="777240"/>
          </a:xfrm>
          <a:prstGeom prst="roundRect">
            <a:avLst>
              <a:gd name="adj" fmla="val 7059"/>
            </a:avLst>
          </a:prstGeom>
          <a:solidFill>
            <a:srgbClr val="FFFFFF"/>
          </a:solidFill>
          <a:ln w="9525">
            <a:solidFill>
              <a:srgbClr val="D5DAE2"/>
            </a:solidFill>
            <a:prstDash val="solid"/>
          </a:ln>
        </p:spPr>
      </p:sp>
      <p:sp>
        <p:nvSpPr>
          <p:cNvPr id="30" name="Text 27"/>
          <p:cNvSpPr txBox="1"/>
          <p:nvPr/>
        </p:nvSpPr>
        <p:spPr>
          <a:xfrm>
            <a:off x="6876288" y="2788920"/>
            <a:ext cx="457200" cy="228600"/>
          </a:xfrm>
          <a:prstGeom prst="rect">
            <a:avLst/>
          </a:prstGeom>
          <a:noFill/>
          <a:ln/>
        </p:spPr>
        <p:txBody>
          <a:bodyPr wrap="square" lIns="0" tIns="0" rIns="0" bIns="0" rtlCol="0" anchor="ctr"/>
          <a:lstStyle/>
          <a:p>
            <a:pPr indent="0" marL="0">
              <a:buNone/>
            </a:pPr>
            <a:r>
              <a:rPr lang="en-US" sz="1300" b="1" dirty="0">
                <a:solidFill>
                  <a:srgbClr val="CA061C"/>
                </a:solidFill>
                <a:latin typeface="Cambria" pitchFamily="34" charset="0"/>
                <a:ea typeface="Cambria" pitchFamily="34" charset="-122"/>
                <a:cs typeface="Cambria" pitchFamily="34" charset="-120"/>
              </a:rPr>
              <a:t>04</a:t>
            </a:r>
            <a:endParaRPr lang="en-US" sz="1300" dirty="0"/>
          </a:p>
        </p:txBody>
      </p:sp>
      <p:sp>
        <p:nvSpPr>
          <p:cNvPr id="31" name="Text 28"/>
          <p:cNvSpPr txBox="1"/>
          <p:nvPr/>
        </p:nvSpPr>
        <p:spPr>
          <a:xfrm>
            <a:off x="6876288" y="3026664"/>
            <a:ext cx="1645920" cy="411480"/>
          </a:xfrm>
          <a:prstGeom prst="rect">
            <a:avLst/>
          </a:prstGeom>
          <a:noFill/>
          <a:ln/>
        </p:spPr>
        <p:txBody>
          <a:bodyPr wrap="square" lIns="0" tIns="0" rIns="0" bIns="0" rtlCol="0" anchor="t"/>
          <a:lstStyle/>
          <a:p>
            <a:pPr indent="0" marL="0">
              <a:buNone/>
            </a:pPr>
            <a:r>
              <a:rPr lang="en-US" sz="1000" b="1" dirty="0">
                <a:solidFill>
                  <a:srgbClr val="141821"/>
                </a:solidFill>
                <a:latin typeface="Calibri" pitchFamily="34" charset="0"/>
                <a:ea typeface="Calibri" pitchFamily="34" charset="-122"/>
                <a:cs typeface="Calibri" pitchFamily="34" charset="-120"/>
              </a:rPr>
              <a:t>Criterios</a:t>
            </a:r>
            <a:endParaRPr lang="en-US" sz="1000" dirty="0"/>
          </a:p>
          <a:p>
            <a:pPr indent="0" marL="0">
              <a:buNone/>
            </a:pPr>
            <a:r>
              <a:rPr lang="en-US" sz="1000" dirty="0">
                <a:solidFill>
                  <a:srgbClr val="5B6472"/>
                </a:solidFill>
                <a:latin typeface="Calibri" pitchFamily="34" charset="0"/>
                <a:ea typeface="Calibri" pitchFamily="34" charset="-122"/>
                <a:cs typeface="Calibri" pitchFamily="34" charset="-120"/>
              </a:rPr>
              <a:t>de asignación de etiquetas</a:t>
            </a:r>
            <a:endParaRPr lang="en-US" sz="1000" dirty="0"/>
          </a:p>
        </p:txBody>
      </p:sp>
      <p:sp>
        <p:nvSpPr>
          <p:cNvPr id="32" name="Shape 29"/>
          <p:cNvSpPr/>
          <p:nvPr/>
        </p:nvSpPr>
        <p:spPr>
          <a:xfrm>
            <a:off x="411480" y="3931920"/>
            <a:ext cx="8321040" cy="749808"/>
          </a:xfrm>
          <a:prstGeom prst="roundRect">
            <a:avLst>
              <a:gd name="adj" fmla="val 7317"/>
            </a:avLst>
          </a:prstGeom>
          <a:solidFill>
            <a:srgbClr val="141821"/>
          </a:solidFill>
          <a:ln w="9525">
            <a:solidFill>
              <a:srgbClr val="141821"/>
            </a:solidFill>
            <a:prstDash val="solid"/>
          </a:ln>
        </p:spPr>
      </p:sp>
      <p:sp>
        <p:nvSpPr>
          <p:cNvPr id="33" name="Text 30"/>
          <p:cNvSpPr txBox="1"/>
          <p:nvPr/>
        </p:nvSpPr>
        <p:spPr>
          <a:xfrm>
            <a:off x="640080" y="3931920"/>
            <a:ext cx="7863840" cy="749808"/>
          </a:xfrm>
          <a:prstGeom prst="rect">
            <a:avLst/>
          </a:prstGeom>
          <a:noFill/>
          <a:ln/>
        </p:spPr>
        <p:txBody>
          <a:bodyPr wrap="square" lIns="0" tIns="0" rIns="0" bIns="0" rtlCol="0" anchor="ctr"/>
          <a:lstStyle/>
          <a:p>
            <a:pPr indent="0" marL="0">
              <a:buNone/>
            </a:pPr>
            <a:r>
              <a:rPr lang="en-US" sz="1150" b="1" dirty="0">
                <a:solidFill>
                  <a:srgbClr val="FF6B7A"/>
                </a:solidFill>
                <a:latin typeface="Calibri" pitchFamily="34" charset="0"/>
                <a:ea typeface="Calibri" pitchFamily="34" charset="-122"/>
                <a:cs typeface="Calibri" pitchFamily="34" charset="-120"/>
              </a:rPr>
              <a:t>Propuesta · </a:t>
            </a:r>
            <a:pPr indent="0" marL="0">
              <a:buNone/>
            </a:pPr>
            <a:r>
              <a:rPr lang="en-US" sz="1150" dirty="0">
                <a:solidFill>
                  <a:srgbClr val="FFFFFF"/>
                </a:solidFill>
                <a:latin typeface="Calibri" pitchFamily="34" charset="0"/>
                <a:ea typeface="Calibri" pitchFamily="34" charset="-122"/>
                <a:cs typeface="Calibri" pitchFamily="34" charset="-120"/>
              </a:rPr>
              <a:t>un pipeline reproducible para integrar conjuntos de datos públicos, preparar y representar los textos, entrenar modelos bajo condiciones comunes y </a:t>
            </a:r>
            <a:pPr indent="0" marL="0">
              <a:buNone/>
            </a:pPr>
            <a:r>
              <a:rPr lang="en-US" sz="1150" b="1" dirty="0">
                <a:solidFill>
                  <a:srgbClr val="FFFFFF"/>
                </a:solidFill>
                <a:latin typeface="Calibri" pitchFamily="34" charset="0"/>
                <a:ea typeface="Calibri" pitchFamily="34" charset="-122"/>
                <a:cs typeface="Calibri" pitchFamily="34" charset="-120"/>
              </a:rPr>
              <a:t>analizar sus resultados de manera sistemática</a:t>
            </a:r>
            <a:pPr indent="0" marL="0">
              <a:buNone/>
            </a:pPr>
            <a:r>
              <a:rPr lang="en-US" sz="1150" dirty="0">
                <a:solidFill>
                  <a:srgbClr val="FFFFFF"/>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Shape 1"/>
          <p:cNvSpPr/>
          <p:nvPr/>
        </p:nvSpPr>
        <p:spPr>
          <a:xfrm>
            <a:off x="201168" y="4914900"/>
            <a:ext cx="888797" cy="187452"/>
          </a:xfrm>
          <a:prstGeom prst="roundRect">
            <a:avLst>
              <a:gd name="adj" fmla="val 19512"/>
            </a:avLst>
          </a:prstGeom>
          <a:solidFill>
            <a:srgbClr val="CA061C"/>
          </a:solidFill>
          <a:ln w="12700">
            <a:solidFill>
              <a:srgbClr val="CA061C"/>
            </a:solidFill>
            <a:prstDash val="solid"/>
          </a:ln>
        </p:spPr>
      </p:sp>
      <p:sp>
        <p:nvSpPr>
          <p:cNvPr id="4" name="Text 2"/>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 Introducción</a:t>
            </a:r>
            <a:endParaRPr lang="en-US" sz="750" dirty="0"/>
          </a:p>
        </p:txBody>
      </p:sp>
      <p:sp>
        <p:nvSpPr>
          <p:cNvPr id="5" name="Text 3"/>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04</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1 · INTRODUCCIÓN · OBJETIVOS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Qué se propone conseguir</a:t>
            </a:r>
            <a:endParaRPr lang="en-US" sz="2400" dirty="0"/>
          </a:p>
        </p:txBody>
      </p:sp>
      <p:sp>
        <p:nvSpPr>
          <p:cNvPr id="14" name="Shape 11"/>
          <p:cNvSpPr/>
          <p:nvPr/>
        </p:nvSpPr>
        <p:spPr>
          <a:xfrm>
            <a:off x="411480" y="1051560"/>
            <a:ext cx="3017520" cy="3630168"/>
          </a:xfrm>
          <a:prstGeom prst="roundRect">
            <a:avLst>
              <a:gd name="adj" fmla="val 1818"/>
            </a:avLst>
          </a:prstGeom>
          <a:solidFill>
            <a:srgbClr val="141821"/>
          </a:solidFill>
          <a:ln w="9525">
            <a:solidFill>
              <a:srgbClr val="141821"/>
            </a:solidFill>
            <a:prstDash val="solid"/>
          </a:ln>
        </p:spPr>
      </p:sp>
      <p:sp>
        <p:nvSpPr>
          <p:cNvPr id="15" name="Text 12"/>
          <p:cNvSpPr txBox="1"/>
          <p:nvPr/>
        </p:nvSpPr>
        <p:spPr>
          <a:xfrm>
            <a:off x="640080" y="1325880"/>
            <a:ext cx="256032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OBJETIVO GENERAL</a:t>
            </a:r>
            <a:endParaRPr lang="en-US" sz="750" dirty="0"/>
          </a:p>
        </p:txBody>
      </p:sp>
      <p:sp>
        <p:nvSpPr>
          <p:cNvPr id="16" name="Text 13"/>
          <p:cNvSpPr txBox="1"/>
          <p:nvPr/>
        </p:nvSpPr>
        <p:spPr>
          <a:xfrm>
            <a:off x="640080" y="1600200"/>
            <a:ext cx="2606040" cy="292608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Cambria" pitchFamily="34" charset="0"/>
                <a:ea typeface="Cambria" pitchFamily="34" charset="-122"/>
                <a:cs typeface="Cambria" pitchFamily="34" charset="-120"/>
              </a:rPr>
              <a:t>Diseñar, implementar y evaluar un </a:t>
            </a:r>
            <a:pPr indent="0" marL="0">
              <a:lnSpc>
                <a:spcPct val="110000"/>
              </a:lnSpc>
              <a:buNone/>
            </a:pPr>
            <a:r>
              <a:rPr lang="en-US" sz="1350" b="1" dirty="0">
                <a:solidFill>
                  <a:srgbClr val="FFFFFF"/>
                </a:solidFill>
                <a:latin typeface="Cambria" pitchFamily="34" charset="0"/>
                <a:ea typeface="Cambria" pitchFamily="34" charset="-122"/>
                <a:cs typeface="Cambria" pitchFamily="34" charset="-120"/>
              </a:rPr>
              <a:t>proceso experimental reproducible</a:t>
            </a:r>
            <a:pPr indent="0" marL="0">
              <a:lnSpc>
                <a:spcPct val="110000"/>
              </a:lnSpc>
              <a:buNone/>
            </a:pPr>
            <a:r>
              <a:rPr lang="en-US" sz="1350" dirty="0">
                <a:solidFill>
                  <a:srgbClr val="FFFFFF"/>
                </a:solidFill>
                <a:latin typeface="Cambria" pitchFamily="34" charset="0"/>
                <a:ea typeface="Cambria" pitchFamily="34" charset="-122"/>
                <a:cs typeface="Cambria" pitchFamily="34" charset="-120"/>
              </a:rPr>
              <a:t> para la clasificación automática de fake news a partir de contenido textual, mediante la </a:t>
            </a:r>
            <a:pPr indent="0" marL="0">
              <a:lnSpc>
                <a:spcPct val="110000"/>
              </a:lnSpc>
              <a:buNone/>
            </a:pPr>
            <a:r>
              <a:rPr lang="en-US" sz="1350" b="1" dirty="0">
                <a:solidFill>
                  <a:srgbClr val="FFFFFF"/>
                </a:solidFill>
                <a:latin typeface="Cambria" pitchFamily="34" charset="0"/>
                <a:ea typeface="Cambria" pitchFamily="34" charset="-122"/>
                <a:cs typeface="Cambria" pitchFamily="34" charset="-120"/>
              </a:rPr>
              <a:t>construcción y validación de un corpus unificado</a:t>
            </a:r>
            <a:pPr indent="0" marL="0">
              <a:lnSpc>
                <a:spcPct val="110000"/>
              </a:lnSpc>
              <a:buNone/>
            </a:pPr>
            <a:r>
              <a:rPr lang="en-US" sz="1350" dirty="0">
                <a:solidFill>
                  <a:srgbClr val="FFFFFF"/>
                </a:solidFill>
                <a:latin typeface="Cambria" pitchFamily="34" charset="0"/>
                <a:ea typeface="Cambria" pitchFamily="34" charset="-122"/>
                <a:cs typeface="Cambria" pitchFamily="34" charset="-120"/>
              </a:rPr>
              <a:t> y el entrenamiento y comparación de modelos supervisados.</a:t>
            </a:r>
            <a:endParaRPr lang="en-US" sz="1350" dirty="0"/>
          </a:p>
        </p:txBody>
      </p:sp>
      <p:sp>
        <p:nvSpPr>
          <p:cNvPr id="17" name="Shape 14"/>
          <p:cNvSpPr/>
          <p:nvPr/>
        </p:nvSpPr>
        <p:spPr>
          <a:xfrm>
            <a:off x="3566160" y="1051560"/>
            <a:ext cx="2542032" cy="822960"/>
          </a:xfrm>
          <a:prstGeom prst="roundRect">
            <a:avLst>
              <a:gd name="adj" fmla="val 6667"/>
            </a:avLst>
          </a:prstGeom>
          <a:solidFill>
            <a:srgbClr val="EEF1F6"/>
          </a:solidFill>
          <a:ln w="9525">
            <a:solidFill>
              <a:srgbClr val="EEF1F6"/>
            </a:solidFill>
            <a:prstDash val="solid"/>
          </a:ln>
        </p:spPr>
      </p:sp>
      <p:sp>
        <p:nvSpPr>
          <p:cNvPr id="18" name="Text 15"/>
          <p:cNvSpPr txBox="1"/>
          <p:nvPr/>
        </p:nvSpPr>
        <p:spPr>
          <a:xfrm>
            <a:off x="3703320" y="11338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O1</a:t>
            </a:r>
            <a:endParaRPr lang="en-US" sz="1200" dirty="0"/>
          </a:p>
        </p:txBody>
      </p:sp>
      <p:sp>
        <p:nvSpPr>
          <p:cNvPr id="19" name="Text 16"/>
          <p:cNvSpPr txBox="1"/>
          <p:nvPr/>
        </p:nvSpPr>
        <p:spPr>
          <a:xfrm>
            <a:off x="3703320" y="1362456"/>
            <a:ext cx="2286000" cy="475488"/>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Corpus binario unificado</a:t>
            </a:r>
            <a:pPr indent="0" marL="0">
              <a:buNone/>
            </a:pPr>
            <a:r>
              <a:rPr lang="en-US" sz="950" dirty="0">
                <a:solidFill>
                  <a:srgbClr val="141821"/>
                </a:solidFill>
                <a:latin typeface="Calibri" pitchFamily="34" charset="0"/>
                <a:ea typeface="Calibri" pitchFamily="34" charset="-122"/>
                <a:cs typeface="Calibri" pitchFamily="34" charset="-120"/>
              </a:rPr>
              <a:t> con criterios explícitos de inclusión, exclusión y etiquetas</a:t>
            </a:r>
            <a:endParaRPr lang="en-US" sz="950" dirty="0"/>
          </a:p>
        </p:txBody>
      </p:sp>
      <p:sp>
        <p:nvSpPr>
          <p:cNvPr id="20" name="Shape 17"/>
          <p:cNvSpPr/>
          <p:nvPr/>
        </p:nvSpPr>
        <p:spPr>
          <a:xfrm>
            <a:off x="6190488" y="1051560"/>
            <a:ext cx="2542032" cy="822960"/>
          </a:xfrm>
          <a:prstGeom prst="roundRect">
            <a:avLst>
              <a:gd name="adj" fmla="val 6667"/>
            </a:avLst>
          </a:prstGeom>
          <a:solidFill>
            <a:srgbClr val="EEF1F6"/>
          </a:solidFill>
          <a:ln w="9525">
            <a:solidFill>
              <a:srgbClr val="EEF1F6"/>
            </a:solidFill>
            <a:prstDash val="solid"/>
          </a:ln>
        </p:spPr>
      </p:sp>
      <p:sp>
        <p:nvSpPr>
          <p:cNvPr id="21" name="Text 18"/>
          <p:cNvSpPr txBox="1"/>
          <p:nvPr/>
        </p:nvSpPr>
        <p:spPr>
          <a:xfrm>
            <a:off x="6327648" y="11338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O2</a:t>
            </a:r>
            <a:endParaRPr lang="en-US" sz="1200" dirty="0"/>
          </a:p>
        </p:txBody>
      </p:sp>
      <p:sp>
        <p:nvSpPr>
          <p:cNvPr id="22" name="Text 19"/>
          <p:cNvSpPr txBox="1"/>
          <p:nvPr/>
        </p:nvSpPr>
        <p:spPr>
          <a:xfrm>
            <a:off x="6327648" y="1362456"/>
            <a:ext cx="2286000" cy="475488"/>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Pipeline textual determinista</a:t>
            </a:r>
            <a:pPr indent="0" marL="0">
              <a:buNone/>
            </a:pPr>
            <a:r>
              <a:rPr lang="en-US" sz="950" dirty="0">
                <a:solidFill>
                  <a:srgbClr val="141821"/>
                </a:solidFill>
                <a:latin typeface="Calibri" pitchFamily="34" charset="0"/>
                <a:ea typeface="Calibri" pitchFamily="34" charset="-122"/>
                <a:cs typeface="Calibri" pitchFamily="34" charset="-120"/>
              </a:rPr>
              <a:t>: limpieza, normalización y representación</a:t>
            </a:r>
            <a:endParaRPr lang="en-US" sz="950" dirty="0"/>
          </a:p>
        </p:txBody>
      </p:sp>
      <p:sp>
        <p:nvSpPr>
          <p:cNvPr id="23" name="Shape 20"/>
          <p:cNvSpPr/>
          <p:nvPr/>
        </p:nvSpPr>
        <p:spPr>
          <a:xfrm>
            <a:off x="3566160" y="1965960"/>
            <a:ext cx="2542032" cy="822960"/>
          </a:xfrm>
          <a:prstGeom prst="roundRect">
            <a:avLst>
              <a:gd name="adj" fmla="val 6667"/>
            </a:avLst>
          </a:prstGeom>
          <a:solidFill>
            <a:srgbClr val="EEF1F6"/>
          </a:solidFill>
          <a:ln w="9525">
            <a:solidFill>
              <a:srgbClr val="EEF1F6"/>
            </a:solidFill>
            <a:prstDash val="solid"/>
          </a:ln>
        </p:spPr>
      </p:sp>
      <p:sp>
        <p:nvSpPr>
          <p:cNvPr id="24" name="Text 21"/>
          <p:cNvSpPr txBox="1"/>
          <p:nvPr/>
        </p:nvSpPr>
        <p:spPr>
          <a:xfrm>
            <a:off x="3703320" y="20482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O3</a:t>
            </a:r>
            <a:endParaRPr lang="en-US" sz="1200" dirty="0"/>
          </a:p>
        </p:txBody>
      </p:sp>
      <p:sp>
        <p:nvSpPr>
          <p:cNvPr id="25" name="Text 22"/>
          <p:cNvSpPr txBox="1"/>
          <p:nvPr/>
        </p:nvSpPr>
        <p:spPr>
          <a:xfrm>
            <a:off x="3703320" y="2276856"/>
            <a:ext cx="2286000" cy="475488"/>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Control de calidad automático</a:t>
            </a:r>
            <a:pPr indent="0" marL="0">
              <a:buNone/>
            </a:pPr>
            <a:r>
              <a:rPr lang="en-US" sz="950" dirty="0">
                <a:solidFill>
                  <a:srgbClr val="141821"/>
                </a:solidFill>
                <a:latin typeface="Calibri" pitchFamily="34" charset="0"/>
                <a:ea typeface="Calibri" pitchFamily="34" charset="-122"/>
                <a:cs typeface="Calibri" pitchFamily="34" charset="-120"/>
              </a:rPr>
              <a:t>: estructura, integridad, etiquetas, nulos y duplicados</a:t>
            </a:r>
            <a:endParaRPr lang="en-US" sz="950" dirty="0"/>
          </a:p>
        </p:txBody>
      </p:sp>
      <p:sp>
        <p:nvSpPr>
          <p:cNvPr id="26" name="Shape 23"/>
          <p:cNvSpPr/>
          <p:nvPr/>
        </p:nvSpPr>
        <p:spPr>
          <a:xfrm>
            <a:off x="6190488" y="1965960"/>
            <a:ext cx="2542032" cy="822960"/>
          </a:xfrm>
          <a:prstGeom prst="roundRect">
            <a:avLst>
              <a:gd name="adj" fmla="val 6667"/>
            </a:avLst>
          </a:prstGeom>
          <a:solidFill>
            <a:srgbClr val="EEF1F6"/>
          </a:solidFill>
          <a:ln w="9525">
            <a:solidFill>
              <a:srgbClr val="EEF1F6"/>
            </a:solidFill>
            <a:prstDash val="solid"/>
          </a:ln>
        </p:spPr>
      </p:sp>
      <p:sp>
        <p:nvSpPr>
          <p:cNvPr id="27" name="Text 24"/>
          <p:cNvSpPr txBox="1"/>
          <p:nvPr/>
        </p:nvSpPr>
        <p:spPr>
          <a:xfrm>
            <a:off x="6327648" y="20482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O4</a:t>
            </a:r>
            <a:endParaRPr lang="en-US" sz="1200" dirty="0"/>
          </a:p>
        </p:txBody>
      </p:sp>
      <p:sp>
        <p:nvSpPr>
          <p:cNvPr id="28" name="Text 25"/>
          <p:cNvSpPr txBox="1"/>
          <p:nvPr/>
        </p:nvSpPr>
        <p:spPr>
          <a:xfrm>
            <a:off x="6327648" y="2276856"/>
            <a:ext cx="2286000" cy="475488"/>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Entrenar y comparar</a:t>
            </a:r>
            <a:pPr indent="0" marL="0">
              <a:buNone/>
            </a:pPr>
            <a:r>
              <a:rPr lang="en-US" sz="950" dirty="0">
                <a:solidFill>
                  <a:srgbClr val="141821"/>
                </a:solidFill>
                <a:latin typeface="Calibri" pitchFamily="34" charset="0"/>
                <a:ea typeface="Calibri" pitchFamily="34" charset="-122"/>
                <a:cs typeface="Calibri" pitchFamily="34" charset="-120"/>
              </a:rPr>
              <a:t> modelos supervisados con TF-IDF y configuración común</a:t>
            </a:r>
            <a:endParaRPr lang="en-US" sz="950" dirty="0"/>
          </a:p>
        </p:txBody>
      </p:sp>
      <p:sp>
        <p:nvSpPr>
          <p:cNvPr id="29" name="Shape 26"/>
          <p:cNvSpPr/>
          <p:nvPr/>
        </p:nvSpPr>
        <p:spPr>
          <a:xfrm>
            <a:off x="3566160" y="2880360"/>
            <a:ext cx="2542032" cy="822960"/>
          </a:xfrm>
          <a:prstGeom prst="roundRect">
            <a:avLst>
              <a:gd name="adj" fmla="val 6667"/>
            </a:avLst>
          </a:prstGeom>
          <a:solidFill>
            <a:srgbClr val="EEF1F6"/>
          </a:solidFill>
          <a:ln w="9525">
            <a:solidFill>
              <a:srgbClr val="EEF1F6"/>
            </a:solidFill>
            <a:prstDash val="solid"/>
          </a:ln>
        </p:spPr>
      </p:sp>
      <p:sp>
        <p:nvSpPr>
          <p:cNvPr id="30" name="Text 27"/>
          <p:cNvSpPr txBox="1"/>
          <p:nvPr/>
        </p:nvSpPr>
        <p:spPr>
          <a:xfrm>
            <a:off x="3703320" y="29626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O5</a:t>
            </a:r>
            <a:endParaRPr lang="en-US" sz="1200" dirty="0"/>
          </a:p>
        </p:txBody>
      </p:sp>
      <p:sp>
        <p:nvSpPr>
          <p:cNvPr id="31" name="Text 28"/>
          <p:cNvSpPr txBox="1"/>
          <p:nvPr/>
        </p:nvSpPr>
        <p:spPr>
          <a:xfrm>
            <a:off x="3703320" y="3191256"/>
            <a:ext cx="2286000" cy="475488"/>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Evaluar</a:t>
            </a:r>
            <a:pPr indent="0" marL="0">
              <a:buNone/>
            </a:pPr>
            <a:r>
              <a:rPr lang="en-US" sz="950" dirty="0">
                <a:solidFill>
                  <a:srgbClr val="141821"/>
                </a:solidFill>
                <a:latin typeface="Calibri" pitchFamily="34" charset="0"/>
                <a:ea typeface="Calibri" pitchFamily="34" charset="-122"/>
                <a:cs typeface="Calibri" pitchFamily="34" charset="-120"/>
              </a:rPr>
              <a:t> con métricas, análisis de errores y términos influyentes</a:t>
            </a:r>
            <a:endParaRPr lang="en-US" sz="950" dirty="0"/>
          </a:p>
        </p:txBody>
      </p:sp>
      <p:sp>
        <p:nvSpPr>
          <p:cNvPr id="32" name="Shape 29"/>
          <p:cNvSpPr/>
          <p:nvPr/>
        </p:nvSpPr>
        <p:spPr>
          <a:xfrm>
            <a:off x="6190488" y="2880360"/>
            <a:ext cx="2542032" cy="822960"/>
          </a:xfrm>
          <a:prstGeom prst="roundRect">
            <a:avLst>
              <a:gd name="adj" fmla="val 6667"/>
            </a:avLst>
          </a:prstGeom>
          <a:solidFill>
            <a:srgbClr val="EEF1F6"/>
          </a:solidFill>
          <a:ln w="9525">
            <a:solidFill>
              <a:srgbClr val="EEF1F6"/>
            </a:solidFill>
            <a:prstDash val="solid"/>
          </a:ln>
        </p:spPr>
      </p:sp>
      <p:sp>
        <p:nvSpPr>
          <p:cNvPr id="33" name="Text 30"/>
          <p:cNvSpPr txBox="1"/>
          <p:nvPr/>
        </p:nvSpPr>
        <p:spPr>
          <a:xfrm>
            <a:off x="6327648" y="29626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O6</a:t>
            </a:r>
            <a:endParaRPr lang="en-US" sz="1200" dirty="0"/>
          </a:p>
        </p:txBody>
      </p:sp>
      <p:sp>
        <p:nvSpPr>
          <p:cNvPr id="34" name="Text 31"/>
          <p:cNvSpPr txBox="1"/>
          <p:nvPr/>
        </p:nvSpPr>
        <p:spPr>
          <a:xfrm>
            <a:off x="6327648" y="3191256"/>
            <a:ext cx="2286000" cy="475488"/>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Trazabilidad y reproducibilidad</a:t>
            </a:r>
            <a:pPr indent="0" marL="0">
              <a:buNone/>
            </a:pPr>
            <a:r>
              <a:rPr lang="en-US" sz="950" dirty="0">
                <a:solidFill>
                  <a:srgbClr val="141821"/>
                </a:solidFill>
                <a:latin typeface="Calibri" pitchFamily="34" charset="0"/>
                <a:ea typeface="Calibri" pitchFamily="34" charset="-122"/>
                <a:cs typeface="Calibri" pitchFamily="34" charset="-120"/>
              </a:rPr>
              <a:t> de configuración, métricas, predicciones y artefactos</a:t>
            </a:r>
            <a:endParaRPr lang="en-US" sz="950" dirty="0"/>
          </a:p>
        </p:txBody>
      </p:sp>
      <p:sp>
        <p:nvSpPr>
          <p:cNvPr id="35" name="Shape 32"/>
          <p:cNvSpPr/>
          <p:nvPr/>
        </p:nvSpPr>
        <p:spPr>
          <a:xfrm>
            <a:off x="3566160" y="3794760"/>
            <a:ext cx="5166360" cy="822960"/>
          </a:xfrm>
          <a:prstGeom prst="roundRect">
            <a:avLst>
              <a:gd name="adj" fmla="val 6667"/>
            </a:avLst>
          </a:prstGeom>
          <a:solidFill>
            <a:srgbClr val="FFFFFF"/>
          </a:solidFill>
          <a:ln w="9525">
            <a:solidFill>
              <a:srgbClr val="D5DAE2"/>
            </a:solidFill>
            <a:prstDash val="solid"/>
          </a:ln>
        </p:spPr>
      </p:sp>
      <p:sp>
        <p:nvSpPr>
          <p:cNvPr id="36" name="Text 33"/>
          <p:cNvSpPr txBox="1"/>
          <p:nvPr/>
        </p:nvSpPr>
        <p:spPr>
          <a:xfrm>
            <a:off x="3703320" y="3877056"/>
            <a:ext cx="457200" cy="219456"/>
          </a:xfrm>
          <a:prstGeom prst="rect">
            <a:avLst/>
          </a:prstGeom>
          <a:noFill/>
          <a:ln/>
        </p:spPr>
        <p:txBody>
          <a:bodyPr wrap="square" lIns="0" tIns="0" rIns="0" bIns="0" rtlCol="0" anchor="ctr"/>
          <a:lstStyle/>
          <a:p>
            <a:pPr indent="0" marL="0">
              <a:buNone/>
            </a:pPr>
            <a:r>
              <a:rPr lang="en-US" sz="1200" b="1" dirty="0">
                <a:solidFill>
                  <a:srgbClr val="CA061C"/>
                </a:solidFill>
                <a:latin typeface="Cambria" pitchFamily="34" charset="0"/>
                <a:ea typeface="Cambria" pitchFamily="34" charset="-122"/>
                <a:cs typeface="Cambria" pitchFamily="34" charset="-120"/>
              </a:rPr>
              <a:t>O7</a:t>
            </a:r>
            <a:endParaRPr lang="en-US" sz="1200" dirty="0"/>
          </a:p>
        </p:txBody>
      </p:sp>
      <p:sp>
        <p:nvSpPr>
          <p:cNvPr id="37" name="Text 34"/>
          <p:cNvSpPr txBox="1"/>
          <p:nvPr/>
        </p:nvSpPr>
        <p:spPr>
          <a:xfrm>
            <a:off x="3703320" y="4105656"/>
            <a:ext cx="4910328" cy="475488"/>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Extensión: </a:t>
            </a:r>
            <a:pPr indent="0" marL="0">
              <a:buNone/>
            </a:pPr>
            <a:r>
              <a:rPr lang="en-US" sz="950" b="1" dirty="0">
                <a:solidFill>
                  <a:srgbClr val="141821"/>
                </a:solidFill>
                <a:latin typeface="Calibri" pitchFamily="34" charset="0"/>
                <a:ea typeface="Calibri" pitchFamily="34" charset="-122"/>
                <a:cs typeface="Calibri" pitchFamily="34" charset="-120"/>
              </a:rPr>
              <a:t>adquisición bajo demanda</a:t>
            </a:r>
            <a:pPr indent="0" marL="0">
              <a:buNone/>
            </a:pPr>
            <a:r>
              <a:rPr lang="en-US" sz="950" dirty="0">
                <a:solidFill>
                  <a:srgbClr val="141821"/>
                </a:solidFill>
                <a:latin typeface="Calibri" pitchFamily="34" charset="0"/>
                <a:ea typeface="Calibri" pitchFamily="34" charset="-122"/>
                <a:cs typeface="Calibri" pitchFamily="34" charset="-120"/>
              </a:rPr>
              <a:t> de mensajes de canales públicos de Telegram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Shape 2"/>
          <p:cNvSpPr/>
          <p:nvPr/>
        </p:nvSpPr>
        <p:spPr>
          <a:xfrm>
            <a:off x="1135685" y="4914900"/>
            <a:ext cx="676656" cy="187452"/>
          </a:xfrm>
          <a:prstGeom prst="roundRect">
            <a:avLst>
              <a:gd name="adj" fmla="val 19512"/>
            </a:avLst>
          </a:prstGeom>
          <a:solidFill>
            <a:srgbClr val="CA061C"/>
          </a:solidFill>
          <a:ln w="12700">
            <a:solidFill>
              <a:srgbClr val="CA061C"/>
            </a:solidFill>
            <a:prstDash val="solid"/>
          </a:ln>
        </p:spPr>
      </p:sp>
      <p:sp>
        <p:nvSpPr>
          <p:cNvPr id="5" name="Text 3"/>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 Contexto</a:t>
            </a:r>
            <a:endParaRPr lang="en-US" sz="750" dirty="0"/>
          </a:p>
        </p:txBody>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05</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2 · CONTEXTO · FUNDAMENTOS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Cuatro pilares teóricos y un alcance acotado</a:t>
            </a:r>
            <a:endParaRPr lang="en-US" sz="2400" dirty="0"/>
          </a:p>
        </p:txBody>
      </p:sp>
      <p:sp>
        <p:nvSpPr>
          <p:cNvPr id="14" name="Shape 11"/>
          <p:cNvSpPr/>
          <p:nvPr/>
        </p:nvSpPr>
        <p:spPr>
          <a:xfrm>
            <a:off x="411480" y="1097280"/>
            <a:ext cx="2468880" cy="1344168"/>
          </a:xfrm>
          <a:prstGeom prst="roundRect">
            <a:avLst>
              <a:gd name="adj" fmla="val 4082"/>
            </a:avLst>
          </a:prstGeom>
          <a:solidFill>
            <a:srgbClr val="EEF1F6"/>
          </a:solidFill>
          <a:ln w="9525">
            <a:solidFill>
              <a:srgbClr val="EEF1F6"/>
            </a:solidFill>
            <a:prstDash val="solid"/>
          </a:ln>
        </p:spPr>
      </p:sp>
      <p:sp>
        <p:nvSpPr>
          <p:cNvPr id="15" name="Text 12"/>
          <p:cNvSpPr txBox="1"/>
          <p:nvPr/>
        </p:nvSpPr>
        <p:spPr>
          <a:xfrm>
            <a:off x="566928" y="1225296"/>
            <a:ext cx="2194560" cy="228600"/>
          </a:xfrm>
          <a:prstGeom prst="rect">
            <a:avLst/>
          </a:prstGeom>
          <a:noFill/>
          <a:ln/>
        </p:spPr>
        <p:txBody>
          <a:bodyPr wrap="square" lIns="0" tIns="0" rIns="0" bIns="0" rtlCol="0" anchor="t"/>
          <a:lstStyle/>
          <a:p>
            <a:pPr indent="0" marL="0">
              <a:buNone/>
            </a:pPr>
            <a:r>
              <a:rPr lang="en-US" sz="1050" b="1" dirty="0">
                <a:solidFill>
                  <a:srgbClr val="141821"/>
                </a:solidFill>
                <a:latin typeface="Calibri" pitchFamily="34" charset="0"/>
                <a:ea typeface="Calibri" pitchFamily="34" charset="-122"/>
                <a:cs typeface="Calibri" pitchFamily="34" charset="-120"/>
              </a:rPr>
              <a:t>Fake news como categoría operativa</a:t>
            </a:r>
            <a:endParaRPr lang="en-US" sz="1050" dirty="0"/>
          </a:p>
        </p:txBody>
      </p:sp>
      <p:sp>
        <p:nvSpPr>
          <p:cNvPr id="16" name="Text 13"/>
          <p:cNvSpPr txBox="1"/>
          <p:nvPr/>
        </p:nvSpPr>
        <p:spPr>
          <a:xfrm>
            <a:off x="566928" y="1508760"/>
            <a:ext cx="2194560" cy="896112"/>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Clasificación binaria derivada de las etiquetas de origen; </a:t>
            </a:r>
            <a:pPr indent="0" marL="0">
              <a:buNone/>
            </a:pPr>
            <a:r>
              <a:rPr lang="en-US" sz="950" b="1" dirty="0">
                <a:solidFill>
                  <a:srgbClr val="3A4250"/>
                </a:solidFill>
                <a:latin typeface="Calibri" pitchFamily="34" charset="0"/>
                <a:ea typeface="Calibri" pitchFamily="34" charset="-122"/>
                <a:cs typeface="Calibri" pitchFamily="34" charset="-120"/>
              </a:rPr>
              <a:t>no es fact-checking</a:t>
            </a:r>
            <a:pPr indent="0" marL="0">
              <a:buNone/>
            </a:pPr>
            <a:r>
              <a:rPr lang="en-US" sz="950" dirty="0">
                <a:solidFill>
                  <a:srgbClr val="3A4250"/>
                </a:solidFill>
                <a:latin typeface="Calibri" pitchFamily="34" charset="0"/>
                <a:ea typeface="Calibri" pitchFamily="34" charset="-122"/>
                <a:cs typeface="Calibri" pitchFamily="34" charset="-120"/>
              </a:rPr>
              <a:t> (Thorne &amp; Vlachos, 2018).</a:t>
            </a:r>
            <a:endParaRPr lang="en-US" sz="950" dirty="0"/>
          </a:p>
        </p:txBody>
      </p:sp>
      <p:sp>
        <p:nvSpPr>
          <p:cNvPr id="17" name="Shape 14"/>
          <p:cNvSpPr/>
          <p:nvPr/>
        </p:nvSpPr>
        <p:spPr>
          <a:xfrm>
            <a:off x="2999232" y="1097280"/>
            <a:ext cx="2468880" cy="1344168"/>
          </a:xfrm>
          <a:prstGeom prst="roundRect">
            <a:avLst>
              <a:gd name="adj" fmla="val 4082"/>
            </a:avLst>
          </a:prstGeom>
          <a:solidFill>
            <a:srgbClr val="EEF1F6"/>
          </a:solidFill>
          <a:ln w="9525">
            <a:solidFill>
              <a:srgbClr val="EEF1F6"/>
            </a:solidFill>
            <a:prstDash val="solid"/>
          </a:ln>
        </p:spPr>
      </p:sp>
      <p:sp>
        <p:nvSpPr>
          <p:cNvPr id="18" name="Text 15"/>
          <p:cNvSpPr txBox="1"/>
          <p:nvPr/>
        </p:nvSpPr>
        <p:spPr>
          <a:xfrm>
            <a:off x="3154680" y="1225296"/>
            <a:ext cx="2194560" cy="228600"/>
          </a:xfrm>
          <a:prstGeom prst="rect">
            <a:avLst/>
          </a:prstGeom>
          <a:noFill/>
          <a:ln/>
        </p:spPr>
        <p:txBody>
          <a:bodyPr wrap="square" lIns="0" tIns="0" rIns="0" bIns="0" rtlCol="0" anchor="t"/>
          <a:lstStyle/>
          <a:p>
            <a:pPr indent="0" marL="0">
              <a:buNone/>
            </a:pPr>
            <a:r>
              <a:rPr lang="en-US" sz="1050" b="1" dirty="0">
                <a:solidFill>
                  <a:srgbClr val="141821"/>
                </a:solidFill>
                <a:latin typeface="Calibri" pitchFamily="34" charset="0"/>
                <a:ea typeface="Calibri" pitchFamily="34" charset="-122"/>
                <a:cs typeface="Calibri" pitchFamily="34" charset="-120"/>
              </a:rPr>
              <a:t>Clasificación basada en contenido</a:t>
            </a:r>
            <a:endParaRPr lang="en-US" sz="1050" dirty="0"/>
          </a:p>
        </p:txBody>
      </p:sp>
      <p:sp>
        <p:nvSpPr>
          <p:cNvPr id="19" name="Text 16"/>
          <p:cNvSpPr txBox="1"/>
          <p:nvPr/>
        </p:nvSpPr>
        <p:spPr>
          <a:xfrm>
            <a:off x="3154680" y="1508760"/>
            <a:ext cx="2194560" cy="896112"/>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El preprocesamiento </a:t>
            </a:r>
            <a:pPr indent="0" marL="0">
              <a:buNone/>
            </a:pPr>
            <a:r>
              <a:rPr lang="en-US" sz="950" b="1" dirty="0">
                <a:solidFill>
                  <a:srgbClr val="3A4250"/>
                </a:solidFill>
                <a:latin typeface="Calibri" pitchFamily="34" charset="0"/>
                <a:ea typeface="Calibri" pitchFamily="34" charset="-122"/>
                <a:cs typeface="Calibri" pitchFamily="34" charset="-120"/>
              </a:rPr>
              <a:t>forma parte de la definición experimental</a:t>
            </a:r>
            <a:pPr indent="0" marL="0">
              <a:buNone/>
            </a:pPr>
            <a:r>
              <a:rPr lang="en-US" sz="950" dirty="0">
                <a:solidFill>
                  <a:srgbClr val="3A4250"/>
                </a:solidFill>
                <a:latin typeface="Calibri" pitchFamily="34" charset="0"/>
                <a:ea typeface="Calibri" pitchFamily="34" charset="-122"/>
                <a:cs typeface="Calibri" pitchFamily="34" charset="-120"/>
              </a:rPr>
              <a:t> (Sebastiani, 2002). Las marcas editoriales pueden no transferirse (Potthast et al., 2018).</a:t>
            </a:r>
            <a:endParaRPr lang="en-US" sz="950" dirty="0"/>
          </a:p>
        </p:txBody>
      </p:sp>
      <p:sp>
        <p:nvSpPr>
          <p:cNvPr id="20" name="Shape 17"/>
          <p:cNvSpPr/>
          <p:nvPr/>
        </p:nvSpPr>
        <p:spPr>
          <a:xfrm>
            <a:off x="411480" y="2560320"/>
            <a:ext cx="2468880" cy="1344168"/>
          </a:xfrm>
          <a:prstGeom prst="roundRect">
            <a:avLst>
              <a:gd name="adj" fmla="val 4082"/>
            </a:avLst>
          </a:prstGeom>
          <a:solidFill>
            <a:srgbClr val="EEF1F6"/>
          </a:solidFill>
          <a:ln w="9525">
            <a:solidFill>
              <a:srgbClr val="EEF1F6"/>
            </a:solidFill>
            <a:prstDash val="solid"/>
          </a:ln>
        </p:spPr>
      </p:sp>
      <p:sp>
        <p:nvSpPr>
          <p:cNvPr id="21" name="Text 18"/>
          <p:cNvSpPr txBox="1"/>
          <p:nvPr/>
        </p:nvSpPr>
        <p:spPr>
          <a:xfrm>
            <a:off x="566928" y="2688336"/>
            <a:ext cx="2194560" cy="228600"/>
          </a:xfrm>
          <a:prstGeom prst="rect">
            <a:avLst/>
          </a:prstGeom>
          <a:noFill/>
          <a:ln/>
        </p:spPr>
        <p:txBody>
          <a:bodyPr wrap="square" lIns="0" tIns="0" rIns="0" bIns="0" rtlCol="0" anchor="t"/>
          <a:lstStyle/>
          <a:p>
            <a:pPr indent="0" marL="0">
              <a:buNone/>
            </a:pPr>
            <a:r>
              <a:rPr lang="en-US" sz="1050" b="1" dirty="0">
                <a:solidFill>
                  <a:srgbClr val="141821"/>
                </a:solidFill>
                <a:latin typeface="Calibri" pitchFamily="34" charset="0"/>
                <a:ea typeface="Calibri" pitchFamily="34" charset="-122"/>
                <a:cs typeface="Calibri" pitchFamily="34" charset="-120"/>
              </a:rPr>
              <a:t>Conjuntos de datos</a:t>
            </a:r>
            <a:endParaRPr lang="en-US" sz="1050" dirty="0"/>
          </a:p>
        </p:txBody>
      </p:sp>
      <p:sp>
        <p:nvSpPr>
          <p:cNvPr id="22" name="Text 19"/>
          <p:cNvSpPr txBox="1"/>
          <p:nvPr/>
        </p:nvSpPr>
        <p:spPr>
          <a:xfrm>
            <a:off x="566928" y="2971800"/>
            <a:ext cx="2194560" cy="896112"/>
          </a:xfrm>
          <a:prstGeom prst="rect">
            <a:avLst/>
          </a:prstGeom>
          <a:noFill/>
          <a:ln/>
        </p:spPr>
        <p:txBody>
          <a:bodyPr wrap="square" lIns="0" tIns="0" rIns="0" bIns="0" rtlCol="0" anchor="t"/>
          <a:lstStyle/>
          <a:p>
            <a:pPr indent="0" marL="0">
              <a:buNone/>
            </a:pPr>
            <a:r>
              <a:rPr lang="en-US" sz="950" b="1" dirty="0">
                <a:solidFill>
                  <a:srgbClr val="3A4250"/>
                </a:solidFill>
                <a:latin typeface="Calibri" pitchFamily="34" charset="0"/>
                <a:ea typeface="Calibri" pitchFamily="34" charset="-122"/>
                <a:cs typeface="Calibri" pitchFamily="34" charset="-120"/>
              </a:rPr>
              <a:t>LIAR</a:t>
            </a:r>
            <a:pPr indent="0" marL="0">
              <a:buNone/>
            </a:pPr>
            <a:r>
              <a:rPr lang="en-US" sz="950" dirty="0">
                <a:solidFill>
                  <a:srgbClr val="3A4250"/>
                </a:solidFill>
                <a:latin typeface="Calibri" pitchFamily="34" charset="0"/>
                <a:ea typeface="Calibri" pitchFamily="34" charset="-122"/>
                <a:cs typeface="Calibri" pitchFamily="34" charset="-120"/>
              </a:rPr>
              <a:t>: declaraciones de PolitiFact en seis niveles (Wang, 2017). </a:t>
            </a:r>
            <a:pPr indent="0" marL="0">
              <a:buNone/>
            </a:pPr>
            <a:r>
              <a:rPr lang="en-US" sz="950" b="1" dirty="0">
                <a:solidFill>
                  <a:srgbClr val="3A4250"/>
                </a:solidFill>
                <a:latin typeface="Calibri" pitchFamily="34" charset="0"/>
                <a:ea typeface="Calibri" pitchFamily="34" charset="-122"/>
                <a:cs typeface="Calibri" pitchFamily="34" charset="-120"/>
              </a:rPr>
              <a:t>archive2</a:t>
            </a:r>
            <a:pPr indent="0" marL="0">
              <a:buNone/>
            </a:pPr>
            <a:r>
              <a:rPr lang="en-US" sz="950" dirty="0">
                <a:solidFill>
                  <a:srgbClr val="3A4250"/>
                </a:solidFill>
                <a:latin typeface="Calibri" pitchFamily="34" charset="0"/>
                <a:ea typeface="Calibri" pitchFamily="34" charset="-122"/>
                <a:cs typeface="Calibri" pitchFamily="34" charset="-120"/>
              </a:rPr>
              <a:t>: Fake.csv y True.csv, atribuidos a ISOT (Ahmed et al., 2018).</a:t>
            </a:r>
            <a:endParaRPr lang="en-US" sz="950" dirty="0"/>
          </a:p>
        </p:txBody>
      </p:sp>
      <p:sp>
        <p:nvSpPr>
          <p:cNvPr id="23" name="Shape 20"/>
          <p:cNvSpPr/>
          <p:nvPr/>
        </p:nvSpPr>
        <p:spPr>
          <a:xfrm>
            <a:off x="2999232" y="2560320"/>
            <a:ext cx="2468880" cy="1344168"/>
          </a:xfrm>
          <a:prstGeom prst="roundRect">
            <a:avLst>
              <a:gd name="adj" fmla="val 4082"/>
            </a:avLst>
          </a:prstGeom>
          <a:solidFill>
            <a:srgbClr val="EEF1F6"/>
          </a:solidFill>
          <a:ln w="9525">
            <a:solidFill>
              <a:srgbClr val="EEF1F6"/>
            </a:solidFill>
            <a:prstDash val="solid"/>
          </a:ln>
        </p:spPr>
      </p:sp>
      <p:sp>
        <p:nvSpPr>
          <p:cNvPr id="24" name="Text 21"/>
          <p:cNvSpPr txBox="1"/>
          <p:nvPr/>
        </p:nvSpPr>
        <p:spPr>
          <a:xfrm>
            <a:off x="3154680" y="2688336"/>
            <a:ext cx="2194560" cy="228600"/>
          </a:xfrm>
          <a:prstGeom prst="rect">
            <a:avLst/>
          </a:prstGeom>
          <a:noFill/>
          <a:ln/>
        </p:spPr>
        <p:txBody>
          <a:bodyPr wrap="square" lIns="0" tIns="0" rIns="0" bIns="0" rtlCol="0" anchor="t"/>
          <a:lstStyle/>
          <a:p>
            <a:pPr indent="0" marL="0">
              <a:buNone/>
            </a:pPr>
            <a:r>
              <a:rPr lang="en-US" sz="1050" b="1" dirty="0">
                <a:solidFill>
                  <a:srgbClr val="141821"/>
                </a:solidFill>
                <a:latin typeface="Calibri" pitchFamily="34" charset="0"/>
                <a:ea typeface="Calibri" pitchFamily="34" charset="-122"/>
                <a:cs typeface="Calibri" pitchFamily="34" charset="-120"/>
              </a:rPr>
              <a:t>TF-IDF + clasificadores lineales</a:t>
            </a:r>
            <a:endParaRPr lang="en-US" sz="1050" dirty="0"/>
          </a:p>
        </p:txBody>
      </p:sp>
      <p:sp>
        <p:nvSpPr>
          <p:cNvPr id="25" name="Text 22"/>
          <p:cNvSpPr txBox="1"/>
          <p:nvPr/>
        </p:nvSpPr>
        <p:spPr>
          <a:xfrm>
            <a:off x="3154680" y="2971800"/>
            <a:ext cx="2194560" cy="896112"/>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Línea base </a:t>
            </a:r>
            <a:pPr indent="0" marL="0">
              <a:buNone/>
            </a:pPr>
            <a:r>
              <a:rPr lang="en-US" sz="950" b="1" dirty="0">
                <a:solidFill>
                  <a:srgbClr val="3A4250"/>
                </a:solidFill>
                <a:latin typeface="Calibri" pitchFamily="34" charset="0"/>
                <a:ea typeface="Calibri" pitchFamily="34" charset="-122"/>
                <a:cs typeface="Calibri" pitchFamily="34" charset="-120"/>
              </a:rPr>
              <a:t>ligera, explicable y reproducible</a:t>
            </a:r>
            <a:pPr indent="0" marL="0">
              <a:buNone/>
            </a:pPr>
            <a:r>
              <a:rPr lang="en-US" sz="950" dirty="0">
                <a:solidFill>
                  <a:srgbClr val="3A4250"/>
                </a:solidFill>
                <a:latin typeface="Calibri" pitchFamily="34" charset="0"/>
                <a:ea typeface="Calibri" pitchFamily="34" charset="-122"/>
                <a:cs typeface="Calibri" pitchFamily="34" charset="-120"/>
              </a:rPr>
              <a:t> antes de modelos preentrenados como BERT (Devlin et al., 2019).</a:t>
            </a:r>
            <a:endParaRPr lang="en-US" sz="950" dirty="0"/>
          </a:p>
        </p:txBody>
      </p:sp>
      <p:sp>
        <p:nvSpPr>
          <p:cNvPr id="26" name="Shape 23"/>
          <p:cNvSpPr/>
          <p:nvPr/>
        </p:nvSpPr>
        <p:spPr>
          <a:xfrm>
            <a:off x="5669280" y="1097280"/>
            <a:ext cx="3063240" cy="2807208"/>
          </a:xfrm>
          <a:prstGeom prst="roundRect">
            <a:avLst>
              <a:gd name="adj" fmla="val 1954"/>
            </a:avLst>
          </a:prstGeom>
          <a:solidFill>
            <a:srgbClr val="141821"/>
          </a:solidFill>
          <a:ln w="9525">
            <a:solidFill>
              <a:srgbClr val="141821"/>
            </a:solidFill>
            <a:prstDash val="solid"/>
          </a:ln>
        </p:spPr>
      </p:sp>
      <p:sp>
        <p:nvSpPr>
          <p:cNvPr id="27" name="Text 24"/>
          <p:cNvSpPr txBox="1"/>
          <p:nvPr/>
        </p:nvSpPr>
        <p:spPr>
          <a:xfrm>
            <a:off x="5870448" y="1261872"/>
            <a:ext cx="274320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EVALUACIÓN Y REPRODUCIBILIDAD</a:t>
            </a:r>
            <a:endParaRPr lang="en-US" sz="750" dirty="0"/>
          </a:p>
        </p:txBody>
      </p:sp>
      <p:sp>
        <p:nvSpPr>
          <p:cNvPr id="28" name="Text 25"/>
          <p:cNvSpPr txBox="1"/>
          <p:nvPr/>
        </p:nvSpPr>
        <p:spPr>
          <a:xfrm>
            <a:off x="5870448" y="1508760"/>
            <a:ext cx="2697480" cy="23317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Macro F1 con dispersión entre particiones y matrices de confusión (Sokolova &amp; Lapalme, 2009).</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Registros relacionados en una única partición (Roberts et al., 2017).</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Duplicados entre entrenamiento y prueba → fuga y estimaciones optimistas (Kapoor &amp; Narayanan, 2023).</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Trazabilidad: configuración, huellas, particiones, predicciones y métricas.</a:t>
            </a:r>
            <a:endParaRPr lang="en-US" sz="950" dirty="0"/>
          </a:p>
        </p:txBody>
      </p:sp>
      <p:sp>
        <p:nvSpPr>
          <p:cNvPr id="29" name="Shape 26"/>
          <p:cNvSpPr/>
          <p:nvPr/>
        </p:nvSpPr>
        <p:spPr>
          <a:xfrm>
            <a:off x="5669280" y="4005072"/>
            <a:ext cx="3063240" cy="676656"/>
          </a:xfrm>
          <a:prstGeom prst="roundRect">
            <a:avLst>
              <a:gd name="adj" fmla="val 8108"/>
            </a:avLst>
          </a:prstGeom>
          <a:solidFill>
            <a:srgbClr val="CA061C"/>
          </a:solidFill>
          <a:ln w="9525">
            <a:solidFill>
              <a:srgbClr val="CA061C"/>
            </a:solidFill>
            <a:prstDash val="solid"/>
          </a:ln>
        </p:spPr>
      </p:sp>
      <p:sp>
        <p:nvSpPr>
          <p:cNvPr id="30" name="Text 27"/>
          <p:cNvSpPr txBox="1"/>
          <p:nvPr/>
        </p:nvSpPr>
        <p:spPr>
          <a:xfrm>
            <a:off x="5852160" y="4005072"/>
            <a:ext cx="2743200" cy="6766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Alcance: </a:t>
            </a:r>
            <a:pPr indent="0" marL="0">
              <a:buNone/>
            </a:pPr>
            <a:r>
              <a:rPr lang="en-US" sz="950" dirty="0">
                <a:solidFill>
                  <a:srgbClr val="FFFFFF"/>
                </a:solidFill>
                <a:latin typeface="Calibri" pitchFamily="34" charset="0"/>
                <a:ea typeface="Calibri" pitchFamily="34" charset="-122"/>
                <a:cs typeface="Calibri" pitchFamily="34" charset="-120"/>
              </a:rPr>
              <a:t>archive2 y LIAR. No es un detector universal, ni fact-checking, ni se ha validado en Telegram.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Shape 2"/>
          <p:cNvSpPr/>
          <p:nvPr/>
        </p:nvSpPr>
        <p:spPr>
          <a:xfrm>
            <a:off x="1135685" y="4914900"/>
            <a:ext cx="676656" cy="187452"/>
          </a:xfrm>
          <a:prstGeom prst="roundRect">
            <a:avLst>
              <a:gd name="adj" fmla="val 19512"/>
            </a:avLst>
          </a:prstGeom>
          <a:solidFill>
            <a:srgbClr val="CA061C"/>
          </a:solidFill>
          <a:ln w="12700">
            <a:solidFill>
              <a:srgbClr val="CA061C"/>
            </a:solidFill>
            <a:prstDash val="solid"/>
          </a:ln>
        </p:spPr>
      </p:sp>
      <p:sp>
        <p:nvSpPr>
          <p:cNvPr id="5" name="Text 3"/>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 Contexto</a:t>
            </a:r>
            <a:endParaRPr lang="en-US" sz="750" dirty="0"/>
          </a:p>
        </p:txBody>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06</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2 · CONTEXTO · TRABAJOS RELACIONADOS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Dimensiones metodológicas, no puntuaciones aisladas</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Tabla 1 de la memoria: los resultados no son directamente comparables por diferencias de corpus, representación, modelos y protocolo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261872"/>
          <a:ext cx="8321040" cy="914400"/>
        </p:xfrm>
        <a:graphic>
          <a:graphicData uri="http://schemas.openxmlformats.org/drawingml/2006/table">
            <a:tbl>
              <a:tblPr/>
              <a:tblGrid>
                <a:gridCol w="1325880"/>
                <a:gridCol w="2331720"/>
                <a:gridCol w="2331720"/>
                <a:gridCol w="23317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Trabajo</a:t>
                      </a:r>
                      <a:endParaRPr lang="en-US" sz="90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Corpus y representación</a:t>
                      </a:r>
                      <a:endParaRPr lang="en-US" sz="90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Modelo y evaluación</a:t>
                      </a:r>
                      <a:endParaRPr lang="en-US" sz="90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Reproducibilidad y limitaciones</a:t>
                      </a:r>
                      <a:endParaRPr lang="en-US" sz="90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r>
              <a:tr h="548640">
                <a:tc>
                  <a:txBody>
                    <a:bodyPr/>
                    <a:lstStyle/>
                    <a:p>
                      <a:pPr indent="0" marL="0">
                        <a:buNone/>
                      </a:pPr>
                      <a:r>
                        <a:rPr lang="en-US" sz="850" b="1" dirty="0">
                          <a:solidFill>
                            <a:srgbClr val="141821"/>
                          </a:solidFill>
                          <a:latin typeface="Calibri" pitchFamily="34" charset="0"/>
                          <a:ea typeface="Calibri" pitchFamily="34" charset="-122"/>
                          <a:cs typeface="Calibri" pitchFamily="34" charset="-120"/>
                        </a:rPr>
                        <a:t>Shu et al. (2017)</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Revisión de conjuntos de datos, contenido y contexto social</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Taxonomía de métodos, métricas y recursos; sin experimento único</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Marco conceptual; datos sociales incompletos y ruidosos</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41821"/>
                          </a:solidFill>
                          <a:latin typeface="Calibri" pitchFamily="34" charset="0"/>
                          <a:ea typeface="Calibri" pitchFamily="34" charset="-122"/>
                          <a:cs typeface="Calibri" pitchFamily="34" charset="-120"/>
                        </a:rPr>
                        <a:t>Wang (2017)</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LIAR: declaraciones de PolitiFact, seis etiquetas, texto y metadatos</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Baselines lingüísticos y modelo híbrido CNN; multiclase</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Dataset público; la binarización del TFG reduce la granularidad</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r>
              <a:tr h="548640">
                <a:tc>
                  <a:txBody>
                    <a:bodyPr/>
                    <a:lstStyle/>
                    <a:p>
                      <a:pPr indent="0" marL="0">
                        <a:buNone/>
                      </a:pPr>
                      <a:r>
                        <a:rPr lang="en-US" sz="850" b="1" dirty="0">
                          <a:solidFill>
                            <a:srgbClr val="141821"/>
                          </a:solidFill>
                          <a:latin typeface="Calibri" pitchFamily="34" charset="0"/>
                          <a:ea typeface="Calibri" pitchFamily="34" charset="-122"/>
                          <a:cs typeface="Calibri" pitchFamily="34" charset="-120"/>
                        </a:rPr>
                        <a:t>Ruchansky et al. (2017)</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Twitter y Weibo: texto, respuesta temporal y fuente</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Modelo profundo CSI frente a baselines (accuracy)</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Requiere contexto social; no comparable con un pipeline textual</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41821"/>
                          </a:solidFill>
                          <a:latin typeface="Calibri" pitchFamily="34" charset="0"/>
                          <a:ea typeface="Calibri" pitchFamily="34" charset="-122"/>
                          <a:cs typeface="Calibri" pitchFamily="34" charset="-120"/>
                        </a:rPr>
                        <a:t>Ozbay y Alatas (2020)</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Tres datasets públicos; ponderación TF y matriz documento-término</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Veintitrés clasificadores supervisados, cuatro métricas</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Resultados dependientes de corpus y protocolo</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6F8FB"/>
                    </a:solidFill>
                  </a:tcPr>
                </a:tc>
              </a:tr>
              <a:tr h="548640">
                <a:tc>
                  <a:txBody>
                    <a:bodyPr/>
                    <a:lstStyle/>
                    <a:p>
                      <a:pPr indent="0" marL="0">
                        <a:buNone/>
                      </a:pPr>
                      <a:r>
                        <a:rPr lang="en-US" sz="850" b="1" dirty="0">
                          <a:solidFill>
                            <a:srgbClr val="141821"/>
                          </a:solidFill>
                          <a:latin typeface="Calibri" pitchFamily="34" charset="0"/>
                          <a:ea typeface="Calibri" pitchFamily="34" charset="-122"/>
                          <a:cs typeface="Calibri" pitchFamily="34" charset="-120"/>
                        </a:rPr>
                        <a:t>Presente TFG</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BE7EA"/>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archive2 + LIAR; corpus binario derivado; TF-IDF uni y bigramas</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BE7EA"/>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RL y Linear SVC; cinco particiones agrupadas; transferencia en ambas direcciones</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BE7EA"/>
                    </a:solidFill>
                  </a:tcPr>
                </a:tc>
                <a:tc>
                  <a:txBody>
                    <a:bodyPr/>
                    <a:lstStyle/>
                    <a:p>
                      <a:pPr indent="0" marL="0">
                        <a:buNone/>
                      </a:pPr>
                      <a:r>
                        <a:rPr lang="en-US" sz="850" dirty="0">
                          <a:solidFill>
                            <a:srgbClr val="141821"/>
                          </a:solidFill>
                          <a:latin typeface="Calibri" pitchFamily="34" charset="0"/>
                          <a:ea typeface="Calibri" pitchFamily="34" charset="-122"/>
                          <a:cs typeface="Calibri" pitchFamily="34" charset="-120"/>
                        </a:rPr>
                        <a:t>Alcance acotado a estas fuentes; MinHash aproximado; Telegram excluido</a:t>
                      </a:r>
                      <a:endParaRPr lang="en-US" sz="850" dirty="0">
                        <a:latin typeface="Calibri" charset="0"/>
                        <a:ea typeface="Calibri" charset="0"/>
                        <a:cs typeface="Calibri" charset="0"/>
                      </a:endParaRPr>
                    </a:p>
                  </a:txBody>
                  <a:tcPr marL="73152" marR="73152" marT="36576" marB="36576" anchor="ctr">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BE7E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Shape 3"/>
          <p:cNvSpPr/>
          <p:nvPr/>
        </p:nvSpPr>
        <p:spPr>
          <a:xfrm>
            <a:off x="1858061" y="4914900"/>
            <a:ext cx="835762" cy="187452"/>
          </a:xfrm>
          <a:prstGeom prst="roundRect">
            <a:avLst>
              <a:gd name="adj" fmla="val 19512"/>
            </a:avLst>
          </a:prstGeom>
          <a:solidFill>
            <a:srgbClr val="CA061C"/>
          </a:solidFill>
          <a:ln w="12700">
            <a:solidFill>
              <a:srgbClr val="CA061C"/>
            </a:solidFill>
            <a:prstDash val="solid"/>
          </a:ln>
        </p:spPr>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07</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3 · METODOLOGÍA · PROTOCOLO DE TRABAJO</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Una cadena de evidencias, de la fuente a cada cifra</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Preparación, validación, representación, ajuste y evaluación como etapas separadas con estado persistido</a:t>
            </a:r>
            <a:endParaRPr lang="en-US" sz="1100" dirty="0"/>
          </a:p>
        </p:txBody>
      </p:sp>
      <p:sp>
        <p:nvSpPr>
          <p:cNvPr id="15" name="Shape 12"/>
          <p:cNvSpPr/>
          <p:nvPr/>
        </p:nvSpPr>
        <p:spPr>
          <a:xfrm>
            <a:off x="411480" y="1325880"/>
            <a:ext cx="1554480" cy="1737360"/>
          </a:xfrm>
          <a:prstGeom prst="roundRect">
            <a:avLst>
              <a:gd name="adj" fmla="val 3529"/>
            </a:avLst>
          </a:prstGeom>
          <a:solidFill>
            <a:srgbClr val="EEF1F6"/>
          </a:solidFill>
          <a:ln w="9525">
            <a:solidFill>
              <a:srgbClr val="EEF1F6"/>
            </a:solidFill>
            <a:prstDash val="solid"/>
          </a:ln>
        </p:spPr>
      </p:sp>
      <p:sp>
        <p:nvSpPr>
          <p:cNvPr id="16" name="Text 13"/>
          <p:cNvSpPr txBox="1"/>
          <p:nvPr/>
        </p:nvSpPr>
        <p:spPr>
          <a:xfrm>
            <a:off x="548640" y="1435608"/>
            <a:ext cx="457200" cy="384048"/>
          </a:xfrm>
          <a:prstGeom prst="rect">
            <a:avLst/>
          </a:prstGeom>
          <a:noFill/>
          <a:ln/>
        </p:spPr>
        <p:txBody>
          <a:bodyPr wrap="square" lIns="0" tIns="0" rIns="0" bIns="0" rtlCol="0" anchor="ctr"/>
          <a:lstStyle/>
          <a:p>
            <a:pPr indent="0" marL="0">
              <a:buNone/>
            </a:pPr>
            <a:r>
              <a:rPr lang="en-US" sz="2400" b="1" dirty="0">
                <a:solidFill>
                  <a:srgbClr val="CA061C"/>
                </a:solidFill>
                <a:latin typeface="Cambria" pitchFamily="34" charset="0"/>
                <a:ea typeface="Cambria" pitchFamily="34" charset="-122"/>
                <a:cs typeface="Cambria" pitchFamily="34" charset="-120"/>
              </a:rPr>
              <a:t>1</a:t>
            </a:r>
            <a:endParaRPr lang="en-US" sz="2400" dirty="0"/>
          </a:p>
        </p:txBody>
      </p:sp>
      <p:sp>
        <p:nvSpPr>
          <p:cNvPr id="17" name="Text 14"/>
          <p:cNvSpPr txBox="1"/>
          <p:nvPr/>
        </p:nvSpPr>
        <p:spPr>
          <a:xfrm>
            <a:off x="548640" y="1892808"/>
            <a:ext cx="1325880" cy="228600"/>
          </a:xfrm>
          <a:prstGeom prst="rect">
            <a:avLst/>
          </a:prstGeom>
          <a:noFill/>
          <a:ln/>
        </p:spPr>
        <p:txBody>
          <a:bodyPr wrap="square" lIns="0" tIns="0" rIns="0" bIns="0" rtlCol="0" anchor="t"/>
          <a:lstStyle/>
          <a:p>
            <a:pPr indent="0" marL="0">
              <a:buNone/>
            </a:pPr>
            <a:r>
              <a:rPr lang="en-US" sz="1100" b="1" dirty="0">
                <a:solidFill>
                  <a:srgbClr val="141821"/>
                </a:solidFill>
                <a:latin typeface="Calibri" pitchFamily="34" charset="0"/>
                <a:ea typeface="Calibri" pitchFamily="34" charset="-122"/>
                <a:cs typeface="Calibri" pitchFamily="34" charset="-120"/>
              </a:rPr>
              <a:t>Preparación</a:t>
            </a:r>
            <a:endParaRPr lang="en-US" sz="1100" dirty="0"/>
          </a:p>
        </p:txBody>
      </p:sp>
      <p:sp>
        <p:nvSpPr>
          <p:cNvPr id="18" name="Text 15"/>
          <p:cNvSpPr txBox="1"/>
          <p:nvPr/>
        </p:nvSpPr>
        <p:spPr>
          <a:xfrm>
            <a:off x="548640" y="2167128"/>
            <a:ext cx="1325880" cy="841248"/>
          </a:xfrm>
          <a:prstGeom prst="rect">
            <a:avLst/>
          </a:prstGeom>
          <a:noFill/>
          <a:ln/>
        </p:spPr>
        <p:txBody>
          <a:bodyPr wrap="square" lIns="0" tIns="0" rIns="0" bIns="0" rtlCol="0" anchor="t"/>
          <a:lstStyle/>
          <a:p>
            <a:pPr indent="0" marL="0">
              <a:buNone/>
            </a:pPr>
            <a:r>
              <a:rPr lang="en-US" sz="900" dirty="0">
                <a:solidFill>
                  <a:srgbClr val="3A4250"/>
                </a:solidFill>
                <a:latin typeface="Calibri" pitchFamily="34" charset="0"/>
                <a:ea typeface="Calibri" pitchFamily="34" charset="-122"/>
                <a:cs typeface="Calibri" pitchFamily="34" charset="-120"/>
              </a:rPr>
              <a:t>Auditoría fila a fila; source_id único por registro</a:t>
            </a:r>
            <a:endParaRPr lang="en-US" sz="900" dirty="0"/>
          </a:p>
        </p:txBody>
      </p:sp>
      <p:sp>
        <p:nvSpPr>
          <p:cNvPr id="19" name="Text 16"/>
          <p:cNvSpPr txBox="1"/>
          <p:nvPr/>
        </p:nvSpPr>
        <p:spPr>
          <a:xfrm>
            <a:off x="1947672" y="2057400"/>
            <a:ext cx="164592" cy="274320"/>
          </a:xfrm>
          <a:prstGeom prst="rect">
            <a:avLst/>
          </a:prstGeom>
          <a:noFill/>
          <a:ln/>
        </p:spPr>
        <p:txBody>
          <a:bodyPr wrap="square" lIns="0" tIns="0" rIns="0" bIns="0" rtlCol="0" anchor="ctr"/>
          <a:lstStyle/>
          <a:p>
            <a:pPr algn="ctr" indent="0" marL="0">
              <a:buNone/>
            </a:pPr>
            <a:r>
              <a:rPr lang="en-US" sz="1200" dirty="0">
                <a:solidFill>
                  <a:srgbClr val="5B6472"/>
                </a:solidFill>
              </a:rPr>
              <a:t>→</a:t>
            </a:r>
            <a:endParaRPr lang="en-US" sz="1200" dirty="0"/>
          </a:p>
        </p:txBody>
      </p:sp>
      <p:sp>
        <p:nvSpPr>
          <p:cNvPr id="20" name="Shape 17"/>
          <p:cNvSpPr/>
          <p:nvPr/>
        </p:nvSpPr>
        <p:spPr>
          <a:xfrm>
            <a:off x="2093976" y="1325880"/>
            <a:ext cx="1554480" cy="1737360"/>
          </a:xfrm>
          <a:prstGeom prst="roundRect">
            <a:avLst>
              <a:gd name="adj" fmla="val 3529"/>
            </a:avLst>
          </a:prstGeom>
          <a:solidFill>
            <a:srgbClr val="EEF1F6"/>
          </a:solidFill>
          <a:ln w="9525">
            <a:solidFill>
              <a:srgbClr val="EEF1F6"/>
            </a:solidFill>
            <a:prstDash val="solid"/>
          </a:ln>
        </p:spPr>
      </p:sp>
      <p:sp>
        <p:nvSpPr>
          <p:cNvPr id="21" name="Text 18"/>
          <p:cNvSpPr txBox="1"/>
          <p:nvPr/>
        </p:nvSpPr>
        <p:spPr>
          <a:xfrm>
            <a:off x="2231136" y="1435608"/>
            <a:ext cx="457200" cy="384048"/>
          </a:xfrm>
          <a:prstGeom prst="rect">
            <a:avLst/>
          </a:prstGeom>
          <a:noFill/>
          <a:ln/>
        </p:spPr>
        <p:txBody>
          <a:bodyPr wrap="square" lIns="0" tIns="0" rIns="0" bIns="0" rtlCol="0" anchor="ctr"/>
          <a:lstStyle/>
          <a:p>
            <a:pPr indent="0" marL="0">
              <a:buNone/>
            </a:pPr>
            <a:r>
              <a:rPr lang="en-US" sz="2400" b="1" dirty="0">
                <a:solidFill>
                  <a:srgbClr val="CA061C"/>
                </a:solidFill>
                <a:latin typeface="Cambria" pitchFamily="34" charset="0"/>
                <a:ea typeface="Cambria" pitchFamily="34" charset="-122"/>
                <a:cs typeface="Cambria" pitchFamily="34" charset="-120"/>
              </a:rPr>
              <a:t>2</a:t>
            </a:r>
            <a:endParaRPr lang="en-US" sz="2400" dirty="0"/>
          </a:p>
        </p:txBody>
      </p:sp>
      <p:sp>
        <p:nvSpPr>
          <p:cNvPr id="22" name="Text 19"/>
          <p:cNvSpPr txBox="1"/>
          <p:nvPr/>
        </p:nvSpPr>
        <p:spPr>
          <a:xfrm>
            <a:off x="2231136" y="1892808"/>
            <a:ext cx="1325880" cy="228600"/>
          </a:xfrm>
          <a:prstGeom prst="rect">
            <a:avLst/>
          </a:prstGeom>
          <a:noFill/>
          <a:ln/>
        </p:spPr>
        <p:txBody>
          <a:bodyPr wrap="square" lIns="0" tIns="0" rIns="0" bIns="0" rtlCol="0" anchor="t"/>
          <a:lstStyle/>
          <a:p>
            <a:pPr indent="0" marL="0">
              <a:buNone/>
            </a:pPr>
            <a:r>
              <a:rPr lang="en-US" sz="1100" b="1" dirty="0">
                <a:solidFill>
                  <a:srgbClr val="141821"/>
                </a:solidFill>
                <a:latin typeface="Calibri" pitchFamily="34" charset="0"/>
                <a:ea typeface="Calibri" pitchFamily="34" charset="-122"/>
                <a:cs typeface="Calibri" pitchFamily="34" charset="-120"/>
              </a:rPr>
              <a:t>Agrupación</a:t>
            </a:r>
            <a:endParaRPr lang="en-US" sz="1100" dirty="0"/>
          </a:p>
        </p:txBody>
      </p:sp>
      <p:sp>
        <p:nvSpPr>
          <p:cNvPr id="23" name="Text 20"/>
          <p:cNvSpPr txBox="1"/>
          <p:nvPr/>
        </p:nvSpPr>
        <p:spPr>
          <a:xfrm>
            <a:off x="2231136" y="2167128"/>
            <a:ext cx="1325880" cy="841248"/>
          </a:xfrm>
          <a:prstGeom prst="rect">
            <a:avLst/>
          </a:prstGeom>
          <a:noFill/>
          <a:ln/>
        </p:spPr>
        <p:txBody>
          <a:bodyPr wrap="square" lIns="0" tIns="0" rIns="0" bIns="0" rtlCol="0" anchor="t"/>
          <a:lstStyle/>
          <a:p>
            <a:pPr indent="0" marL="0">
              <a:buNone/>
            </a:pPr>
            <a:r>
              <a:rPr lang="en-US" sz="900" dirty="0">
                <a:solidFill>
                  <a:srgbClr val="3A4250"/>
                </a:solidFill>
                <a:latin typeface="Calibri" pitchFamily="34" charset="0"/>
                <a:ea typeface="Calibri" pitchFamily="34" charset="-122"/>
                <a:cs typeface="Calibri" pitchFamily="34" charset="-120"/>
              </a:rPr>
              <a:t>Duplicados exactos y casi duplicados antes de particionar</a:t>
            </a:r>
            <a:endParaRPr lang="en-US" sz="900" dirty="0"/>
          </a:p>
        </p:txBody>
      </p:sp>
      <p:sp>
        <p:nvSpPr>
          <p:cNvPr id="24" name="Text 21"/>
          <p:cNvSpPr txBox="1"/>
          <p:nvPr/>
        </p:nvSpPr>
        <p:spPr>
          <a:xfrm>
            <a:off x="3630168" y="2057400"/>
            <a:ext cx="164592" cy="274320"/>
          </a:xfrm>
          <a:prstGeom prst="rect">
            <a:avLst/>
          </a:prstGeom>
          <a:noFill/>
          <a:ln/>
        </p:spPr>
        <p:txBody>
          <a:bodyPr wrap="square" lIns="0" tIns="0" rIns="0" bIns="0" rtlCol="0" anchor="ctr"/>
          <a:lstStyle/>
          <a:p>
            <a:pPr algn="ctr" indent="0" marL="0">
              <a:buNone/>
            </a:pPr>
            <a:r>
              <a:rPr lang="en-US" sz="1200" dirty="0">
                <a:solidFill>
                  <a:srgbClr val="5B6472"/>
                </a:solidFill>
              </a:rPr>
              <a:t>→</a:t>
            </a:r>
            <a:endParaRPr lang="en-US" sz="1200" dirty="0"/>
          </a:p>
        </p:txBody>
      </p:sp>
      <p:sp>
        <p:nvSpPr>
          <p:cNvPr id="25" name="Shape 22"/>
          <p:cNvSpPr/>
          <p:nvPr/>
        </p:nvSpPr>
        <p:spPr>
          <a:xfrm>
            <a:off x="3776472" y="1325880"/>
            <a:ext cx="1554480" cy="1737360"/>
          </a:xfrm>
          <a:prstGeom prst="roundRect">
            <a:avLst>
              <a:gd name="adj" fmla="val 3529"/>
            </a:avLst>
          </a:prstGeom>
          <a:solidFill>
            <a:srgbClr val="EEF1F6"/>
          </a:solidFill>
          <a:ln w="9525">
            <a:solidFill>
              <a:srgbClr val="EEF1F6"/>
            </a:solidFill>
            <a:prstDash val="solid"/>
          </a:ln>
        </p:spPr>
      </p:sp>
      <p:sp>
        <p:nvSpPr>
          <p:cNvPr id="26" name="Text 23"/>
          <p:cNvSpPr txBox="1"/>
          <p:nvPr/>
        </p:nvSpPr>
        <p:spPr>
          <a:xfrm>
            <a:off x="3913632" y="1435608"/>
            <a:ext cx="457200" cy="384048"/>
          </a:xfrm>
          <a:prstGeom prst="rect">
            <a:avLst/>
          </a:prstGeom>
          <a:noFill/>
          <a:ln/>
        </p:spPr>
        <p:txBody>
          <a:bodyPr wrap="square" lIns="0" tIns="0" rIns="0" bIns="0" rtlCol="0" anchor="ctr"/>
          <a:lstStyle/>
          <a:p>
            <a:pPr indent="0" marL="0">
              <a:buNone/>
            </a:pPr>
            <a:r>
              <a:rPr lang="en-US" sz="2400" b="1" dirty="0">
                <a:solidFill>
                  <a:srgbClr val="CA061C"/>
                </a:solidFill>
                <a:latin typeface="Cambria" pitchFamily="34" charset="0"/>
                <a:ea typeface="Cambria" pitchFamily="34" charset="-122"/>
                <a:cs typeface="Cambria" pitchFamily="34" charset="-120"/>
              </a:rPr>
              <a:t>3</a:t>
            </a:r>
            <a:endParaRPr lang="en-US" sz="2400" dirty="0"/>
          </a:p>
        </p:txBody>
      </p:sp>
      <p:sp>
        <p:nvSpPr>
          <p:cNvPr id="27" name="Text 24"/>
          <p:cNvSpPr txBox="1"/>
          <p:nvPr/>
        </p:nvSpPr>
        <p:spPr>
          <a:xfrm>
            <a:off x="3913632" y="1892808"/>
            <a:ext cx="1325880" cy="228600"/>
          </a:xfrm>
          <a:prstGeom prst="rect">
            <a:avLst/>
          </a:prstGeom>
          <a:noFill/>
          <a:ln/>
        </p:spPr>
        <p:txBody>
          <a:bodyPr wrap="square" lIns="0" tIns="0" rIns="0" bIns="0" rtlCol="0" anchor="t"/>
          <a:lstStyle/>
          <a:p>
            <a:pPr indent="0" marL="0">
              <a:buNone/>
            </a:pPr>
            <a:r>
              <a:rPr lang="en-US" sz="1100" b="1" dirty="0">
                <a:solidFill>
                  <a:srgbClr val="141821"/>
                </a:solidFill>
                <a:latin typeface="Calibri" pitchFamily="34" charset="0"/>
                <a:ea typeface="Calibri" pitchFamily="34" charset="-122"/>
                <a:cs typeface="Calibri" pitchFamily="34" charset="-120"/>
              </a:rPr>
              <a:t>5 particiones</a:t>
            </a:r>
            <a:endParaRPr lang="en-US" sz="1100" dirty="0"/>
          </a:p>
        </p:txBody>
      </p:sp>
      <p:sp>
        <p:nvSpPr>
          <p:cNvPr id="28" name="Text 25"/>
          <p:cNvSpPr txBox="1"/>
          <p:nvPr/>
        </p:nvSpPr>
        <p:spPr>
          <a:xfrm>
            <a:off x="3913632" y="2167128"/>
            <a:ext cx="1325880" cy="841248"/>
          </a:xfrm>
          <a:prstGeom prst="rect">
            <a:avLst/>
          </a:prstGeom>
          <a:noFill/>
          <a:ln/>
        </p:spPr>
        <p:txBody>
          <a:bodyPr wrap="square" lIns="0" tIns="0" rIns="0" bIns="0" rtlCol="0" anchor="t"/>
          <a:lstStyle/>
          <a:p>
            <a:pPr indent="0" marL="0">
              <a:buNone/>
            </a:pPr>
            <a:r>
              <a:rPr lang="en-US" sz="900" dirty="0">
                <a:solidFill>
                  <a:srgbClr val="3A4250"/>
                </a:solidFill>
                <a:latin typeface="Calibri" pitchFamily="34" charset="0"/>
                <a:ea typeface="Calibri" pitchFamily="34" charset="-122"/>
                <a:cs typeface="Calibri" pitchFamily="34" charset="-120"/>
              </a:rPr>
              <a:t>StratifiedGroupKFold, semilla 42, mismas asignaciones para ambos modelos</a:t>
            </a:r>
            <a:endParaRPr lang="en-US" sz="900" dirty="0"/>
          </a:p>
        </p:txBody>
      </p:sp>
      <p:sp>
        <p:nvSpPr>
          <p:cNvPr id="29" name="Text 26"/>
          <p:cNvSpPr txBox="1"/>
          <p:nvPr/>
        </p:nvSpPr>
        <p:spPr>
          <a:xfrm>
            <a:off x="5312664" y="2057400"/>
            <a:ext cx="164592" cy="274320"/>
          </a:xfrm>
          <a:prstGeom prst="rect">
            <a:avLst/>
          </a:prstGeom>
          <a:noFill/>
          <a:ln/>
        </p:spPr>
        <p:txBody>
          <a:bodyPr wrap="square" lIns="0" tIns="0" rIns="0" bIns="0" rtlCol="0" anchor="ctr"/>
          <a:lstStyle/>
          <a:p>
            <a:pPr algn="ctr" indent="0" marL="0">
              <a:buNone/>
            </a:pPr>
            <a:r>
              <a:rPr lang="en-US" sz="1200" dirty="0">
                <a:solidFill>
                  <a:srgbClr val="5B6472"/>
                </a:solidFill>
              </a:rPr>
              <a:t>→</a:t>
            </a:r>
            <a:endParaRPr lang="en-US" sz="1200" dirty="0"/>
          </a:p>
        </p:txBody>
      </p:sp>
      <p:sp>
        <p:nvSpPr>
          <p:cNvPr id="30" name="Shape 27"/>
          <p:cNvSpPr/>
          <p:nvPr/>
        </p:nvSpPr>
        <p:spPr>
          <a:xfrm>
            <a:off x="5458968" y="1325880"/>
            <a:ext cx="1554480" cy="1737360"/>
          </a:xfrm>
          <a:prstGeom prst="roundRect">
            <a:avLst>
              <a:gd name="adj" fmla="val 3529"/>
            </a:avLst>
          </a:prstGeom>
          <a:solidFill>
            <a:srgbClr val="EEF1F6"/>
          </a:solidFill>
          <a:ln w="9525">
            <a:solidFill>
              <a:srgbClr val="EEF1F6"/>
            </a:solidFill>
            <a:prstDash val="solid"/>
          </a:ln>
        </p:spPr>
      </p:sp>
      <p:sp>
        <p:nvSpPr>
          <p:cNvPr id="31" name="Text 28"/>
          <p:cNvSpPr txBox="1"/>
          <p:nvPr/>
        </p:nvSpPr>
        <p:spPr>
          <a:xfrm>
            <a:off x="5596128" y="1435608"/>
            <a:ext cx="457200" cy="384048"/>
          </a:xfrm>
          <a:prstGeom prst="rect">
            <a:avLst/>
          </a:prstGeom>
          <a:noFill/>
          <a:ln/>
        </p:spPr>
        <p:txBody>
          <a:bodyPr wrap="square" lIns="0" tIns="0" rIns="0" bIns="0" rtlCol="0" anchor="ctr"/>
          <a:lstStyle/>
          <a:p>
            <a:pPr indent="0" marL="0">
              <a:buNone/>
            </a:pPr>
            <a:r>
              <a:rPr lang="en-US" sz="2400" b="1" dirty="0">
                <a:solidFill>
                  <a:srgbClr val="CA061C"/>
                </a:solidFill>
                <a:latin typeface="Cambria" pitchFamily="34" charset="0"/>
                <a:ea typeface="Cambria" pitchFamily="34" charset="-122"/>
                <a:cs typeface="Cambria" pitchFamily="34" charset="-120"/>
              </a:rPr>
              <a:t>4</a:t>
            </a:r>
            <a:endParaRPr lang="en-US" sz="2400" dirty="0"/>
          </a:p>
        </p:txBody>
      </p:sp>
      <p:sp>
        <p:nvSpPr>
          <p:cNvPr id="32" name="Text 29"/>
          <p:cNvSpPr txBox="1"/>
          <p:nvPr/>
        </p:nvSpPr>
        <p:spPr>
          <a:xfrm>
            <a:off x="5596128" y="1892808"/>
            <a:ext cx="1325880" cy="228600"/>
          </a:xfrm>
          <a:prstGeom prst="rect">
            <a:avLst/>
          </a:prstGeom>
          <a:noFill/>
          <a:ln/>
        </p:spPr>
        <p:txBody>
          <a:bodyPr wrap="square" lIns="0" tIns="0" rIns="0" bIns="0" rtlCol="0" anchor="t"/>
          <a:lstStyle/>
          <a:p>
            <a:pPr indent="0" marL="0">
              <a:buNone/>
            </a:pPr>
            <a:r>
              <a:rPr lang="en-US" sz="1100" b="1" dirty="0">
                <a:solidFill>
                  <a:srgbClr val="141821"/>
                </a:solidFill>
                <a:latin typeface="Calibri" pitchFamily="34" charset="0"/>
                <a:ea typeface="Calibri" pitchFamily="34" charset="-122"/>
                <a:cs typeface="Calibri" pitchFamily="34" charset="-120"/>
              </a:rPr>
              <a:t>Ajuste por fold</a:t>
            </a:r>
            <a:endParaRPr lang="en-US" sz="1100" dirty="0"/>
          </a:p>
        </p:txBody>
      </p:sp>
      <p:sp>
        <p:nvSpPr>
          <p:cNvPr id="33" name="Text 30"/>
          <p:cNvSpPr txBox="1"/>
          <p:nvPr/>
        </p:nvSpPr>
        <p:spPr>
          <a:xfrm>
            <a:off x="5596128" y="2167128"/>
            <a:ext cx="1325880" cy="841248"/>
          </a:xfrm>
          <a:prstGeom prst="rect">
            <a:avLst/>
          </a:prstGeom>
          <a:noFill/>
          <a:ln/>
        </p:spPr>
        <p:txBody>
          <a:bodyPr wrap="square" lIns="0" tIns="0" rIns="0" bIns="0" rtlCol="0" anchor="t"/>
          <a:lstStyle/>
          <a:p>
            <a:pPr indent="0" marL="0">
              <a:buNone/>
            </a:pPr>
            <a:r>
              <a:rPr lang="en-US" sz="900" dirty="0">
                <a:solidFill>
                  <a:srgbClr val="3A4250"/>
                </a:solidFill>
                <a:latin typeface="Calibri" pitchFamily="34" charset="0"/>
                <a:ea typeface="Calibri" pitchFamily="34" charset="-122"/>
                <a:cs typeface="Calibri" pitchFamily="34" charset="-120"/>
              </a:rPr>
              <a:t>TF-IDF + clasificador solo con entrenamiento → predicciones OOF</a:t>
            </a:r>
            <a:endParaRPr lang="en-US" sz="900" dirty="0"/>
          </a:p>
        </p:txBody>
      </p:sp>
      <p:sp>
        <p:nvSpPr>
          <p:cNvPr id="34" name="Text 31"/>
          <p:cNvSpPr txBox="1"/>
          <p:nvPr/>
        </p:nvSpPr>
        <p:spPr>
          <a:xfrm>
            <a:off x="6995160" y="2057400"/>
            <a:ext cx="164592" cy="274320"/>
          </a:xfrm>
          <a:prstGeom prst="rect">
            <a:avLst/>
          </a:prstGeom>
          <a:noFill/>
          <a:ln/>
        </p:spPr>
        <p:txBody>
          <a:bodyPr wrap="square" lIns="0" tIns="0" rIns="0" bIns="0" rtlCol="0" anchor="ctr"/>
          <a:lstStyle/>
          <a:p>
            <a:pPr algn="ctr" indent="0" marL="0">
              <a:buNone/>
            </a:pPr>
            <a:r>
              <a:rPr lang="en-US" sz="1200" dirty="0">
                <a:solidFill>
                  <a:srgbClr val="5B6472"/>
                </a:solidFill>
              </a:rPr>
              <a:t>→</a:t>
            </a:r>
            <a:endParaRPr lang="en-US" sz="1200" dirty="0"/>
          </a:p>
        </p:txBody>
      </p:sp>
      <p:sp>
        <p:nvSpPr>
          <p:cNvPr id="35" name="Shape 32"/>
          <p:cNvSpPr/>
          <p:nvPr/>
        </p:nvSpPr>
        <p:spPr>
          <a:xfrm>
            <a:off x="7141464" y="1325880"/>
            <a:ext cx="1554480" cy="1737360"/>
          </a:xfrm>
          <a:prstGeom prst="roundRect">
            <a:avLst>
              <a:gd name="adj" fmla="val 3529"/>
            </a:avLst>
          </a:prstGeom>
          <a:solidFill>
            <a:srgbClr val="FAF1EC"/>
          </a:solidFill>
          <a:ln w="9525">
            <a:solidFill>
              <a:srgbClr val="FAF1EC"/>
            </a:solidFill>
            <a:prstDash val="solid"/>
          </a:ln>
        </p:spPr>
      </p:sp>
      <p:sp>
        <p:nvSpPr>
          <p:cNvPr id="36" name="Text 33"/>
          <p:cNvSpPr txBox="1"/>
          <p:nvPr/>
        </p:nvSpPr>
        <p:spPr>
          <a:xfrm>
            <a:off x="7278624" y="1435608"/>
            <a:ext cx="457200" cy="384048"/>
          </a:xfrm>
          <a:prstGeom prst="rect">
            <a:avLst/>
          </a:prstGeom>
          <a:noFill/>
          <a:ln/>
        </p:spPr>
        <p:txBody>
          <a:bodyPr wrap="square" lIns="0" tIns="0" rIns="0" bIns="0" rtlCol="0" anchor="ctr"/>
          <a:lstStyle/>
          <a:p>
            <a:pPr indent="0" marL="0">
              <a:buNone/>
            </a:pPr>
            <a:r>
              <a:rPr lang="en-US" sz="2400" b="1" dirty="0">
                <a:solidFill>
                  <a:srgbClr val="CA061C"/>
                </a:solidFill>
                <a:latin typeface="Cambria" pitchFamily="34" charset="0"/>
                <a:ea typeface="Cambria" pitchFamily="34" charset="-122"/>
                <a:cs typeface="Cambria" pitchFamily="34" charset="-120"/>
              </a:rPr>
              <a:t>5</a:t>
            </a:r>
            <a:endParaRPr lang="en-US" sz="2400" dirty="0"/>
          </a:p>
        </p:txBody>
      </p:sp>
      <p:sp>
        <p:nvSpPr>
          <p:cNvPr id="37" name="Text 34"/>
          <p:cNvSpPr txBox="1"/>
          <p:nvPr/>
        </p:nvSpPr>
        <p:spPr>
          <a:xfrm>
            <a:off x="7278624" y="1892808"/>
            <a:ext cx="1325880" cy="228600"/>
          </a:xfrm>
          <a:prstGeom prst="rect">
            <a:avLst/>
          </a:prstGeom>
          <a:noFill/>
          <a:ln/>
        </p:spPr>
        <p:txBody>
          <a:bodyPr wrap="square" lIns="0" tIns="0" rIns="0" bIns="0" rtlCol="0" anchor="t"/>
          <a:lstStyle/>
          <a:p>
            <a:pPr indent="0" marL="0">
              <a:buNone/>
            </a:pPr>
            <a:r>
              <a:rPr lang="en-US" sz="1100" b="1" dirty="0">
                <a:solidFill>
                  <a:srgbClr val="141821"/>
                </a:solidFill>
                <a:latin typeface="Calibri" pitchFamily="34" charset="0"/>
                <a:ea typeface="Calibri" pitchFamily="34" charset="-122"/>
                <a:cs typeface="Calibri" pitchFamily="34" charset="-120"/>
              </a:rPr>
              <a:t>Transferencia</a:t>
            </a:r>
            <a:endParaRPr lang="en-US" sz="1100" dirty="0"/>
          </a:p>
        </p:txBody>
      </p:sp>
      <p:sp>
        <p:nvSpPr>
          <p:cNvPr id="38" name="Text 35"/>
          <p:cNvSpPr txBox="1"/>
          <p:nvPr/>
        </p:nvSpPr>
        <p:spPr>
          <a:xfrm>
            <a:off x="7278624" y="2167128"/>
            <a:ext cx="1325880" cy="841248"/>
          </a:xfrm>
          <a:prstGeom prst="rect">
            <a:avLst/>
          </a:prstGeom>
          <a:noFill/>
          <a:ln/>
        </p:spPr>
        <p:txBody>
          <a:bodyPr wrap="square" lIns="0" tIns="0" rIns="0" bIns="0" rtlCol="0" anchor="t"/>
          <a:lstStyle/>
          <a:p>
            <a:pPr indent="0" marL="0">
              <a:buNone/>
            </a:pPr>
            <a:r>
              <a:rPr lang="en-US" sz="900" dirty="0">
                <a:solidFill>
                  <a:srgbClr val="3A4250"/>
                </a:solidFill>
                <a:latin typeface="Calibri" pitchFamily="34" charset="0"/>
                <a:ea typeface="Calibri" pitchFamily="34" charset="-122"/>
                <a:cs typeface="Calibri" pitchFamily="34" charset="-120"/>
              </a:rPr>
              <a:t>archive2 → LIAR y LIAR → archive2</a:t>
            </a:r>
            <a:endParaRPr lang="en-US" sz="900" dirty="0"/>
          </a:p>
        </p:txBody>
      </p:sp>
      <p:sp>
        <p:nvSpPr>
          <p:cNvPr id="39" name="Shape 36"/>
          <p:cNvSpPr/>
          <p:nvPr/>
        </p:nvSpPr>
        <p:spPr>
          <a:xfrm>
            <a:off x="411480" y="3246120"/>
            <a:ext cx="4069080" cy="1417320"/>
          </a:xfrm>
          <a:prstGeom prst="roundRect">
            <a:avLst>
              <a:gd name="adj" fmla="val 3871"/>
            </a:avLst>
          </a:prstGeom>
          <a:solidFill>
            <a:srgbClr val="141821"/>
          </a:solidFill>
          <a:ln w="9525">
            <a:solidFill>
              <a:srgbClr val="141821"/>
            </a:solidFill>
            <a:prstDash val="solid"/>
          </a:ln>
        </p:spPr>
      </p:sp>
      <p:sp>
        <p:nvSpPr>
          <p:cNvPr id="40" name="Text 37"/>
          <p:cNvSpPr txBox="1"/>
          <p:nvPr/>
        </p:nvSpPr>
        <p:spPr>
          <a:xfrm>
            <a:off x="621792" y="3401568"/>
            <a:ext cx="365760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REANUDACIÓN VERIFICABLE</a:t>
            </a:r>
            <a:endParaRPr lang="en-US" sz="750" dirty="0"/>
          </a:p>
        </p:txBody>
      </p:sp>
      <p:sp>
        <p:nvSpPr>
          <p:cNvPr id="41" name="Text 38"/>
          <p:cNvSpPr txBox="1"/>
          <p:nvPr/>
        </p:nvSpPr>
        <p:spPr>
          <a:xfrm>
            <a:off x="621792" y="3657600"/>
            <a:ext cx="3657600" cy="9144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Una etapa completa solo se reutiliza si coinciden las </a:t>
            </a:r>
            <a:pPr indent="0" marL="0">
              <a:buNone/>
            </a:pPr>
            <a:r>
              <a:rPr lang="en-US" sz="1050" b="1" dirty="0">
                <a:solidFill>
                  <a:srgbClr val="FFFFFF"/>
                </a:solidFill>
                <a:latin typeface="Calibri" pitchFamily="34" charset="0"/>
                <a:ea typeface="Calibri" pitchFamily="34" charset="-122"/>
                <a:cs typeface="Calibri" pitchFamily="34" charset="-120"/>
              </a:rPr>
              <a:t>huellas de entrada, configuración, código y versiones</a:t>
            </a:r>
            <a:pPr indent="0" marL="0">
              <a:buNone/>
            </a:pPr>
            <a:r>
              <a:rPr lang="en-US" sz="1050" dirty="0">
                <a:solidFill>
                  <a:srgbClr val="FFFFFF"/>
                </a:solidFill>
                <a:latin typeface="Calibri" pitchFamily="34" charset="0"/>
                <a:ea typeface="Calibri" pitchFamily="34" charset="-122"/>
                <a:cs typeface="Calibri" pitchFamily="34" charset="-120"/>
              </a:rPr>
              <a:t>. Los resultados históricos permanecen en sus propios directorios.</a:t>
            </a:r>
            <a:endParaRPr lang="en-US" sz="1050" dirty="0"/>
          </a:p>
        </p:txBody>
      </p:sp>
      <p:sp>
        <p:nvSpPr>
          <p:cNvPr id="42" name="Shape 39"/>
          <p:cNvSpPr/>
          <p:nvPr/>
        </p:nvSpPr>
        <p:spPr>
          <a:xfrm>
            <a:off x="4663440" y="3246120"/>
            <a:ext cx="4069080" cy="1417320"/>
          </a:xfrm>
          <a:prstGeom prst="roundRect">
            <a:avLst>
              <a:gd name="adj" fmla="val 3871"/>
            </a:avLst>
          </a:prstGeom>
          <a:solidFill>
            <a:srgbClr val="EEF1F6"/>
          </a:solidFill>
          <a:ln w="9525">
            <a:solidFill>
              <a:srgbClr val="EEF1F6"/>
            </a:solidFill>
            <a:prstDash val="solid"/>
          </a:ln>
        </p:spPr>
      </p:sp>
      <p:sp>
        <p:nvSpPr>
          <p:cNvPr id="43" name="Text 40"/>
          <p:cNvSpPr txBox="1"/>
          <p:nvPr/>
        </p:nvSpPr>
        <p:spPr>
          <a:xfrm>
            <a:off x="4873752" y="3401568"/>
            <a:ext cx="36576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RUTA COMPLEMENTARIA DESACOPLADA</a:t>
            </a:r>
            <a:endParaRPr lang="en-US" sz="750" dirty="0"/>
          </a:p>
        </p:txBody>
      </p:sp>
      <p:sp>
        <p:nvSpPr>
          <p:cNvPr id="44" name="Text 41"/>
          <p:cNvSpPr txBox="1"/>
          <p:nvPr/>
        </p:nvSpPr>
        <p:spPr>
          <a:xfrm>
            <a:off x="4873752" y="3657600"/>
            <a:ext cx="3657600" cy="914400"/>
          </a:xfrm>
          <a:prstGeom prst="rect">
            <a:avLst/>
          </a:prstGeom>
          <a:noFill/>
          <a:ln/>
        </p:spPr>
        <p:txBody>
          <a:bodyPr wrap="square" lIns="0" tIns="0" rIns="0" bIns="0" rtlCol="0" anchor="t"/>
          <a:lstStyle/>
          <a:p>
            <a:pPr indent="0" marL="0">
              <a:buNone/>
            </a:pPr>
            <a:r>
              <a:rPr lang="en-US" sz="1050" dirty="0">
                <a:solidFill>
                  <a:srgbClr val="141821"/>
                </a:solidFill>
                <a:latin typeface="Calibri" pitchFamily="34" charset="0"/>
                <a:ea typeface="Calibri" pitchFamily="34" charset="-122"/>
                <a:cs typeface="Calibri" pitchFamily="34" charset="-120"/>
              </a:rPr>
              <a:t>La adquisición de Telegram produce </a:t>
            </a:r>
            <a:pPr indent="0" marL="0">
              <a:buNone/>
            </a:pPr>
            <a:r>
              <a:rPr lang="en-US" sz="1050" b="1" dirty="0">
                <a:solidFill>
                  <a:srgbClr val="141821"/>
                </a:solidFill>
                <a:latin typeface="Calibri" pitchFamily="34" charset="0"/>
                <a:ea typeface="Calibri" pitchFamily="34" charset="-122"/>
                <a:cs typeface="Calibri" pitchFamily="34" charset="-120"/>
              </a:rPr>
              <a:t>mensajes sin etiqueta</a:t>
            </a:r>
            <a:pPr indent="0" marL="0">
              <a:buNone/>
            </a:pPr>
            <a:r>
              <a:rPr lang="en-US" sz="1050" dirty="0">
                <a:solidFill>
                  <a:srgbClr val="141821"/>
                </a:solidFill>
                <a:latin typeface="Calibri" pitchFamily="34" charset="0"/>
                <a:ea typeface="Calibri" pitchFamily="34" charset="-122"/>
                <a:cs typeface="Calibri" pitchFamily="34" charset="-120"/>
              </a:rPr>
              <a:t> y permanece desacoplada; la evaluación principal usa </a:t>
            </a:r>
            <a:pPr indent="0" marL="0">
              <a:buNone/>
            </a:pPr>
            <a:r>
              <a:rPr lang="en-US" sz="1050" b="1" dirty="0">
                <a:solidFill>
                  <a:srgbClr val="141821"/>
                </a:solidFill>
                <a:latin typeface="Calibri" pitchFamily="34" charset="0"/>
                <a:ea typeface="Calibri" pitchFamily="34" charset="-122"/>
                <a:cs typeface="Calibri" pitchFamily="34" charset="-120"/>
              </a:rPr>
              <a:t>únicamente el corpus derivado de archive2 y LIAR</a:t>
            </a:r>
            <a:pPr indent="0" marL="0">
              <a:buNone/>
            </a:pPr>
            <a:r>
              <a:rPr lang="en-US" sz="1050" dirty="0">
                <a:solidFill>
                  <a:srgbClr val="141821"/>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Shape 3"/>
          <p:cNvSpPr/>
          <p:nvPr/>
        </p:nvSpPr>
        <p:spPr>
          <a:xfrm>
            <a:off x="1858061" y="4914900"/>
            <a:ext cx="835762" cy="187452"/>
          </a:xfrm>
          <a:prstGeom prst="roundRect">
            <a:avLst>
              <a:gd name="adj" fmla="val 19512"/>
            </a:avLst>
          </a:prstGeom>
          <a:solidFill>
            <a:srgbClr val="CA061C"/>
          </a:solidFill>
          <a:ln w="12700">
            <a:solidFill>
              <a:srgbClr val="CA061C"/>
            </a:solidFill>
            <a:prstDash val="solid"/>
          </a:ln>
        </p:spPr>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08</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3 · METODOLOGÍA · REQUISITOS DEL SISTEMA EXPERIMENTAL</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Ocho requisitos funcionales y seis no funcionales</a:t>
            </a:r>
            <a:endParaRPr lang="en-US" sz="2400" dirty="0"/>
          </a:p>
        </p:txBody>
      </p:sp>
      <p:sp>
        <p:nvSpPr>
          <p:cNvPr id="14" name="Shape 11"/>
          <p:cNvSpPr/>
          <p:nvPr/>
        </p:nvSpPr>
        <p:spPr>
          <a:xfrm>
            <a:off x="411480" y="1051560"/>
            <a:ext cx="4572000" cy="3630168"/>
          </a:xfrm>
          <a:prstGeom prst="roundRect">
            <a:avLst>
              <a:gd name="adj" fmla="val 1511"/>
            </a:avLst>
          </a:prstGeom>
          <a:solidFill>
            <a:srgbClr val="EEF1F6"/>
          </a:solidFill>
          <a:ln w="9525">
            <a:solidFill>
              <a:srgbClr val="D5DAE2"/>
            </a:solidFill>
            <a:prstDash val="solid"/>
          </a:ln>
        </p:spPr>
      </p:sp>
      <p:sp>
        <p:nvSpPr>
          <p:cNvPr id="15" name="Text 12"/>
          <p:cNvSpPr txBox="1"/>
          <p:nvPr/>
        </p:nvSpPr>
        <p:spPr>
          <a:xfrm>
            <a:off x="594360" y="1188720"/>
            <a:ext cx="420624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FUNCIONALES · QUÉ HACE</a:t>
            </a:r>
            <a:endParaRPr lang="en-US" sz="750" dirty="0"/>
          </a:p>
        </p:txBody>
      </p:sp>
      <p:sp>
        <p:nvSpPr>
          <p:cNvPr id="16" name="Text 13"/>
          <p:cNvSpPr txBox="1"/>
          <p:nvPr/>
        </p:nvSpPr>
        <p:spPr>
          <a:xfrm>
            <a:off x="594360" y="1463040"/>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RF-1</a:t>
            </a:r>
            <a:endParaRPr lang="en-US" sz="850" dirty="0"/>
          </a:p>
        </p:txBody>
      </p:sp>
      <p:sp>
        <p:nvSpPr>
          <p:cNvPr id="17" name="Text 14"/>
          <p:cNvSpPr txBox="1"/>
          <p:nvPr/>
        </p:nvSpPr>
        <p:spPr>
          <a:xfrm>
            <a:off x="1051560" y="1463040"/>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Construcción del corpus: procedencia, auditoría y agrupación de duplicados antes de particionar</a:t>
            </a:r>
            <a:endParaRPr lang="en-US" sz="950" dirty="0"/>
          </a:p>
        </p:txBody>
      </p:sp>
      <p:sp>
        <p:nvSpPr>
          <p:cNvPr id="18" name="Text 15"/>
          <p:cNvSpPr txBox="1"/>
          <p:nvPr/>
        </p:nvSpPr>
        <p:spPr>
          <a:xfrm>
            <a:off x="594360" y="1856232"/>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RF-2</a:t>
            </a:r>
            <a:endParaRPr lang="en-US" sz="850" dirty="0"/>
          </a:p>
        </p:txBody>
      </p:sp>
      <p:sp>
        <p:nvSpPr>
          <p:cNvPr id="19" name="Text 16"/>
          <p:cNvSpPr txBox="1"/>
          <p:nvPr/>
        </p:nvSpPr>
        <p:spPr>
          <a:xfrm>
            <a:off x="1051560" y="1856232"/>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Preprocesamiento determinista de los textos</a:t>
            </a:r>
            <a:endParaRPr lang="en-US" sz="950" dirty="0"/>
          </a:p>
        </p:txBody>
      </p:sp>
      <p:sp>
        <p:nvSpPr>
          <p:cNvPr id="20" name="Text 17"/>
          <p:cNvSpPr txBox="1"/>
          <p:nvPr/>
        </p:nvSpPr>
        <p:spPr>
          <a:xfrm>
            <a:off x="594360" y="2249424"/>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RF-3</a:t>
            </a:r>
            <a:endParaRPr lang="en-US" sz="850" dirty="0"/>
          </a:p>
        </p:txBody>
      </p:sp>
      <p:sp>
        <p:nvSpPr>
          <p:cNvPr id="21" name="Text 18"/>
          <p:cNvSpPr txBox="1"/>
          <p:nvPr/>
        </p:nvSpPr>
        <p:spPr>
          <a:xfrm>
            <a:off x="1051560" y="2249424"/>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Validación: esquema, tipos, integridad, etiquetas, nulos y duplicados</a:t>
            </a:r>
            <a:endParaRPr lang="en-US" sz="950" dirty="0"/>
          </a:p>
        </p:txBody>
      </p:sp>
      <p:sp>
        <p:nvSpPr>
          <p:cNvPr id="22" name="Text 19"/>
          <p:cNvSpPr txBox="1"/>
          <p:nvPr/>
        </p:nvSpPr>
        <p:spPr>
          <a:xfrm>
            <a:off x="594360" y="2642616"/>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RF-4</a:t>
            </a:r>
            <a:endParaRPr lang="en-US" sz="850" dirty="0"/>
          </a:p>
        </p:txBody>
      </p:sp>
      <p:sp>
        <p:nvSpPr>
          <p:cNvPr id="23" name="Text 20"/>
          <p:cNvSpPr txBox="1"/>
          <p:nvPr/>
        </p:nvSpPr>
        <p:spPr>
          <a:xfrm>
            <a:off x="1051560" y="2642616"/>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Entrenamiento de TF-IDF y dos lineales solo con el train de 5 particiones agrupadas</a:t>
            </a:r>
            <a:endParaRPr lang="en-US" sz="950" dirty="0"/>
          </a:p>
        </p:txBody>
      </p:sp>
      <p:sp>
        <p:nvSpPr>
          <p:cNvPr id="24" name="Text 21"/>
          <p:cNvSpPr txBox="1"/>
          <p:nvPr/>
        </p:nvSpPr>
        <p:spPr>
          <a:xfrm>
            <a:off x="594360" y="3035808"/>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RF-5</a:t>
            </a:r>
            <a:endParaRPr lang="en-US" sz="850" dirty="0"/>
          </a:p>
        </p:txBody>
      </p:sp>
      <p:sp>
        <p:nvSpPr>
          <p:cNvPr id="25" name="Text 22"/>
          <p:cNvSpPr txBox="1"/>
          <p:nvPr/>
        </p:nvSpPr>
        <p:spPr>
          <a:xfrm>
            <a:off x="1051560" y="3035808"/>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Comparación por partición y fuente: matrices, errores y transferencia</a:t>
            </a:r>
            <a:endParaRPr lang="en-US" sz="950" dirty="0"/>
          </a:p>
        </p:txBody>
      </p:sp>
      <p:sp>
        <p:nvSpPr>
          <p:cNvPr id="26" name="Text 23"/>
          <p:cNvSpPr txBox="1"/>
          <p:nvPr/>
        </p:nvSpPr>
        <p:spPr>
          <a:xfrm>
            <a:off x="594360" y="3429000"/>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RF-6</a:t>
            </a:r>
            <a:endParaRPr lang="en-US" sz="850" dirty="0"/>
          </a:p>
        </p:txBody>
      </p:sp>
      <p:sp>
        <p:nvSpPr>
          <p:cNvPr id="27" name="Text 24"/>
          <p:cNvSpPr txBox="1"/>
          <p:nvPr/>
        </p:nvSpPr>
        <p:spPr>
          <a:xfrm>
            <a:off x="1051560" y="3429000"/>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Persistencia de configuración, métricas, predicciones y modelos</a:t>
            </a:r>
            <a:endParaRPr lang="en-US" sz="950" dirty="0"/>
          </a:p>
        </p:txBody>
      </p:sp>
      <p:sp>
        <p:nvSpPr>
          <p:cNvPr id="28" name="Text 25"/>
          <p:cNvSpPr txBox="1"/>
          <p:nvPr/>
        </p:nvSpPr>
        <p:spPr>
          <a:xfrm>
            <a:off x="594360" y="3822192"/>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RF-7</a:t>
            </a:r>
            <a:endParaRPr lang="en-US" sz="850" dirty="0"/>
          </a:p>
        </p:txBody>
      </p:sp>
      <p:sp>
        <p:nvSpPr>
          <p:cNvPr id="29" name="Text 26"/>
          <p:cNvSpPr txBox="1"/>
          <p:nvPr/>
        </p:nvSpPr>
        <p:spPr>
          <a:xfrm>
            <a:off x="1051560" y="3822192"/>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Reproducción: reanudar etapas completas con huellas coincidentes</a:t>
            </a:r>
            <a:endParaRPr lang="en-US" sz="950" dirty="0"/>
          </a:p>
        </p:txBody>
      </p:sp>
      <p:sp>
        <p:nvSpPr>
          <p:cNvPr id="30" name="Text 27"/>
          <p:cNvSpPr txBox="1"/>
          <p:nvPr/>
        </p:nvSpPr>
        <p:spPr>
          <a:xfrm>
            <a:off x="594360" y="4215384"/>
            <a:ext cx="457200"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RF-8</a:t>
            </a:r>
            <a:endParaRPr lang="en-US" sz="850" dirty="0"/>
          </a:p>
        </p:txBody>
      </p:sp>
      <p:sp>
        <p:nvSpPr>
          <p:cNvPr id="31" name="Text 28"/>
          <p:cNvSpPr txBox="1"/>
          <p:nvPr/>
        </p:nvSpPr>
        <p:spPr>
          <a:xfrm>
            <a:off x="1051560" y="4215384"/>
            <a:ext cx="3749040"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Adquisición opcional desde Telegram, sin incorporarla al experimento</a:t>
            </a:r>
            <a:endParaRPr lang="en-US" sz="950" dirty="0"/>
          </a:p>
        </p:txBody>
      </p:sp>
      <p:sp>
        <p:nvSpPr>
          <p:cNvPr id="32" name="Shape 29"/>
          <p:cNvSpPr/>
          <p:nvPr/>
        </p:nvSpPr>
        <p:spPr>
          <a:xfrm>
            <a:off x="5120640" y="1051560"/>
            <a:ext cx="3611880" cy="3630168"/>
          </a:xfrm>
          <a:prstGeom prst="roundRect">
            <a:avLst>
              <a:gd name="adj" fmla="val 1519"/>
            </a:avLst>
          </a:prstGeom>
          <a:solidFill>
            <a:srgbClr val="FFFFFF"/>
          </a:solidFill>
          <a:ln w="9525">
            <a:solidFill>
              <a:srgbClr val="D5DAE2"/>
            </a:solidFill>
            <a:prstDash val="solid"/>
          </a:ln>
        </p:spPr>
      </p:sp>
      <p:sp>
        <p:nvSpPr>
          <p:cNvPr id="33" name="Text 30"/>
          <p:cNvSpPr txBox="1"/>
          <p:nvPr/>
        </p:nvSpPr>
        <p:spPr>
          <a:xfrm>
            <a:off x="5303520" y="1188720"/>
            <a:ext cx="324612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NO FUNCIONALES · CÓMO DEBE SER</a:t>
            </a:r>
            <a:endParaRPr lang="en-US" sz="750" dirty="0"/>
          </a:p>
        </p:txBody>
      </p:sp>
      <p:sp>
        <p:nvSpPr>
          <p:cNvPr id="34" name="Text 31"/>
          <p:cNvSpPr txBox="1"/>
          <p:nvPr/>
        </p:nvSpPr>
        <p:spPr>
          <a:xfrm>
            <a:off x="5303520" y="1463040"/>
            <a:ext cx="530352"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RNF-1</a:t>
            </a:r>
            <a:endParaRPr lang="en-US" sz="850" dirty="0"/>
          </a:p>
        </p:txBody>
      </p:sp>
      <p:sp>
        <p:nvSpPr>
          <p:cNvPr id="35" name="Text 32"/>
          <p:cNvSpPr txBox="1"/>
          <p:nvPr/>
        </p:nvSpPr>
        <p:spPr>
          <a:xfrm>
            <a:off x="5833872" y="1463040"/>
            <a:ext cx="2715768"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Reproducibilidad a partir de datos, configuración y condiciones documentadas</a:t>
            </a:r>
            <a:endParaRPr lang="en-US" sz="950" dirty="0"/>
          </a:p>
        </p:txBody>
      </p:sp>
      <p:sp>
        <p:nvSpPr>
          <p:cNvPr id="36" name="Text 33"/>
          <p:cNvSpPr txBox="1"/>
          <p:nvPr/>
        </p:nvSpPr>
        <p:spPr>
          <a:xfrm>
            <a:off x="5303520" y="1856232"/>
            <a:ext cx="530352"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RNF-2</a:t>
            </a:r>
            <a:endParaRPr lang="en-US" sz="850" dirty="0"/>
          </a:p>
        </p:txBody>
      </p:sp>
      <p:sp>
        <p:nvSpPr>
          <p:cNvPr id="37" name="Text 34"/>
          <p:cNvSpPr txBox="1"/>
          <p:nvPr/>
        </p:nvSpPr>
        <p:spPr>
          <a:xfrm>
            <a:off x="5833872" y="1856232"/>
            <a:ext cx="2715768"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Trazabilidad: identificador único por run</a:t>
            </a:r>
            <a:endParaRPr lang="en-US" sz="950" dirty="0"/>
          </a:p>
        </p:txBody>
      </p:sp>
      <p:sp>
        <p:nvSpPr>
          <p:cNvPr id="38" name="Text 35"/>
          <p:cNvSpPr txBox="1"/>
          <p:nvPr/>
        </p:nvSpPr>
        <p:spPr>
          <a:xfrm>
            <a:off x="5303520" y="2249424"/>
            <a:ext cx="530352"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RNF-3</a:t>
            </a:r>
            <a:endParaRPr lang="en-US" sz="850" dirty="0"/>
          </a:p>
        </p:txBody>
      </p:sp>
      <p:sp>
        <p:nvSpPr>
          <p:cNvPr id="39" name="Text 36"/>
          <p:cNvSpPr txBox="1"/>
          <p:nvPr/>
        </p:nvSpPr>
        <p:spPr>
          <a:xfrm>
            <a:off x="5833872" y="2249424"/>
            <a:ext cx="2715768"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Robustez: la validación detiene el flujo ante incoherencias críticas</a:t>
            </a:r>
            <a:endParaRPr lang="en-US" sz="950" dirty="0"/>
          </a:p>
        </p:txBody>
      </p:sp>
      <p:sp>
        <p:nvSpPr>
          <p:cNvPr id="40" name="Text 37"/>
          <p:cNvSpPr txBox="1"/>
          <p:nvPr/>
        </p:nvSpPr>
        <p:spPr>
          <a:xfrm>
            <a:off x="5303520" y="2642616"/>
            <a:ext cx="530352"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RNF-4</a:t>
            </a:r>
            <a:endParaRPr lang="en-US" sz="850" dirty="0"/>
          </a:p>
        </p:txBody>
      </p:sp>
      <p:sp>
        <p:nvSpPr>
          <p:cNvPr id="41" name="Text 38"/>
          <p:cNvSpPr txBox="1"/>
          <p:nvPr/>
        </p:nvSpPr>
        <p:spPr>
          <a:xfrm>
            <a:off x="5833872" y="2642616"/>
            <a:ext cx="2715768"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Mantenibilidad y bajo acoplamiento entre módulos</a:t>
            </a:r>
            <a:endParaRPr lang="en-US" sz="950" dirty="0"/>
          </a:p>
        </p:txBody>
      </p:sp>
      <p:sp>
        <p:nvSpPr>
          <p:cNvPr id="42" name="Text 39"/>
          <p:cNvSpPr txBox="1"/>
          <p:nvPr/>
        </p:nvSpPr>
        <p:spPr>
          <a:xfrm>
            <a:off x="5303520" y="3035808"/>
            <a:ext cx="530352"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RNF-5</a:t>
            </a:r>
            <a:endParaRPr lang="en-US" sz="850" dirty="0"/>
          </a:p>
        </p:txBody>
      </p:sp>
      <p:sp>
        <p:nvSpPr>
          <p:cNvPr id="43" name="Text 40"/>
          <p:cNvSpPr txBox="1"/>
          <p:nvPr/>
        </p:nvSpPr>
        <p:spPr>
          <a:xfrm>
            <a:off x="5833872" y="3035808"/>
            <a:ext cx="2715768"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Separación de Telegram respecto al experimento</a:t>
            </a:r>
            <a:endParaRPr lang="en-US" sz="950" dirty="0"/>
          </a:p>
        </p:txBody>
      </p:sp>
      <p:sp>
        <p:nvSpPr>
          <p:cNvPr id="44" name="Text 41"/>
          <p:cNvSpPr txBox="1"/>
          <p:nvPr/>
        </p:nvSpPr>
        <p:spPr>
          <a:xfrm>
            <a:off x="5303520" y="3429000"/>
            <a:ext cx="530352" cy="347472"/>
          </a:xfrm>
          <a:prstGeom prst="rect">
            <a:avLst/>
          </a:prstGeom>
          <a:noFill/>
          <a:ln/>
        </p:spPr>
        <p:txBody>
          <a:bodyPr wrap="square" lIns="0" tIns="0" rIns="0" bIns="0" rtlCol="0" anchor="ctr"/>
          <a:lstStyle/>
          <a:p>
            <a:pPr indent="0" marL="0">
              <a:buNone/>
            </a:pPr>
            <a:r>
              <a:rPr lang="en-US" sz="850" b="1" dirty="0">
                <a:solidFill>
                  <a:srgbClr val="CA061C"/>
                </a:solidFill>
                <a:latin typeface="Courier New" pitchFamily="34" charset="0"/>
                <a:ea typeface="Courier New" pitchFamily="34" charset="-122"/>
                <a:cs typeface="Courier New" pitchFamily="34" charset="-120"/>
              </a:rPr>
              <a:t>RNF-6</a:t>
            </a:r>
            <a:endParaRPr lang="en-US" sz="850" dirty="0"/>
          </a:p>
        </p:txBody>
      </p:sp>
      <p:sp>
        <p:nvSpPr>
          <p:cNvPr id="45" name="Text 42"/>
          <p:cNvSpPr txBox="1"/>
          <p:nvPr/>
        </p:nvSpPr>
        <p:spPr>
          <a:xfrm>
            <a:off x="5833872" y="3429000"/>
            <a:ext cx="2715768" cy="347472"/>
          </a:xfrm>
          <a:prstGeom prst="rect">
            <a:avLst/>
          </a:prstGeom>
          <a:noFill/>
          <a:ln/>
        </p:spPr>
        <p:txBody>
          <a:bodyPr wrap="square" lIns="0" tIns="0" rIns="0" bIns="0" rtlCol="0" anchor="ctr"/>
          <a:lstStyle/>
          <a:p>
            <a:pPr indent="0" marL="0">
              <a:buNone/>
            </a:pPr>
            <a:r>
              <a:rPr lang="en-US" sz="950" dirty="0">
                <a:solidFill>
                  <a:srgbClr val="141821"/>
                </a:solidFill>
                <a:latin typeface="Calibri" pitchFamily="34" charset="0"/>
                <a:ea typeface="Calibri" pitchFamily="34" charset="-122"/>
                <a:cs typeface="Calibri" pitchFamily="34" charset="-120"/>
              </a:rPr>
              <a:t>Documentación e interpretabilidad de las salidas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Shape 3"/>
          <p:cNvSpPr/>
          <p:nvPr/>
        </p:nvSpPr>
        <p:spPr>
          <a:xfrm>
            <a:off x="1858061" y="4914900"/>
            <a:ext cx="835762" cy="187452"/>
          </a:xfrm>
          <a:prstGeom prst="roundRect">
            <a:avLst>
              <a:gd name="adj" fmla="val 19512"/>
            </a:avLst>
          </a:prstGeom>
          <a:solidFill>
            <a:srgbClr val="CA061C"/>
          </a:solidFill>
          <a:ln w="12700">
            <a:solidFill>
              <a:srgbClr val="CA061C"/>
            </a:solidFill>
            <a:prstDash val="solid"/>
          </a:ln>
        </p:spPr>
      </p:sp>
      <p:sp>
        <p:nvSpPr>
          <p:cNvPr id="6" name="Text 4"/>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 Metodología</a:t>
            </a:r>
            <a:endParaRPr lang="en-US" sz="750" dirty="0"/>
          </a:p>
        </p:txBody>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09</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3 · METODOLOGÍA · ARQUITECTURA FUNCIONAL (FIGURA 1)</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Dos rutas independientes</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Solo la ruta experimental evaluada sustenta los resultados presentados</a:t>
            </a:r>
            <a:endParaRPr lang="en-US" sz="1100" dirty="0"/>
          </a:p>
        </p:txBody>
      </p:sp>
      <p:sp>
        <p:nvSpPr>
          <p:cNvPr id="15" name="Shape 12"/>
          <p:cNvSpPr/>
          <p:nvPr/>
        </p:nvSpPr>
        <p:spPr>
          <a:xfrm>
            <a:off x="411480" y="1280160"/>
            <a:ext cx="5486400" cy="3383280"/>
          </a:xfrm>
          <a:prstGeom prst="roundRect">
            <a:avLst>
              <a:gd name="adj" fmla="val 1622"/>
            </a:avLst>
          </a:prstGeom>
          <a:solidFill>
            <a:srgbClr val="FFFFFF"/>
          </a:solidFill>
          <a:ln w="9525">
            <a:solidFill>
              <a:srgbClr val="D5DAE2"/>
            </a:solidFill>
            <a:prstDash val="solid"/>
          </a:ln>
        </p:spPr>
      </p:sp>
      <p:pic>
        <p:nvPicPr>
          <p:cNvPr id="16" name="Image 0" descr="/tmp/claude-0/-home-user/ce555fa8-9152-5329-9285-191cb93ac5af/scratchpad/docx/word/media/image2.png">    </p:cNvPr>
          <p:cNvPicPr>
            <a:picLocks noChangeAspect="1"/>
          </p:cNvPicPr>
          <p:nvPr/>
        </p:nvPicPr>
        <p:blipFill>
          <a:blip r:embed="rId1"/>
          <a:stretch>
            <a:fillRect/>
          </a:stretch>
        </p:blipFill>
        <p:spPr>
          <a:xfrm>
            <a:off x="548640" y="1920240"/>
            <a:ext cx="5212080" cy="1967560"/>
          </a:xfrm>
          <a:prstGeom prst="rect">
            <a:avLst/>
          </a:prstGeom>
        </p:spPr>
      </p:pic>
      <p:sp>
        <p:nvSpPr>
          <p:cNvPr id="17" name="Shape 13"/>
          <p:cNvSpPr/>
          <p:nvPr/>
        </p:nvSpPr>
        <p:spPr>
          <a:xfrm>
            <a:off x="6035040" y="1280160"/>
            <a:ext cx="2697480" cy="3383280"/>
          </a:xfrm>
          <a:prstGeom prst="roundRect">
            <a:avLst>
              <a:gd name="adj" fmla="val 2034"/>
            </a:avLst>
          </a:prstGeom>
          <a:solidFill>
            <a:srgbClr val="141821"/>
          </a:solidFill>
          <a:ln w="9525">
            <a:solidFill>
              <a:srgbClr val="141821"/>
            </a:solidFill>
            <a:prstDash val="solid"/>
          </a:ln>
        </p:spPr>
      </p:sp>
      <p:sp>
        <p:nvSpPr>
          <p:cNvPr id="18" name="Text 14"/>
          <p:cNvSpPr txBox="1"/>
          <p:nvPr/>
        </p:nvSpPr>
        <p:spPr>
          <a:xfrm>
            <a:off x="6217920" y="1417320"/>
            <a:ext cx="237744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HERRAMIENTAS Y TECNOLOGÍAS</a:t>
            </a:r>
            <a:endParaRPr lang="en-US" sz="750" dirty="0"/>
          </a:p>
        </p:txBody>
      </p:sp>
      <p:sp>
        <p:nvSpPr>
          <p:cNvPr id="19" name="Text 15"/>
          <p:cNvSpPr txBox="1"/>
          <p:nvPr/>
        </p:nvSpPr>
        <p:spPr>
          <a:xfrm>
            <a:off x="6217920" y="1719072"/>
            <a:ext cx="237744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Adquisición</a:t>
            </a:r>
            <a:endParaRPr lang="en-US" sz="800" dirty="0"/>
          </a:p>
        </p:txBody>
      </p:sp>
      <p:sp>
        <p:nvSpPr>
          <p:cNvPr id="20" name="Text 16"/>
          <p:cNvSpPr txBox="1"/>
          <p:nvPr/>
        </p:nvSpPr>
        <p:spPr>
          <a:xfrm>
            <a:off x="6217920" y="1901952"/>
            <a:ext cx="237744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Telethon</a:t>
            </a:r>
            <a:endParaRPr lang="en-US" sz="1000" dirty="0"/>
          </a:p>
        </p:txBody>
      </p:sp>
      <p:sp>
        <p:nvSpPr>
          <p:cNvPr id="21" name="Text 17"/>
          <p:cNvSpPr txBox="1"/>
          <p:nvPr/>
        </p:nvSpPr>
        <p:spPr>
          <a:xfrm>
            <a:off x="6217920" y="2194560"/>
            <a:ext cx="237744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Preprocesamiento</a:t>
            </a:r>
            <a:endParaRPr lang="en-US" sz="800" dirty="0"/>
          </a:p>
        </p:txBody>
      </p:sp>
      <p:sp>
        <p:nvSpPr>
          <p:cNvPr id="22" name="Text 18"/>
          <p:cNvSpPr txBox="1"/>
          <p:nvPr/>
        </p:nvSpPr>
        <p:spPr>
          <a:xfrm>
            <a:off x="6217920" y="2377440"/>
            <a:ext cx="237744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re, html, langdetect</a:t>
            </a:r>
            <a:endParaRPr lang="en-US" sz="1000" dirty="0"/>
          </a:p>
        </p:txBody>
      </p:sp>
      <p:sp>
        <p:nvSpPr>
          <p:cNvPr id="23" name="Text 19"/>
          <p:cNvSpPr txBox="1"/>
          <p:nvPr/>
        </p:nvSpPr>
        <p:spPr>
          <a:xfrm>
            <a:off x="6217920" y="2670048"/>
            <a:ext cx="237744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Datos</a:t>
            </a:r>
            <a:endParaRPr lang="en-US" sz="800" dirty="0"/>
          </a:p>
        </p:txBody>
      </p:sp>
      <p:sp>
        <p:nvSpPr>
          <p:cNvPr id="24" name="Text 20"/>
          <p:cNvSpPr txBox="1"/>
          <p:nvPr/>
        </p:nvSpPr>
        <p:spPr>
          <a:xfrm>
            <a:off x="6217920" y="2852928"/>
            <a:ext cx="237744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pandas, csv, zipfile</a:t>
            </a:r>
            <a:endParaRPr lang="en-US" sz="1000" dirty="0"/>
          </a:p>
        </p:txBody>
      </p:sp>
      <p:sp>
        <p:nvSpPr>
          <p:cNvPr id="25" name="Text 21"/>
          <p:cNvSpPr txBox="1"/>
          <p:nvPr/>
        </p:nvSpPr>
        <p:spPr>
          <a:xfrm>
            <a:off x="6217920" y="3145536"/>
            <a:ext cx="237744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Modelado</a:t>
            </a:r>
            <a:endParaRPr lang="en-US" sz="800" dirty="0"/>
          </a:p>
        </p:txBody>
      </p:sp>
      <p:sp>
        <p:nvSpPr>
          <p:cNvPr id="26" name="Text 22"/>
          <p:cNvSpPr txBox="1"/>
          <p:nvPr/>
        </p:nvSpPr>
        <p:spPr>
          <a:xfrm>
            <a:off x="6217920" y="3328416"/>
            <a:ext cx="237744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scikit-learn</a:t>
            </a:r>
            <a:endParaRPr lang="en-US" sz="1000" dirty="0"/>
          </a:p>
        </p:txBody>
      </p:sp>
      <p:sp>
        <p:nvSpPr>
          <p:cNvPr id="27" name="Text 23"/>
          <p:cNvSpPr txBox="1"/>
          <p:nvPr/>
        </p:nvSpPr>
        <p:spPr>
          <a:xfrm>
            <a:off x="6217920" y="3621024"/>
            <a:ext cx="237744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Persistencia</a:t>
            </a:r>
            <a:endParaRPr lang="en-US" sz="800" dirty="0"/>
          </a:p>
        </p:txBody>
      </p:sp>
      <p:sp>
        <p:nvSpPr>
          <p:cNvPr id="28" name="Text 24"/>
          <p:cNvSpPr txBox="1"/>
          <p:nvPr/>
        </p:nvSpPr>
        <p:spPr>
          <a:xfrm>
            <a:off x="6217920" y="3803904"/>
            <a:ext cx="237744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JSON, CSV, joblib</a:t>
            </a:r>
            <a:endParaRPr lang="en-US" sz="1000" dirty="0"/>
          </a:p>
        </p:txBody>
      </p:sp>
      <p:sp>
        <p:nvSpPr>
          <p:cNvPr id="29" name="Text 25"/>
          <p:cNvSpPr txBox="1"/>
          <p:nvPr/>
        </p:nvSpPr>
        <p:spPr>
          <a:xfrm>
            <a:off x="6217920" y="4096512"/>
            <a:ext cx="237744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Pruebas</a:t>
            </a:r>
            <a:endParaRPr lang="en-US" sz="800" dirty="0"/>
          </a:p>
        </p:txBody>
      </p:sp>
      <p:sp>
        <p:nvSpPr>
          <p:cNvPr id="30" name="Text 26"/>
          <p:cNvSpPr txBox="1"/>
          <p:nvPr/>
        </p:nvSpPr>
        <p:spPr>
          <a:xfrm>
            <a:off x="6217920" y="4279392"/>
            <a:ext cx="237744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Pytest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6"/>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Shape 4"/>
          <p:cNvSpPr/>
          <p:nvPr/>
        </p:nvSpPr>
        <p:spPr>
          <a:xfrm>
            <a:off x="2739542" y="4914900"/>
            <a:ext cx="782726" cy="187452"/>
          </a:xfrm>
          <a:prstGeom prst="roundRect">
            <a:avLst>
              <a:gd name="adj" fmla="val 19512"/>
            </a:avLst>
          </a:prstGeom>
          <a:solidFill>
            <a:srgbClr val="CA061C"/>
          </a:solidFill>
          <a:ln w="12700">
            <a:solidFill>
              <a:srgbClr val="CA061C"/>
            </a:solidFill>
            <a:prstDash val="solid"/>
          </a:ln>
        </p:spPr>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10</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4 · DESARROLLO · CONSTRUCCIÓN DEL CORPUS DERIVADO</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De 50.503 filas a 44.408 representantes</a:t>
            </a:r>
            <a:endParaRPr lang="en-US" sz="2400" dirty="0"/>
          </a:p>
        </p:txBody>
      </p:sp>
      <p:sp>
        <p:nvSpPr>
          <p:cNvPr id="14" name="Shape 11"/>
          <p:cNvSpPr/>
          <p:nvPr/>
        </p:nvSpPr>
        <p:spPr>
          <a:xfrm>
            <a:off x="411480" y="1051560"/>
            <a:ext cx="2606040" cy="3630168"/>
          </a:xfrm>
          <a:prstGeom prst="roundRect">
            <a:avLst>
              <a:gd name="adj" fmla="val 2105"/>
            </a:avLst>
          </a:prstGeom>
          <a:solidFill>
            <a:srgbClr val="FFFFFF"/>
          </a:solidFill>
          <a:ln w="9525">
            <a:solidFill>
              <a:srgbClr val="D5DAE2"/>
            </a:solidFill>
            <a:prstDash val="solid"/>
          </a:ln>
        </p:spPr>
      </p:sp>
      <p:sp>
        <p:nvSpPr>
          <p:cNvPr id="15" name="Text 12"/>
          <p:cNvSpPr txBox="1"/>
          <p:nvPr/>
        </p:nvSpPr>
        <p:spPr>
          <a:xfrm>
            <a:off x="594360" y="1188720"/>
            <a:ext cx="22860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CONCILIACIÓN POR FILA</a:t>
            </a:r>
            <a:endParaRPr lang="en-US" sz="750" dirty="0"/>
          </a:p>
        </p:txBody>
      </p:sp>
      <p:sp>
        <p:nvSpPr>
          <p:cNvPr id="16" name="Text 13"/>
          <p:cNvSpPr txBox="1"/>
          <p:nvPr/>
        </p:nvSpPr>
        <p:spPr>
          <a:xfrm>
            <a:off x="594360" y="1481328"/>
            <a:ext cx="2286000" cy="384048"/>
          </a:xfrm>
          <a:prstGeom prst="rect">
            <a:avLst/>
          </a:prstGeom>
          <a:noFill/>
          <a:ln/>
        </p:spPr>
        <p:txBody>
          <a:bodyPr wrap="square" lIns="0" tIns="0" rIns="0" bIns="0" rtlCol="0" anchor="ctr"/>
          <a:lstStyle/>
          <a:p>
            <a:pPr indent="0" marL="0">
              <a:buNone/>
            </a:pPr>
            <a:r>
              <a:rPr lang="en-US" sz="2200" b="1" dirty="0">
                <a:solidFill>
                  <a:srgbClr val="141821"/>
                </a:solidFill>
                <a:latin typeface="Cambria" pitchFamily="34" charset="0"/>
                <a:ea typeface="Cambria" pitchFamily="34" charset="-122"/>
                <a:cs typeface="Cambria" pitchFamily="34" charset="-120"/>
              </a:rPr>
              <a:t>50.503</a:t>
            </a:r>
            <a:endParaRPr lang="en-US" sz="2200" dirty="0"/>
          </a:p>
        </p:txBody>
      </p:sp>
      <p:sp>
        <p:nvSpPr>
          <p:cNvPr id="17" name="Text 14"/>
          <p:cNvSpPr txBox="1"/>
          <p:nvPr/>
        </p:nvSpPr>
        <p:spPr>
          <a:xfrm>
            <a:off x="594360" y="1865376"/>
            <a:ext cx="228600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filas de entrada</a:t>
            </a:r>
            <a:endParaRPr lang="en-US" sz="950" dirty="0"/>
          </a:p>
        </p:txBody>
      </p:sp>
      <p:sp>
        <p:nvSpPr>
          <p:cNvPr id="18" name="Shape 15"/>
          <p:cNvSpPr/>
          <p:nvPr/>
        </p:nvSpPr>
        <p:spPr>
          <a:xfrm>
            <a:off x="594360" y="2139696"/>
            <a:ext cx="2240280" cy="0"/>
          </a:xfrm>
          <a:prstGeom prst="line">
            <a:avLst/>
          </a:prstGeom>
          <a:noFill/>
          <a:ln w="9525">
            <a:solidFill>
              <a:srgbClr val="D5DAE2"/>
            </a:solidFill>
            <a:prstDash val="solid"/>
          </a:ln>
        </p:spPr>
      </p:sp>
      <p:sp>
        <p:nvSpPr>
          <p:cNvPr id="19" name="Text 16"/>
          <p:cNvSpPr txBox="1"/>
          <p:nvPr/>
        </p:nvSpPr>
        <p:spPr>
          <a:xfrm>
            <a:off x="594360" y="2212848"/>
            <a:ext cx="2286000" cy="384048"/>
          </a:xfrm>
          <a:prstGeom prst="rect">
            <a:avLst/>
          </a:prstGeom>
          <a:noFill/>
          <a:ln/>
        </p:spPr>
        <p:txBody>
          <a:bodyPr wrap="square" lIns="0" tIns="0" rIns="0" bIns="0" rtlCol="0" anchor="ctr"/>
          <a:lstStyle/>
          <a:p>
            <a:pPr indent="0" marL="0">
              <a:buNone/>
            </a:pPr>
            <a:r>
              <a:rPr lang="en-US" sz="2200" b="1" dirty="0">
                <a:solidFill>
                  <a:srgbClr val="CA061C"/>
                </a:solidFill>
                <a:latin typeface="Cambria" pitchFamily="34" charset="0"/>
                <a:ea typeface="Cambria" pitchFamily="34" charset="-122"/>
                <a:cs typeface="Cambria" pitchFamily="34" charset="-120"/>
              </a:rPr>
              <a:t>44.408</a:t>
            </a:r>
            <a:endParaRPr lang="en-US" sz="2200" dirty="0"/>
          </a:p>
        </p:txBody>
      </p:sp>
      <p:sp>
        <p:nvSpPr>
          <p:cNvPr id="20" name="Text 17"/>
          <p:cNvSpPr txBox="1"/>
          <p:nvPr/>
        </p:nvSpPr>
        <p:spPr>
          <a:xfrm>
            <a:off x="594360" y="2596896"/>
            <a:ext cx="228600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representantes conservados</a:t>
            </a:r>
            <a:endParaRPr lang="en-US" sz="950" dirty="0"/>
          </a:p>
        </p:txBody>
      </p:sp>
      <p:sp>
        <p:nvSpPr>
          <p:cNvPr id="21" name="Text 18"/>
          <p:cNvSpPr txBox="1"/>
          <p:nvPr/>
        </p:nvSpPr>
        <p:spPr>
          <a:xfrm>
            <a:off x="594360" y="2944368"/>
            <a:ext cx="2286000" cy="384048"/>
          </a:xfrm>
          <a:prstGeom prst="rect">
            <a:avLst/>
          </a:prstGeom>
          <a:noFill/>
          <a:ln/>
        </p:spPr>
        <p:txBody>
          <a:bodyPr wrap="square" lIns="0" tIns="0" rIns="0" bIns="0" rtlCol="0" anchor="ctr"/>
          <a:lstStyle/>
          <a:p>
            <a:pPr indent="0" marL="0">
              <a:buNone/>
            </a:pPr>
            <a:r>
              <a:rPr lang="en-US" sz="2200" b="1" dirty="0">
                <a:solidFill>
                  <a:srgbClr val="141821"/>
                </a:solidFill>
                <a:latin typeface="Cambria" pitchFamily="34" charset="0"/>
                <a:ea typeface="Cambria" pitchFamily="34" charset="-122"/>
                <a:cs typeface="Cambria" pitchFamily="34" charset="-120"/>
              </a:rPr>
              <a:t>6.090</a:t>
            </a:r>
            <a:endParaRPr lang="en-US" sz="2200" dirty="0"/>
          </a:p>
        </p:txBody>
      </p:sp>
      <p:sp>
        <p:nvSpPr>
          <p:cNvPr id="22" name="Text 19"/>
          <p:cNvSpPr txBox="1"/>
          <p:nvPr/>
        </p:nvSpPr>
        <p:spPr>
          <a:xfrm>
            <a:off x="594360" y="3328416"/>
            <a:ext cx="228600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duplicados exactos</a:t>
            </a:r>
            <a:endParaRPr lang="en-US" sz="950" dirty="0"/>
          </a:p>
        </p:txBody>
      </p:sp>
      <p:sp>
        <p:nvSpPr>
          <p:cNvPr id="23" name="Text 20"/>
          <p:cNvSpPr txBox="1"/>
          <p:nvPr/>
        </p:nvSpPr>
        <p:spPr>
          <a:xfrm>
            <a:off x="594360" y="3675888"/>
            <a:ext cx="2286000" cy="384048"/>
          </a:xfrm>
          <a:prstGeom prst="rect">
            <a:avLst/>
          </a:prstGeom>
          <a:noFill/>
          <a:ln/>
        </p:spPr>
        <p:txBody>
          <a:bodyPr wrap="square" lIns="0" tIns="0" rIns="0" bIns="0" rtlCol="0" anchor="ctr"/>
          <a:lstStyle/>
          <a:p>
            <a:pPr indent="0" marL="0">
              <a:buNone/>
            </a:pPr>
            <a:r>
              <a:rPr lang="en-US" sz="2200" b="1" dirty="0">
                <a:solidFill>
                  <a:srgbClr val="141821"/>
                </a:solidFill>
                <a:latin typeface="Cambria" pitchFamily="34" charset="0"/>
                <a:ea typeface="Cambria" pitchFamily="34" charset="-122"/>
                <a:cs typeface="Cambria" pitchFamily="34" charset="-120"/>
              </a:rPr>
              <a:t>5</a:t>
            </a:r>
            <a:endParaRPr lang="en-US" sz="2200" dirty="0"/>
          </a:p>
        </p:txBody>
      </p:sp>
      <p:sp>
        <p:nvSpPr>
          <p:cNvPr id="24" name="Text 21"/>
          <p:cNvSpPr txBox="1"/>
          <p:nvPr/>
        </p:nvSpPr>
        <p:spPr>
          <a:xfrm>
            <a:off x="594360" y="4059936"/>
            <a:ext cx="2286000" cy="201168"/>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excluidas por conflicto</a:t>
            </a:r>
            <a:endParaRPr lang="en-US" sz="950" dirty="0"/>
          </a:p>
        </p:txBody>
      </p:sp>
      <p:sp>
        <p:nvSpPr>
          <p:cNvPr id="25" name="Shape 22"/>
          <p:cNvSpPr/>
          <p:nvPr/>
        </p:nvSpPr>
        <p:spPr>
          <a:xfrm>
            <a:off x="3154680" y="1051560"/>
            <a:ext cx="2926080" cy="3630168"/>
          </a:xfrm>
          <a:prstGeom prst="roundRect">
            <a:avLst>
              <a:gd name="adj" fmla="val 1875"/>
            </a:avLst>
          </a:prstGeom>
          <a:solidFill>
            <a:srgbClr val="FFFFFF"/>
          </a:solidFill>
          <a:ln w="9525">
            <a:solidFill>
              <a:srgbClr val="D5DAE2"/>
            </a:solidFill>
            <a:prstDash val="solid"/>
          </a:ln>
        </p:spPr>
      </p:sp>
      <p:sp>
        <p:nvSpPr>
          <p:cNvPr id="26" name="Text 23"/>
          <p:cNvSpPr txBox="1"/>
          <p:nvPr/>
        </p:nvSpPr>
        <p:spPr>
          <a:xfrm>
            <a:off x="3310128" y="1188720"/>
            <a:ext cx="269748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REPRESENTANTES POR FUENTE Y ETIQUETA (FIG. 2)</a:t>
            </a:r>
            <a:endParaRPr lang="en-US" sz="750" dirty="0"/>
          </a:p>
        </p:txBody>
      </p:sp>
      <p:graphicFrame>
        <p:nvGraphicFramePr>
          <p:cNvPr id="27" name="Chart 0" descr=""/>
          <p:cNvGraphicFramePr/>
          <p:nvPr/>
        </p:nvGraphicFramePr>
        <p:xfrm>
          <a:off x="3246120" y="1417320"/>
          <a:ext cx="2743200" cy="2240280"/>
        </p:xfrm>
        <a:graphic xmlns:a="http://schemas.openxmlformats.org/drawingml/2006/main">
          <a:graphicData uri="http://schemas.openxmlformats.org/drawingml/2006/chart">
            <c:chart xmlns:c="http://schemas.openxmlformats.org/drawingml/2006/chart" r:id="rId1"/>
          </a:graphicData>
        </a:graphic>
      </p:graphicFrame>
      <p:sp>
        <p:nvSpPr>
          <p:cNvPr id="28" name="Text 24"/>
          <p:cNvSpPr txBox="1"/>
          <p:nvPr/>
        </p:nvSpPr>
        <p:spPr>
          <a:xfrm>
            <a:off x="3310128" y="3767328"/>
            <a:ext cx="2651760" cy="411480"/>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no_fake </a:t>
            </a:r>
            <a:pPr indent="0" marL="0">
              <a:buNone/>
            </a:pPr>
            <a:r>
              <a:rPr lang="en-US" sz="950" dirty="0">
                <a:solidFill>
                  <a:srgbClr val="5B6472"/>
                </a:solidFill>
                <a:latin typeface="Calibri" pitchFamily="34" charset="0"/>
                <a:ea typeface="Calibri" pitchFamily="34" charset="-122"/>
                <a:cs typeface="Calibri" pitchFamily="34" charset="-120"/>
              </a:rPr>
              <a:t>22.975 (51,7%)</a:t>
            </a:r>
            <a:endParaRPr lang="en-US" sz="950" dirty="0"/>
          </a:p>
          <a:p>
            <a:pPr indent="0" marL="0">
              <a:buNone/>
            </a:pPr>
            <a:r>
              <a:rPr lang="en-US" sz="950" b="1" dirty="0">
                <a:solidFill>
                  <a:srgbClr val="CA061C"/>
                </a:solidFill>
                <a:latin typeface="Calibri" pitchFamily="34" charset="0"/>
                <a:ea typeface="Calibri" pitchFamily="34" charset="-122"/>
                <a:cs typeface="Calibri" pitchFamily="34" charset="-120"/>
              </a:rPr>
              <a:t>fake_news </a:t>
            </a:r>
            <a:pPr indent="0" marL="0">
              <a:buNone/>
            </a:pPr>
            <a:r>
              <a:rPr lang="en-US" sz="950" dirty="0">
                <a:solidFill>
                  <a:srgbClr val="5B6472"/>
                </a:solidFill>
                <a:latin typeface="Calibri" pitchFamily="34" charset="0"/>
                <a:ea typeface="Calibri" pitchFamily="34" charset="-122"/>
                <a:cs typeface="Calibri" pitchFamily="34" charset="-120"/>
              </a:rPr>
              <a:t>21.433 (48,3%)</a:t>
            </a:r>
            <a:endParaRPr lang="en-US" sz="950" dirty="0"/>
          </a:p>
        </p:txBody>
      </p:sp>
      <p:sp>
        <p:nvSpPr>
          <p:cNvPr id="29" name="Text 25"/>
          <p:cNvSpPr txBox="1"/>
          <p:nvPr/>
        </p:nvSpPr>
        <p:spPr>
          <a:xfrm>
            <a:off x="3310128" y="4224528"/>
            <a:ext cx="2651760" cy="365760"/>
          </a:xfrm>
          <a:prstGeom prst="rect">
            <a:avLst/>
          </a:prstGeom>
          <a:noFill/>
          <a:ln/>
        </p:spPr>
        <p:txBody>
          <a:bodyPr wrap="square" lIns="0" tIns="0" rIns="0" bIns="0" rtlCol="0" anchor="t"/>
          <a:lstStyle/>
          <a:p>
            <a:pPr indent="0" marL="0">
              <a:buNone/>
            </a:pPr>
            <a:r>
              <a:rPr lang="en-US" sz="850" dirty="0">
                <a:solidFill>
                  <a:srgbClr val="5B6472"/>
                </a:solidFill>
                <a:latin typeface="Calibri" pitchFamily="34" charset="0"/>
                <a:ea typeface="Calibri" pitchFamily="34" charset="-122"/>
                <a:cs typeface="Calibri" pitchFamily="34" charset="-120"/>
              </a:rPr>
              <a:t>archive2 38.826 · LIAR 5.582 · 0 grupos de procedencia mixta</a:t>
            </a:r>
            <a:endParaRPr lang="en-US" sz="850" dirty="0"/>
          </a:p>
        </p:txBody>
      </p:sp>
      <p:sp>
        <p:nvSpPr>
          <p:cNvPr id="30" name="Shape 26"/>
          <p:cNvSpPr/>
          <p:nvPr/>
        </p:nvSpPr>
        <p:spPr>
          <a:xfrm>
            <a:off x="6217920" y="1051560"/>
            <a:ext cx="2514600" cy="2057400"/>
          </a:xfrm>
          <a:prstGeom prst="roundRect">
            <a:avLst>
              <a:gd name="adj" fmla="val 2667"/>
            </a:avLst>
          </a:prstGeom>
          <a:solidFill>
            <a:srgbClr val="ECF5F0"/>
          </a:solidFill>
          <a:ln w="9525">
            <a:solidFill>
              <a:srgbClr val="CFE5D8"/>
            </a:solidFill>
            <a:prstDash val="solid"/>
          </a:ln>
        </p:spPr>
      </p:sp>
      <p:sp>
        <p:nvSpPr>
          <p:cNvPr id="31" name="Text 27"/>
          <p:cNvSpPr txBox="1"/>
          <p:nvPr/>
        </p:nvSpPr>
        <p:spPr>
          <a:xfrm>
            <a:off x="6382512" y="1188720"/>
            <a:ext cx="2194560" cy="182880"/>
          </a:xfrm>
          <a:prstGeom prst="rect">
            <a:avLst/>
          </a:prstGeom>
          <a:noFill/>
          <a:ln/>
        </p:spPr>
        <p:txBody>
          <a:bodyPr wrap="square" lIns="0" tIns="0" rIns="0" bIns="0" rtlCol="0" anchor="ctr"/>
          <a:lstStyle/>
          <a:p>
            <a:pPr indent="0" marL="0">
              <a:buNone/>
            </a:pPr>
            <a:r>
              <a:rPr lang="en-US" sz="750" b="1" spc="150" kern="0" dirty="0">
                <a:solidFill>
                  <a:srgbClr val="1E8A5A"/>
                </a:solidFill>
                <a:latin typeface="Calibri" pitchFamily="34" charset="0"/>
                <a:ea typeface="Calibri" pitchFamily="34" charset="-122"/>
                <a:cs typeface="Calibri" pitchFamily="34" charset="-120"/>
              </a:rPr>
              <a:t>SE INCLUYE · MAPEO BINARIO</a:t>
            </a:r>
            <a:endParaRPr lang="en-US" sz="750" dirty="0"/>
          </a:p>
        </p:txBody>
      </p:sp>
      <p:sp>
        <p:nvSpPr>
          <p:cNvPr id="32" name="Text 28"/>
          <p:cNvSpPr txBox="1"/>
          <p:nvPr/>
        </p:nvSpPr>
        <p:spPr>
          <a:xfrm>
            <a:off x="6382512" y="1444752"/>
            <a:ext cx="2212848" cy="1554480"/>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archive2: </a:t>
            </a:r>
            <a:pPr indent="0" marL="0">
              <a:buNone/>
            </a:pPr>
            <a:r>
              <a:rPr lang="en-US" sz="950" dirty="0">
                <a:solidFill>
                  <a:srgbClr val="141821"/>
                </a:solidFill>
                <a:latin typeface="Calibri" pitchFamily="34" charset="0"/>
                <a:ea typeface="Calibri" pitchFamily="34" charset="-122"/>
                <a:cs typeface="Calibri" pitchFamily="34" charset="-120"/>
              </a:rPr>
              <a:t>Fake → fake_news; True → no_fake</a:t>
            </a:r>
            <a:endParaRPr lang="en-US" sz="950" dirty="0"/>
          </a:p>
          <a:p>
            <a:pPr indent="0" marL="0">
              <a:buNone/>
            </a:pPr>
            <a:r>
              <a:rPr lang="en-US" sz="500" dirty="0">
                <a:solidFill>
                  <a:srgbClr val="141821"/>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141821"/>
                </a:solidFill>
                <a:latin typeface="Calibri" pitchFamily="34" charset="0"/>
                <a:ea typeface="Calibri" pitchFamily="34" charset="-122"/>
                <a:cs typeface="Calibri" pitchFamily="34" charset="-120"/>
              </a:rPr>
              <a:t>LIAR: </a:t>
            </a:r>
            <a:pPr indent="0" marL="0">
              <a:buNone/>
            </a:pPr>
            <a:r>
              <a:rPr lang="en-US" sz="950" dirty="0">
                <a:solidFill>
                  <a:srgbClr val="141821"/>
                </a:solidFill>
                <a:latin typeface="Calibri" pitchFamily="34" charset="0"/>
                <a:ea typeface="Calibri" pitchFamily="34" charset="-122"/>
                <a:cs typeface="Calibri" pitchFamily="34" charset="-120"/>
              </a:rPr>
              <a:t>false y pants-fire → fake_news; true → no_fake</a:t>
            </a:r>
            <a:endParaRPr lang="en-US" sz="950" dirty="0"/>
          </a:p>
        </p:txBody>
      </p:sp>
      <p:sp>
        <p:nvSpPr>
          <p:cNvPr id="33" name="Shape 29"/>
          <p:cNvSpPr/>
          <p:nvPr/>
        </p:nvSpPr>
        <p:spPr>
          <a:xfrm>
            <a:off x="6217920" y="3200400"/>
            <a:ext cx="2514600" cy="1481328"/>
          </a:xfrm>
          <a:prstGeom prst="roundRect">
            <a:avLst>
              <a:gd name="adj" fmla="val 3704"/>
            </a:avLst>
          </a:prstGeom>
          <a:solidFill>
            <a:srgbClr val="FAF1EC"/>
          </a:solidFill>
          <a:ln w="9525">
            <a:solidFill>
              <a:srgbClr val="F0D9CC"/>
            </a:solidFill>
            <a:prstDash val="solid"/>
          </a:ln>
        </p:spPr>
      </p:sp>
      <p:sp>
        <p:nvSpPr>
          <p:cNvPr id="34" name="Text 30"/>
          <p:cNvSpPr txBox="1"/>
          <p:nvPr/>
        </p:nvSpPr>
        <p:spPr>
          <a:xfrm>
            <a:off x="6382512" y="3328416"/>
            <a:ext cx="2194560" cy="182880"/>
          </a:xfrm>
          <a:prstGeom prst="rect">
            <a:avLst/>
          </a:prstGeom>
          <a:noFill/>
          <a:ln/>
        </p:spPr>
        <p:txBody>
          <a:bodyPr wrap="square" lIns="0" tIns="0" rIns="0" bIns="0" rtlCol="0" anchor="ctr"/>
          <a:lstStyle/>
          <a:p>
            <a:pPr indent="0" marL="0">
              <a:buNone/>
            </a:pPr>
            <a:r>
              <a:rPr lang="en-US" sz="750" b="1" spc="150" kern="0" dirty="0">
                <a:solidFill>
                  <a:srgbClr val="C2410C"/>
                </a:solidFill>
                <a:latin typeface="Calibri" pitchFamily="34" charset="0"/>
                <a:ea typeface="Calibri" pitchFamily="34" charset="-122"/>
                <a:cs typeface="Calibri" pitchFamily="34" charset="-120"/>
              </a:rPr>
              <a:t>SE EXCLUYE</a:t>
            </a:r>
            <a:endParaRPr lang="en-US" sz="750" dirty="0"/>
          </a:p>
        </p:txBody>
      </p:sp>
      <p:sp>
        <p:nvSpPr>
          <p:cNvPr id="35" name="Text 31"/>
          <p:cNvSpPr txBox="1"/>
          <p:nvPr/>
        </p:nvSpPr>
        <p:spPr>
          <a:xfrm>
            <a:off x="6382512" y="3566160"/>
            <a:ext cx="2212848" cy="105156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LIAR half-true 2.627, mostly-true 2.454 y barely-true 2.103 (</a:t>
            </a:r>
            <a:pPr indent="0" marL="0">
              <a:buNone/>
            </a:pPr>
            <a:r>
              <a:rPr lang="en-US" sz="950" b="1" dirty="0">
                <a:solidFill>
                  <a:srgbClr val="141821"/>
                </a:solidFill>
                <a:latin typeface="Calibri" pitchFamily="34" charset="0"/>
                <a:ea typeface="Calibri" pitchFamily="34" charset="-122"/>
                <a:cs typeface="Calibri" pitchFamily="34" charset="-120"/>
              </a:rPr>
              <a:t>7.184 intermedias</a:t>
            </a:r>
            <a:pPr indent="0" marL="0">
              <a:buNone/>
            </a:pPr>
            <a:r>
              <a:rPr lang="en-US" sz="950" dirty="0">
                <a:solidFill>
                  <a:srgbClr val="141821"/>
                </a:solidFill>
                <a:latin typeface="Calibri" pitchFamily="34" charset="0"/>
                <a:ea typeface="Calibri" pitchFamily="34" charset="-122"/>
                <a:cs typeface="Calibri" pitchFamily="34" charset="-120"/>
              </a:rPr>
              <a:t>); 2 registros vacíos; archive3.</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Shape 4"/>
          <p:cNvSpPr/>
          <p:nvPr/>
        </p:nvSpPr>
        <p:spPr>
          <a:xfrm>
            <a:off x="2739542" y="4914900"/>
            <a:ext cx="782726" cy="187452"/>
          </a:xfrm>
          <a:prstGeom prst="roundRect">
            <a:avLst>
              <a:gd name="adj" fmla="val 19512"/>
            </a:avLst>
          </a:prstGeom>
          <a:solidFill>
            <a:srgbClr val="CA061C"/>
          </a:solidFill>
          <a:ln w="12700">
            <a:solidFill>
              <a:srgbClr val="CA061C"/>
            </a:solidFill>
            <a:prstDash val="solid"/>
          </a:ln>
        </p:spPr>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11</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4 · DESARROLLO · DEDUPLICACIÓN Y VALIDACIÓN DEL CORPUS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Duplicados agrupados antes de particionar</a:t>
            </a:r>
            <a:endParaRPr lang="en-US" sz="2400" dirty="0"/>
          </a:p>
        </p:txBody>
      </p:sp>
      <p:sp>
        <p:nvSpPr>
          <p:cNvPr id="14" name="Shape 11"/>
          <p:cNvSpPr/>
          <p:nvPr/>
        </p:nvSpPr>
        <p:spPr>
          <a:xfrm>
            <a:off x="411480" y="1051560"/>
            <a:ext cx="4297680" cy="475488"/>
          </a:xfrm>
          <a:prstGeom prst="roundRect">
            <a:avLst>
              <a:gd name="adj" fmla="val 11538"/>
            </a:avLst>
          </a:prstGeom>
          <a:solidFill>
            <a:srgbClr val="EEF1F6"/>
          </a:solidFill>
          <a:ln w="9525">
            <a:solidFill>
              <a:srgbClr val="EEF1F6"/>
            </a:solidFill>
            <a:prstDash val="solid"/>
          </a:ln>
        </p:spPr>
      </p:sp>
      <p:sp>
        <p:nvSpPr>
          <p:cNvPr id="15" name="Text 12"/>
          <p:cNvSpPr txBox="1"/>
          <p:nvPr/>
        </p:nvSpPr>
        <p:spPr>
          <a:xfrm>
            <a:off x="548640" y="1051560"/>
            <a:ext cx="274320" cy="475488"/>
          </a:xfrm>
          <a:prstGeom prst="rect">
            <a:avLst/>
          </a:prstGeom>
          <a:noFill/>
          <a:ln/>
        </p:spPr>
        <p:txBody>
          <a:bodyPr wrap="square" lIns="0" tIns="0" rIns="0" bIns="0" rtlCol="0" anchor="ctr"/>
          <a:lstStyle/>
          <a:p>
            <a:pPr indent="0" marL="0">
              <a:buNone/>
            </a:pPr>
            <a:r>
              <a:rPr lang="en-US" sz="1400" b="1" dirty="0">
                <a:solidFill>
                  <a:srgbClr val="CA061C"/>
                </a:solidFill>
                <a:latin typeface="Cambria" pitchFamily="34" charset="0"/>
                <a:ea typeface="Cambria" pitchFamily="34" charset="-122"/>
                <a:cs typeface="Cambria" pitchFamily="34" charset="-120"/>
              </a:rPr>
              <a:t>1</a:t>
            </a:r>
            <a:endParaRPr lang="en-US" sz="1400" dirty="0"/>
          </a:p>
        </p:txBody>
      </p:sp>
      <p:sp>
        <p:nvSpPr>
          <p:cNvPr id="16" name="Text 13"/>
          <p:cNvSpPr txBox="1"/>
          <p:nvPr/>
        </p:nvSpPr>
        <p:spPr>
          <a:xfrm>
            <a:off x="841248" y="1051560"/>
            <a:ext cx="3749040" cy="475488"/>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Duplicado exacto  </a:t>
            </a:r>
            <a:pPr indent="0" marL="0">
              <a:buNone/>
            </a:pPr>
            <a:r>
              <a:rPr lang="en-US" sz="950" dirty="0">
                <a:solidFill>
                  <a:srgbClr val="3A4250"/>
                </a:solidFill>
                <a:latin typeface="Calibri" pitchFamily="34" charset="0"/>
                <a:ea typeface="Calibri" pitchFamily="34" charset="-122"/>
                <a:cs typeface="Calibri" pitchFamily="34" charset="-120"/>
              </a:rPr>
              <a:t>Texto normalizado idéntico → representante con menor source_id</a:t>
            </a:r>
            <a:endParaRPr lang="en-US" sz="950" dirty="0"/>
          </a:p>
        </p:txBody>
      </p:sp>
      <p:sp>
        <p:nvSpPr>
          <p:cNvPr id="17" name="Shape 14"/>
          <p:cNvSpPr/>
          <p:nvPr/>
        </p:nvSpPr>
        <p:spPr>
          <a:xfrm>
            <a:off x="411480" y="1600200"/>
            <a:ext cx="4297680" cy="475488"/>
          </a:xfrm>
          <a:prstGeom prst="roundRect">
            <a:avLst>
              <a:gd name="adj" fmla="val 11538"/>
            </a:avLst>
          </a:prstGeom>
          <a:solidFill>
            <a:srgbClr val="EEF1F6"/>
          </a:solidFill>
          <a:ln w="9525">
            <a:solidFill>
              <a:srgbClr val="EEF1F6"/>
            </a:solidFill>
            <a:prstDash val="solid"/>
          </a:ln>
        </p:spPr>
      </p:sp>
      <p:sp>
        <p:nvSpPr>
          <p:cNvPr id="18" name="Text 15"/>
          <p:cNvSpPr txBox="1"/>
          <p:nvPr/>
        </p:nvSpPr>
        <p:spPr>
          <a:xfrm>
            <a:off x="548640" y="1600200"/>
            <a:ext cx="274320" cy="475488"/>
          </a:xfrm>
          <a:prstGeom prst="rect">
            <a:avLst/>
          </a:prstGeom>
          <a:noFill/>
          <a:ln/>
        </p:spPr>
        <p:txBody>
          <a:bodyPr wrap="square" lIns="0" tIns="0" rIns="0" bIns="0" rtlCol="0" anchor="ctr"/>
          <a:lstStyle/>
          <a:p>
            <a:pPr indent="0" marL="0">
              <a:buNone/>
            </a:pPr>
            <a:r>
              <a:rPr lang="en-US" sz="1400" b="1" dirty="0">
                <a:solidFill>
                  <a:srgbClr val="CA061C"/>
                </a:solidFill>
                <a:latin typeface="Cambria" pitchFamily="34" charset="0"/>
                <a:ea typeface="Cambria" pitchFamily="34" charset="-122"/>
                <a:cs typeface="Cambria" pitchFamily="34" charset="-120"/>
              </a:rPr>
              <a:t>2</a:t>
            </a:r>
            <a:endParaRPr lang="en-US" sz="1400" dirty="0"/>
          </a:p>
        </p:txBody>
      </p:sp>
      <p:sp>
        <p:nvSpPr>
          <p:cNvPr id="19" name="Text 16"/>
          <p:cNvSpPr txBox="1"/>
          <p:nvPr/>
        </p:nvSpPr>
        <p:spPr>
          <a:xfrm>
            <a:off x="841248" y="1600200"/>
            <a:ext cx="3749040" cy="475488"/>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Candidatos  </a:t>
            </a:r>
            <a:pPr indent="0" marL="0">
              <a:buNone/>
            </a:pPr>
            <a:r>
              <a:rPr lang="en-US" sz="950" dirty="0">
                <a:solidFill>
                  <a:srgbClr val="3A4250"/>
                </a:solidFill>
                <a:latin typeface="Calibri" pitchFamily="34" charset="0"/>
                <a:ea typeface="Calibri" pitchFamily="34" charset="-122"/>
                <a:cs typeface="Calibri" pitchFamily="34" charset="-120"/>
              </a:rPr>
              <a:t>MinHash LSH: shingles de 5 palabras, 128 permutaciones, semilla 42, 32 bandas × 4 filas</a:t>
            </a:r>
            <a:endParaRPr lang="en-US" sz="950" dirty="0"/>
          </a:p>
        </p:txBody>
      </p:sp>
      <p:sp>
        <p:nvSpPr>
          <p:cNvPr id="20" name="Shape 17"/>
          <p:cNvSpPr/>
          <p:nvPr/>
        </p:nvSpPr>
        <p:spPr>
          <a:xfrm>
            <a:off x="411480" y="2148840"/>
            <a:ext cx="4297680" cy="475488"/>
          </a:xfrm>
          <a:prstGeom prst="roundRect">
            <a:avLst>
              <a:gd name="adj" fmla="val 11538"/>
            </a:avLst>
          </a:prstGeom>
          <a:solidFill>
            <a:srgbClr val="EEF1F6"/>
          </a:solidFill>
          <a:ln w="9525">
            <a:solidFill>
              <a:srgbClr val="EEF1F6"/>
            </a:solidFill>
            <a:prstDash val="solid"/>
          </a:ln>
        </p:spPr>
      </p:sp>
      <p:sp>
        <p:nvSpPr>
          <p:cNvPr id="21" name="Text 18"/>
          <p:cNvSpPr txBox="1"/>
          <p:nvPr/>
        </p:nvSpPr>
        <p:spPr>
          <a:xfrm>
            <a:off x="548640" y="2148840"/>
            <a:ext cx="274320" cy="475488"/>
          </a:xfrm>
          <a:prstGeom prst="rect">
            <a:avLst/>
          </a:prstGeom>
          <a:noFill/>
          <a:ln/>
        </p:spPr>
        <p:txBody>
          <a:bodyPr wrap="square" lIns="0" tIns="0" rIns="0" bIns="0" rtlCol="0" anchor="ctr"/>
          <a:lstStyle/>
          <a:p>
            <a:pPr indent="0" marL="0">
              <a:buNone/>
            </a:pPr>
            <a:r>
              <a:rPr lang="en-US" sz="1400" b="1" dirty="0">
                <a:solidFill>
                  <a:srgbClr val="CA061C"/>
                </a:solidFill>
                <a:latin typeface="Cambria" pitchFamily="34" charset="0"/>
                <a:ea typeface="Cambria" pitchFamily="34" charset="-122"/>
                <a:cs typeface="Cambria" pitchFamily="34" charset="-120"/>
              </a:rPr>
              <a:t>3</a:t>
            </a:r>
            <a:endParaRPr lang="en-US" sz="1400" dirty="0"/>
          </a:p>
        </p:txBody>
      </p:sp>
      <p:sp>
        <p:nvSpPr>
          <p:cNvPr id="22" name="Text 19"/>
          <p:cNvSpPr txBox="1"/>
          <p:nvPr/>
        </p:nvSpPr>
        <p:spPr>
          <a:xfrm>
            <a:off x="841248" y="2148840"/>
            <a:ext cx="3749040" cy="475488"/>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Confirmación  </a:t>
            </a:r>
            <a:pPr indent="0" marL="0">
              <a:buNone/>
            </a:pPr>
            <a:r>
              <a:rPr lang="en-US" sz="950" dirty="0">
                <a:solidFill>
                  <a:srgbClr val="3A4250"/>
                </a:solidFill>
                <a:latin typeface="Calibri" pitchFamily="34" charset="0"/>
                <a:ea typeface="Calibri" pitchFamily="34" charset="-122"/>
                <a:cs typeface="Calibri" pitchFamily="34" charset="-120"/>
              </a:rPr>
              <a:t>Jaccard ≥ 0,90 sobre todas las secuencias completas</a:t>
            </a:r>
            <a:endParaRPr lang="en-US" sz="950" dirty="0"/>
          </a:p>
        </p:txBody>
      </p:sp>
      <p:sp>
        <p:nvSpPr>
          <p:cNvPr id="23" name="Shape 20"/>
          <p:cNvSpPr/>
          <p:nvPr/>
        </p:nvSpPr>
        <p:spPr>
          <a:xfrm>
            <a:off x="411480" y="2697480"/>
            <a:ext cx="4297680" cy="475488"/>
          </a:xfrm>
          <a:prstGeom prst="roundRect">
            <a:avLst>
              <a:gd name="adj" fmla="val 11538"/>
            </a:avLst>
          </a:prstGeom>
          <a:solidFill>
            <a:srgbClr val="EEF1F6"/>
          </a:solidFill>
          <a:ln w="9525">
            <a:solidFill>
              <a:srgbClr val="EEF1F6"/>
            </a:solidFill>
            <a:prstDash val="solid"/>
          </a:ln>
        </p:spPr>
      </p:sp>
      <p:sp>
        <p:nvSpPr>
          <p:cNvPr id="24" name="Text 21"/>
          <p:cNvSpPr txBox="1"/>
          <p:nvPr/>
        </p:nvSpPr>
        <p:spPr>
          <a:xfrm>
            <a:off x="548640" y="2697480"/>
            <a:ext cx="274320" cy="475488"/>
          </a:xfrm>
          <a:prstGeom prst="rect">
            <a:avLst/>
          </a:prstGeom>
          <a:noFill/>
          <a:ln/>
        </p:spPr>
        <p:txBody>
          <a:bodyPr wrap="square" lIns="0" tIns="0" rIns="0" bIns="0" rtlCol="0" anchor="ctr"/>
          <a:lstStyle/>
          <a:p>
            <a:pPr indent="0" marL="0">
              <a:buNone/>
            </a:pPr>
            <a:r>
              <a:rPr lang="en-US" sz="1400" b="1" dirty="0">
                <a:solidFill>
                  <a:srgbClr val="CA061C"/>
                </a:solidFill>
                <a:latin typeface="Cambria" pitchFamily="34" charset="0"/>
                <a:ea typeface="Cambria" pitchFamily="34" charset="-122"/>
                <a:cs typeface="Cambria" pitchFamily="34" charset="-120"/>
              </a:rPr>
              <a:t>4</a:t>
            </a:r>
            <a:endParaRPr lang="en-US" sz="1400" dirty="0"/>
          </a:p>
        </p:txBody>
      </p:sp>
      <p:sp>
        <p:nvSpPr>
          <p:cNvPr id="25" name="Text 22"/>
          <p:cNvSpPr txBox="1"/>
          <p:nvPr/>
        </p:nvSpPr>
        <p:spPr>
          <a:xfrm>
            <a:off x="841248" y="2697480"/>
            <a:ext cx="3749040" cy="475488"/>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Grupos  </a:t>
            </a:r>
            <a:pPr indent="0" marL="0">
              <a:buNone/>
            </a:pPr>
            <a:r>
              <a:rPr lang="en-US" sz="950" dirty="0">
                <a:solidFill>
                  <a:srgbClr val="3A4250"/>
                </a:solidFill>
                <a:latin typeface="Calibri" pitchFamily="34" charset="0"/>
                <a:ea typeface="Calibri" pitchFamily="34" charset="-122"/>
                <a:cs typeface="Calibri" pitchFamily="34" charset="-120"/>
              </a:rPr>
              <a:t>Componentes conexos bajo un mismo duplicate_group</a:t>
            </a:r>
            <a:endParaRPr lang="en-US" sz="950" dirty="0"/>
          </a:p>
        </p:txBody>
      </p:sp>
      <p:sp>
        <p:nvSpPr>
          <p:cNvPr id="26" name="Shape 23"/>
          <p:cNvSpPr/>
          <p:nvPr/>
        </p:nvSpPr>
        <p:spPr>
          <a:xfrm>
            <a:off x="411480" y="3246120"/>
            <a:ext cx="4297680" cy="475488"/>
          </a:xfrm>
          <a:prstGeom prst="roundRect">
            <a:avLst>
              <a:gd name="adj" fmla="val 11538"/>
            </a:avLst>
          </a:prstGeom>
          <a:solidFill>
            <a:srgbClr val="EEF1F6"/>
          </a:solidFill>
          <a:ln w="9525">
            <a:solidFill>
              <a:srgbClr val="EEF1F6"/>
            </a:solidFill>
            <a:prstDash val="solid"/>
          </a:ln>
        </p:spPr>
      </p:sp>
      <p:sp>
        <p:nvSpPr>
          <p:cNvPr id="27" name="Text 24"/>
          <p:cNvSpPr txBox="1"/>
          <p:nvPr/>
        </p:nvSpPr>
        <p:spPr>
          <a:xfrm>
            <a:off x="548640" y="3246120"/>
            <a:ext cx="274320" cy="475488"/>
          </a:xfrm>
          <a:prstGeom prst="rect">
            <a:avLst/>
          </a:prstGeom>
          <a:noFill/>
          <a:ln/>
        </p:spPr>
        <p:txBody>
          <a:bodyPr wrap="square" lIns="0" tIns="0" rIns="0" bIns="0" rtlCol="0" anchor="ctr"/>
          <a:lstStyle/>
          <a:p>
            <a:pPr indent="0" marL="0">
              <a:buNone/>
            </a:pPr>
            <a:r>
              <a:rPr lang="en-US" sz="1400" b="1" dirty="0">
                <a:solidFill>
                  <a:srgbClr val="CA061C"/>
                </a:solidFill>
                <a:latin typeface="Cambria" pitchFamily="34" charset="0"/>
                <a:ea typeface="Cambria" pitchFamily="34" charset="-122"/>
                <a:cs typeface="Cambria" pitchFamily="34" charset="-120"/>
              </a:rPr>
              <a:t>5</a:t>
            </a:r>
            <a:endParaRPr lang="en-US" sz="1400" dirty="0"/>
          </a:p>
        </p:txBody>
      </p:sp>
      <p:sp>
        <p:nvSpPr>
          <p:cNvPr id="28" name="Text 25"/>
          <p:cNvSpPr txBox="1"/>
          <p:nvPr/>
        </p:nvSpPr>
        <p:spPr>
          <a:xfrm>
            <a:off x="841248" y="3246120"/>
            <a:ext cx="3749040" cy="475488"/>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Conflictos  </a:t>
            </a:r>
            <a:pPr indent="0" marL="0">
              <a:buNone/>
            </a:pPr>
            <a:r>
              <a:rPr lang="en-US" sz="950" dirty="0">
                <a:solidFill>
                  <a:srgbClr val="3A4250"/>
                </a:solidFill>
                <a:latin typeface="Calibri" pitchFamily="34" charset="0"/>
                <a:ea typeface="Calibri" pitchFamily="34" charset="-122"/>
                <a:cs typeface="Calibri" pitchFamily="34" charset="-120"/>
              </a:rPr>
              <a:t>Se excluyen componentes con etiquetas contradictorias</a:t>
            </a:r>
            <a:endParaRPr lang="en-US" sz="950" dirty="0"/>
          </a:p>
        </p:txBody>
      </p:sp>
      <p:sp>
        <p:nvSpPr>
          <p:cNvPr id="29" name="Shape 26"/>
          <p:cNvSpPr/>
          <p:nvPr/>
        </p:nvSpPr>
        <p:spPr>
          <a:xfrm>
            <a:off x="411480" y="3840480"/>
            <a:ext cx="1014984" cy="841248"/>
          </a:xfrm>
          <a:prstGeom prst="roundRect">
            <a:avLst>
              <a:gd name="adj" fmla="val 6522"/>
            </a:avLst>
          </a:prstGeom>
          <a:solidFill>
            <a:srgbClr val="FFFFFF"/>
          </a:solidFill>
          <a:ln w="9525">
            <a:solidFill>
              <a:srgbClr val="D5DAE2"/>
            </a:solidFill>
            <a:prstDash val="solid"/>
          </a:ln>
        </p:spPr>
      </p:sp>
      <p:sp>
        <p:nvSpPr>
          <p:cNvPr id="30" name="Text 27"/>
          <p:cNvSpPr txBox="1"/>
          <p:nvPr/>
        </p:nvSpPr>
        <p:spPr>
          <a:xfrm>
            <a:off x="411480" y="3895344"/>
            <a:ext cx="1014984" cy="347472"/>
          </a:xfrm>
          <a:prstGeom prst="rect">
            <a:avLst/>
          </a:prstGeom>
          <a:noFill/>
          <a:ln/>
        </p:spPr>
        <p:txBody>
          <a:bodyPr wrap="square" lIns="0" tIns="0" rIns="0" bIns="0" rtlCol="0" anchor="ctr"/>
          <a:lstStyle/>
          <a:p>
            <a:pPr algn="ctr" indent="0" marL="0">
              <a:buNone/>
            </a:pPr>
            <a:r>
              <a:rPr lang="en-US" sz="1700" b="1" dirty="0">
                <a:solidFill>
                  <a:srgbClr val="CA061C"/>
                </a:solidFill>
                <a:latin typeface="Cambria" pitchFamily="34" charset="0"/>
                <a:ea typeface="Cambria" pitchFamily="34" charset="-122"/>
                <a:cs typeface="Cambria" pitchFamily="34" charset="-120"/>
              </a:rPr>
              <a:t>6.090</a:t>
            </a:r>
            <a:endParaRPr lang="en-US" sz="1700" dirty="0"/>
          </a:p>
        </p:txBody>
      </p:sp>
      <p:sp>
        <p:nvSpPr>
          <p:cNvPr id="31" name="Text 28"/>
          <p:cNvSpPr txBox="1"/>
          <p:nvPr/>
        </p:nvSpPr>
        <p:spPr>
          <a:xfrm>
            <a:off x="457200" y="4242816"/>
            <a:ext cx="923544" cy="384048"/>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duplicados exactos</a:t>
            </a:r>
            <a:endParaRPr lang="en-US" sz="800" dirty="0"/>
          </a:p>
        </p:txBody>
      </p:sp>
      <p:sp>
        <p:nvSpPr>
          <p:cNvPr id="32" name="Shape 29"/>
          <p:cNvSpPr/>
          <p:nvPr/>
        </p:nvSpPr>
        <p:spPr>
          <a:xfrm>
            <a:off x="1499616" y="3840480"/>
            <a:ext cx="1014984" cy="841248"/>
          </a:xfrm>
          <a:prstGeom prst="roundRect">
            <a:avLst>
              <a:gd name="adj" fmla="val 6522"/>
            </a:avLst>
          </a:prstGeom>
          <a:solidFill>
            <a:srgbClr val="FFFFFF"/>
          </a:solidFill>
          <a:ln w="9525">
            <a:solidFill>
              <a:srgbClr val="D5DAE2"/>
            </a:solidFill>
            <a:prstDash val="solid"/>
          </a:ln>
        </p:spPr>
      </p:sp>
      <p:sp>
        <p:nvSpPr>
          <p:cNvPr id="33" name="Text 30"/>
          <p:cNvSpPr txBox="1"/>
          <p:nvPr/>
        </p:nvSpPr>
        <p:spPr>
          <a:xfrm>
            <a:off x="1499616" y="3895344"/>
            <a:ext cx="1014984" cy="347472"/>
          </a:xfrm>
          <a:prstGeom prst="rect">
            <a:avLst/>
          </a:prstGeom>
          <a:noFill/>
          <a:ln/>
        </p:spPr>
        <p:txBody>
          <a:bodyPr wrap="square" lIns="0" tIns="0" rIns="0" bIns="0" rtlCol="0" anchor="ctr"/>
          <a:lstStyle/>
          <a:p>
            <a:pPr algn="ctr" indent="0" marL="0">
              <a:buNone/>
            </a:pPr>
            <a:r>
              <a:rPr lang="en-US" sz="1700" b="1" dirty="0">
                <a:solidFill>
                  <a:srgbClr val="141821"/>
                </a:solidFill>
                <a:latin typeface="Cambria" pitchFamily="34" charset="0"/>
                <a:ea typeface="Cambria" pitchFamily="34" charset="-122"/>
                <a:cs typeface="Cambria" pitchFamily="34" charset="-120"/>
              </a:rPr>
              <a:t>42</a:t>
            </a:r>
            <a:endParaRPr lang="en-US" sz="1700" dirty="0"/>
          </a:p>
        </p:txBody>
      </p:sp>
      <p:sp>
        <p:nvSpPr>
          <p:cNvPr id="34" name="Text 31"/>
          <p:cNvSpPr txBox="1"/>
          <p:nvPr/>
        </p:nvSpPr>
        <p:spPr>
          <a:xfrm>
            <a:off x="1545336" y="4242816"/>
            <a:ext cx="923544" cy="384048"/>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componentes · 45 aristas</a:t>
            </a:r>
            <a:endParaRPr lang="en-US" sz="800" dirty="0"/>
          </a:p>
        </p:txBody>
      </p:sp>
      <p:sp>
        <p:nvSpPr>
          <p:cNvPr id="35" name="Shape 32"/>
          <p:cNvSpPr/>
          <p:nvPr/>
        </p:nvSpPr>
        <p:spPr>
          <a:xfrm>
            <a:off x="2587752" y="3840480"/>
            <a:ext cx="1014984" cy="841248"/>
          </a:xfrm>
          <a:prstGeom prst="roundRect">
            <a:avLst>
              <a:gd name="adj" fmla="val 6522"/>
            </a:avLst>
          </a:prstGeom>
          <a:solidFill>
            <a:srgbClr val="FFFFFF"/>
          </a:solidFill>
          <a:ln w="9525">
            <a:solidFill>
              <a:srgbClr val="D5DAE2"/>
            </a:solidFill>
            <a:prstDash val="solid"/>
          </a:ln>
        </p:spPr>
      </p:sp>
      <p:sp>
        <p:nvSpPr>
          <p:cNvPr id="36" name="Text 33"/>
          <p:cNvSpPr txBox="1"/>
          <p:nvPr/>
        </p:nvSpPr>
        <p:spPr>
          <a:xfrm>
            <a:off x="2587752" y="3895344"/>
            <a:ext cx="1014984" cy="347472"/>
          </a:xfrm>
          <a:prstGeom prst="rect">
            <a:avLst/>
          </a:prstGeom>
          <a:noFill/>
          <a:ln/>
        </p:spPr>
        <p:txBody>
          <a:bodyPr wrap="square" lIns="0" tIns="0" rIns="0" bIns="0" rtlCol="0" anchor="ctr"/>
          <a:lstStyle/>
          <a:p>
            <a:pPr algn="ctr" indent="0" marL="0">
              <a:buNone/>
            </a:pPr>
            <a:r>
              <a:rPr lang="en-US" sz="1700" b="1" dirty="0">
                <a:solidFill>
                  <a:srgbClr val="141821"/>
                </a:solidFill>
                <a:latin typeface="Cambria" pitchFamily="34" charset="0"/>
                <a:ea typeface="Cambria" pitchFamily="34" charset="-122"/>
                <a:cs typeface="Cambria" pitchFamily="34" charset="-120"/>
              </a:rPr>
              <a:t>2</a:t>
            </a:r>
            <a:endParaRPr lang="en-US" sz="1700" dirty="0"/>
          </a:p>
        </p:txBody>
      </p:sp>
      <p:sp>
        <p:nvSpPr>
          <p:cNvPr id="37" name="Text 34"/>
          <p:cNvSpPr txBox="1"/>
          <p:nvPr/>
        </p:nvSpPr>
        <p:spPr>
          <a:xfrm>
            <a:off x="2633472" y="4242816"/>
            <a:ext cx="923544" cy="384048"/>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componentes en conflicto (5 filas)</a:t>
            </a:r>
            <a:endParaRPr lang="en-US" sz="800" dirty="0"/>
          </a:p>
        </p:txBody>
      </p:sp>
      <p:sp>
        <p:nvSpPr>
          <p:cNvPr id="38" name="Shape 35"/>
          <p:cNvSpPr/>
          <p:nvPr/>
        </p:nvSpPr>
        <p:spPr>
          <a:xfrm>
            <a:off x="3675888" y="3840480"/>
            <a:ext cx="1014984" cy="841248"/>
          </a:xfrm>
          <a:prstGeom prst="roundRect">
            <a:avLst>
              <a:gd name="adj" fmla="val 6522"/>
            </a:avLst>
          </a:prstGeom>
          <a:solidFill>
            <a:srgbClr val="FFFFFF"/>
          </a:solidFill>
          <a:ln w="9525">
            <a:solidFill>
              <a:srgbClr val="D5DAE2"/>
            </a:solidFill>
            <a:prstDash val="solid"/>
          </a:ln>
        </p:spPr>
      </p:sp>
      <p:sp>
        <p:nvSpPr>
          <p:cNvPr id="39" name="Text 36"/>
          <p:cNvSpPr txBox="1"/>
          <p:nvPr/>
        </p:nvSpPr>
        <p:spPr>
          <a:xfrm>
            <a:off x="3675888" y="3895344"/>
            <a:ext cx="1014984" cy="347472"/>
          </a:xfrm>
          <a:prstGeom prst="rect">
            <a:avLst/>
          </a:prstGeom>
          <a:noFill/>
          <a:ln/>
        </p:spPr>
        <p:txBody>
          <a:bodyPr wrap="square" lIns="0" tIns="0" rIns="0" bIns="0" rtlCol="0" anchor="ctr"/>
          <a:lstStyle/>
          <a:p>
            <a:pPr algn="ctr" indent="0" marL="0">
              <a:buNone/>
            </a:pPr>
            <a:r>
              <a:rPr lang="en-US" sz="1700" b="1" dirty="0">
                <a:solidFill>
                  <a:srgbClr val="141821"/>
                </a:solidFill>
                <a:latin typeface="Cambria" pitchFamily="34" charset="0"/>
                <a:ea typeface="Cambria" pitchFamily="34" charset="-122"/>
                <a:cs typeface="Cambria" pitchFamily="34" charset="-120"/>
              </a:rPr>
              <a:t>0</a:t>
            </a:r>
            <a:endParaRPr lang="en-US" sz="1700" dirty="0"/>
          </a:p>
        </p:txBody>
      </p:sp>
      <p:sp>
        <p:nvSpPr>
          <p:cNvPr id="40" name="Text 37"/>
          <p:cNvSpPr txBox="1"/>
          <p:nvPr/>
        </p:nvSpPr>
        <p:spPr>
          <a:xfrm>
            <a:off x="3721608" y="4242816"/>
            <a:ext cx="923544" cy="384048"/>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grupos de procedencia mixta</a:t>
            </a:r>
            <a:endParaRPr lang="en-US" sz="800" dirty="0"/>
          </a:p>
        </p:txBody>
      </p:sp>
      <p:sp>
        <p:nvSpPr>
          <p:cNvPr id="41" name="Shape 38"/>
          <p:cNvSpPr/>
          <p:nvPr/>
        </p:nvSpPr>
        <p:spPr>
          <a:xfrm>
            <a:off x="4892040" y="1051560"/>
            <a:ext cx="3840480" cy="3630168"/>
          </a:xfrm>
          <a:prstGeom prst="roundRect">
            <a:avLst>
              <a:gd name="adj" fmla="val 1511"/>
            </a:avLst>
          </a:prstGeom>
          <a:solidFill>
            <a:srgbClr val="141821"/>
          </a:solidFill>
          <a:ln w="9525">
            <a:solidFill>
              <a:srgbClr val="141821"/>
            </a:solidFill>
            <a:prstDash val="solid"/>
          </a:ln>
        </p:spPr>
      </p:sp>
      <p:sp>
        <p:nvSpPr>
          <p:cNvPr id="42" name="Text 39"/>
          <p:cNvSpPr txBox="1"/>
          <p:nvPr/>
        </p:nvSpPr>
        <p:spPr>
          <a:xfrm>
            <a:off x="5102352" y="1207008"/>
            <a:ext cx="347472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CONTROLES ESTRUCTURALES (TABLA 12)</a:t>
            </a:r>
            <a:endParaRPr lang="en-US" sz="750" dirty="0"/>
          </a:p>
        </p:txBody>
      </p:sp>
      <p:sp>
        <p:nvSpPr>
          <p:cNvPr id="43" name="Text 40"/>
          <p:cNvSpPr txBox="1"/>
          <p:nvPr/>
        </p:nvSpPr>
        <p:spPr>
          <a:xfrm>
            <a:off x="5102352" y="1481328"/>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Esquema</a:t>
            </a:r>
            <a:endParaRPr lang="en-US" sz="850" dirty="0"/>
          </a:p>
        </p:txBody>
      </p:sp>
      <p:sp>
        <p:nvSpPr>
          <p:cNvPr id="44" name="Text 41"/>
          <p:cNvSpPr txBox="1"/>
          <p:nvPr/>
        </p:nvSpPr>
        <p:spPr>
          <a:xfrm>
            <a:off x="6217920" y="1481328"/>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columnas obligatorias presentes</a:t>
            </a:r>
            <a:endParaRPr lang="en-US" sz="950" dirty="0"/>
          </a:p>
        </p:txBody>
      </p:sp>
      <p:sp>
        <p:nvSpPr>
          <p:cNvPr id="45" name="Text 42"/>
          <p:cNvSpPr txBox="1"/>
          <p:nvPr/>
        </p:nvSpPr>
        <p:spPr>
          <a:xfrm>
            <a:off x="5102352" y="1810512"/>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Identidad</a:t>
            </a:r>
            <a:endParaRPr lang="en-US" sz="850" dirty="0"/>
          </a:p>
        </p:txBody>
      </p:sp>
      <p:sp>
        <p:nvSpPr>
          <p:cNvPr id="46" name="Text 43"/>
          <p:cNvSpPr txBox="1"/>
          <p:nvPr/>
        </p:nvSpPr>
        <p:spPr>
          <a:xfrm>
            <a:off x="6217920" y="1810512"/>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source_id sin duplicados</a:t>
            </a:r>
            <a:endParaRPr lang="en-US" sz="950" dirty="0"/>
          </a:p>
        </p:txBody>
      </p:sp>
      <p:sp>
        <p:nvSpPr>
          <p:cNvPr id="47" name="Text 44"/>
          <p:cNvSpPr txBox="1"/>
          <p:nvPr/>
        </p:nvSpPr>
        <p:spPr>
          <a:xfrm>
            <a:off x="5102352" y="2139696"/>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Existencia</a:t>
            </a:r>
            <a:endParaRPr lang="en-US" sz="850" dirty="0"/>
          </a:p>
        </p:txBody>
      </p:sp>
      <p:sp>
        <p:nvSpPr>
          <p:cNvPr id="48" name="Text 45"/>
          <p:cNvSpPr txBox="1"/>
          <p:nvPr/>
        </p:nvSpPr>
        <p:spPr>
          <a:xfrm>
            <a:off x="6217920" y="2139696"/>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dataset no vacío</a:t>
            </a:r>
            <a:endParaRPr lang="en-US" sz="950" dirty="0"/>
          </a:p>
        </p:txBody>
      </p:sp>
      <p:sp>
        <p:nvSpPr>
          <p:cNvPr id="49" name="Text 46"/>
          <p:cNvSpPr txBox="1"/>
          <p:nvPr/>
        </p:nvSpPr>
        <p:spPr>
          <a:xfrm>
            <a:off x="5102352" y="2468880"/>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Etiquetas</a:t>
            </a:r>
            <a:endParaRPr lang="en-US" sz="850" dirty="0"/>
          </a:p>
        </p:txBody>
      </p:sp>
      <p:sp>
        <p:nvSpPr>
          <p:cNvPr id="50" name="Text 47"/>
          <p:cNvSpPr txBox="1"/>
          <p:nvPr/>
        </p:nvSpPr>
        <p:spPr>
          <a:xfrm>
            <a:off x="6217920" y="2468880"/>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 ∈ {0, 1}</a:t>
            </a:r>
            <a:endParaRPr lang="en-US" sz="950" dirty="0"/>
          </a:p>
        </p:txBody>
      </p:sp>
      <p:sp>
        <p:nvSpPr>
          <p:cNvPr id="51" name="Text 48"/>
          <p:cNvSpPr txBox="1"/>
          <p:nvPr/>
        </p:nvSpPr>
        <p:spPr>
          <a:xfrm>
            <a:off x="5102352" y="2798064"/>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Coherencia</a:t>
            </a:r>
            <a:endParaRPr lang="en-US" sz="850" dirty="0"/>
          </a:p>
        </p:txBody>
      </p:sp>
      <p:sp>
        <p:nvSpPr>
          <p:cNvPr id="52" name="Text 49"/>
          <p:cNvSpPr txBox="1"/>
          <p:nvPr/>
        </p:nvSpPr>
        <p:spPr>
          <a:xfrm>
            <a:off x="6217920" y="2798064"/>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 y label_name describen la misma clase</a:t>
            </a:r>
            <a:endParaRPr lang="en-US" sz="950" dirty="0"/>
          </a:p>
        </p:txBody>
      </p:sp>
      <p:sp>
        <p:nvSpPr>
          <p:cNvPr id="53" name="Text 50"/>
          <p:cNvSpPr txBox="1"/>
          <p:nvPr/>
        </p:nvSpPr>
        <p:spPr>
          <a:xfrm>
            <a:off x="5102352" y="3127248"/>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Nulos y texto</a:t>
            </a:r>
            <a:endParaRPr lang="en-US" sz="850" dirty="0"/>
          </a:p>
        </p:txBody>
      </p:sp>
      <p:sp>
        <p:nvSpPr>
          <p:cNvPr id="54" name="Text 51"/>
          <p:cNvSpPr txBox="1"/>
          <p:nvPr/>
        </p:nvSpPr>
        <p:spPr>
          <a:xfrm>
            <a:off x="6217920" y="3127248"/>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sin nulos ni textos vacíos</a:t>
            </a:r>
            <a:endParaRPr lang="en-US" sz="950" dirty="0"/>
          </a:p>
        </p:txBody>
      </p:sp>
      <p:sp>
        <p:nvSpPr>
          <p:cNvPr id="55" name="Text 52"/>
          <p:cNvSpPr txBox="1"/>
          <p:nvPr/>
        </p:nvSpPr>
        <p:spPr>
          <a:xfrm>
            <a:off x="5102352" y="3456432"/>
            <a:ext cx="1097280" cy="274320"/>
          </a:xfrm>
          <a:prstGeom prst="rect">
            <a:avLst/>
          </a:prstGeom>
          <a:noFill/>
          <a:ln/>
        </p:spPr>
        <p:txBody>
          <a:bodyPr wrap="square" lIns="0" tIns="0" rIns="0" bIns="0" rtlCol="0" anchor="ctr"/>
          <a:lstStyle/>
          <a:p>
            <a:pPr indent="0" marL="0">
              <a:buNone/>
            </a:pPr>
            <a:r>
              <a:rPr lang="en-US" sz="850" b="1" dirty="0">
                <a:solidFill>
                  <a:srgbClr val="FF8A96"/>
                </a:solidFill>
                <a:latin typeface="Courier New" pitchFamily="34" charset="0"/>
                <a:ea typeface="Courier New" pitchFamily="34" charset="-122"/>
                <a:cs typeface="Courier New" pitchFamily="34" charset="-120"/>
              </a:rPr>
              <a:t>Particiones</a:t>
            </a:r>
            <a:endParaRPr lang="en-US" sz="850" dirty="0"/>
          </a:p>
        </p:txBody>
      </p:sp>
      <p:sp>
        <p:nvSpPr>
          <p:cNvPr id="56" name="Text 53"/>
          <p:cNvSpPr txBox="1"/>
          <p:nvPr/>
        </p:nvSpPr>
        <p:spPr>
          <a:xfrm>
            <a:off x="6217920" y="3456432"/>
            <a:ext cx="237744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ningún grupo repartido entre train y prueba</a:t>
            </a:r>
            <a:endParaRPr lang="en-US" sz="950" dirty="0"/>
          </a:p>
        </p:txBody>
      </p:sp>
      <p:sp>
        <p:nvSpPr>
          <p:cNvPr id="57" name="Shape 54"/>
          <p:cNvSpPr/>
          <p:nvPr/>
        </p:nvSpPr>
        <p:spPr>
          <a:xfrm>
            <a:off x="5074920" y="3904488"/>
            <a:ext cx="3474720" cy="640080"/>
          </a:xfrm>
          <a:prstGeom prst="roundRect">
            <a:avLst>
              <a:gd name="adj" fmla="val 8571"/>
            </a:avLst>
          </a:prstGeom>
          <a:solidFill>
            <a:srgbClr val="CA061C"/>
          </a:solidFill>
          <a:ln w="9525">
            <a:solidFill>
              <a:srgbClr val="CA061C"/>
            </a:solidFill>
            <a:prstDash val="solid"/>
          </a:ln>
        </p:spPr>
      </p:sp>
      <p:sp>
        <p:nvSpPr>
          <p:cNvPr id="58" name="Text 55"/>
          <p:cNvSpPr txBox="1"/>
          <p:nvPr/>
        </p:nvSpPr>
        <p:spPr>
          <a:xfrm>
            <a:off x="5212080" y="3904488"/>
            <a:ext cx="3246120" cy="6400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Estructural ≠ semántico. </a:t>
            </a:r>
            <a:pPr indent="0" marL="0">
              <a:buNone/>
            </a:pPr>
            <a:r>
              <a:rPr lang="en-US" sz="950" dirty="0">
                <a:solidFill>
                  <a:srgbClr val="FFFFFF"/>
                </a:solidFill>
                <a:latin typeface="Calibri" pitchFamily="34" charset="0"/>
                <a:ea typeface="Calibri" pitchFamily="34" charset="-122"/>
                <a:cs typeface="Calibri" pitchFamily="34" charset="-120"/>
              </a:rPr>
              <a:t>No verifica la veracidad ni las etiquetas externas; LSH puede omitir paráfrasis.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6"/>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Shape 4"/>
          <p:cNvSpPr/>
          <p:nvPr/>
        </p:nvSpPr>
        <p:spPr>
          <a:xfrm>
            <a:off x="2739542" y="4914900"/>
            <a:ext cx="782726" cy="187452"/>
          </a:xfrm>
          <a:prstGeom prst="roundRect">
            <a:avLst>
              <a:gd name="adj" fmla="val 19512"/>
            </a:avLst>
          </a:prstGeom>
          <a:solidFill>
            <a:srgbClr val="CA061C"/>
          </a:solidFill>
          <a:ln w="12700">
            <a:solidFill>
              <a:srgbClr val="CA061C"/>
            </a:solidFill>
            <a:prstDash val="solid"/>
          </a:ln>
        </p:spPr>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12</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4 · DESARROLLO · PREPROCESAMIENTO TEXTUAL</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Siete reglas de normalización deterministas</a:t>
            </a:r>
            <a:endParaRPr lang="en-US" sz="2400" dirty="0"/>
          </a:p>
        </p:txBody>
      </p:sp>
      <p:sp>
        <p:nvSpPr>
          <p:cNvPr id="14" name="Shape 11"/>
          <p:cNvSpPr/>
          <p:nvPr/>
        </p:nvSpPr>
        <p:spPr>
          <a:xfrm>
            <a:off x="411480" y="1051560"/>
            <a:ext cx="2395728" cy="777240"/>
          </a:xfrm>
          <a:prstGeom prst="roundRect">
            <a:avLst>
              <a:gd name="adj" fmla="val 7059"/>
            </a:avLst>
          </a:prstGeom>
          <a:solidFill>
            <a:srgbClr val="FFFFFF"/>
          </a:solidFill>
          <a:ln w="9525">
            <a:solidFill>
              <a:srgbClr val="D5DAE2"/>
            </a:solidFill>
            <a:prstDash val="solid"/>
          </a:ln>
        </p:spPr>
      </p:sp>
      <p:sp>
        <p:nvSpPr>
          <p:cNvPr id="15" name="Text 12"/>
          <p:cNvSpPr txBox="1"/>
          <p:nvPr/>
        </p:nvSpPr>
        <p:spPr>
          <a:xfrm>
            <a:off x="548640" y="114300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R1</a:t>
            </a:r>
            <a:endParaRPr lang="en-US" sz="900" dirty="0"/>
          </a:p>
        </p:txBody>
      </p:sp>
      <p:sp>
        <p:nvSpPr>
          <p:cNvPr id="16" name="Text 13"/>
          <p:cNvSpPr txBox="1"/>
          <p:nvPr/>
        </p:nvSpPr>
        <p:spPr>
          <a:xfrm>
            <a:off x="548640" y="135331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Decodifica entidades HTML y pasa a minúsculas</a:t>
            </a:r>
            <a:endParaRPr lang="en-US" sz="950" dirty="0"/>
          </a:p>
        </p:txBody>
      </p:sp>
      <p:sp>
        <p:nvSpPr>
          <p:cNvPr id="17" name="Shape 14"/>
          <p:cNvSpPr/>
          <p:nvPr/>
        </p:nvSpPr>
        <p:spPr>
          <a:xfrm>
            <a:off x="411480" y="1920240"/>
            <a:ext cx="2395728" cy="777240"/>
          </a:xfrm>
          <a:prstGeom prst="roundRect">
            <a:avLst>
              <a:gd name="adj" fmla="val 7059"/>
            </a:avLst>
          </a:prstGeom>
          <a:solidFill>
            <a:srgbClr val="FFFFFF"/>
          </a:solidFill>
          <a:ln w="9525">
            <a:solidFill>
              <a:srgbClr val="D5DAE2"/>
            </a:solidFill>
            <a:prstDash val="solid"/>
          </a:ln>
        </p:spPr>
      </p:sp>
      <p:sp>
        <p:nvSpPr>
          <p:cNvPr id="18" name="Text 15"/>
          <p:cNvSpPr txBox="1"/>
          <p:nvPr/>
        </p:nvSpPr>
        <p:spPr>
          <a:xfrm>
            <a:off x="548640" y="201168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R2</a:t>
            </a:r>
            <a:endParaRPr lang="en-US" sz="900" dirty="0"/>
          </a:p>
        </p:txBody>
      </p:sp>
      <p:sp>
        <p:nvSpPr>
          <p:cNvPr id="19" name="Text 16"/>
          <p:cNvSpPr txBox="1"/>
          <p:nvPr/>
        </p:nvSpPr>
        <p:spPr>
          <a:xfrm>
            <a:off x="548640" y="222199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URLs → 'url' y menciones → 'usuario'</a:t>
            </a:r>
            <a:endParaRPr lang="en-US" sz="950" dirty="0"/>
          </a:p>
        </p:txBody>
      </p:sp>
      <p:sp>
        <p:nvSpPr>
          <p:cNvPr id="20" name="Shape 17"/>
          <p:cNvSpPr/>
          <p:nvPr/>
        </p:nvSpPr>
        <p:spPr>
          <a:xfrm>
            <a:off x="411480" y="2788920"/>
            <a:ext cx="2395728" cy="777240"/>
          </a:xfrm>
          <a:prstGeom prst="roundRect">
            <a:avLst>
              <a:gd name="adj" fmla="val 7059"/>
            </a:avLst>
          </a:prstGeom>
          <a:solidFill>
            <a:srgbClr val="FFFFFF"/>
          </a:solidFill>
          <a:ln w="9525">
            <a:solidFill>
              <a:srgbClr val="D5DAE2"/>
            </a:solidFill>
            <a:prstDash val="solid"/>
          </a:ln>
        </p:spPr>
      </p:sp>
      <p:sp>
        <p:nvSpPr>
          <p:cNvPr id="21" name="Text 18"/>
          <p:cNvSpPr txBox="1"/>
          <p:nvPr/>
        </p:nvSpPr>
        <p:spPr>
          <a:xfrm>
            <a:off x="548640" y="288036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R3</a:t>
            </a:r>
            <a:endParaRPr lang="en-US" sz="900" dirty="0"/>
          </a:p>
        </p:txBody>
      </p:sp>
      <p:sp>
        <p:nvSpPr>
          <p:cNvPr id="22" name="Text 19"/>
          <p:cNvSpPr txBox="1"/>
          <p:nvPr/>
        </p:nvSpPr>
        <p:spPr>
          <a:xfrm>
            <a:off x="548640" y="309067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Conserva el término base de los hashtags</a:t>
            </a:r>
            <a:endParaRPr lang="en-US" sz="950" dirty="0"/>
          </a:p>
        </p:txBody>
      </p:sp>
      <p:sp>
        <p:nvSpPr>
          <p:cNvPr id="23" name="Shape 20"/>
          <p:cNvSpPr/>
          <p:nvPr/>
        </p:nvSpPr>
        <p:spPr>
          <a:xfrm>
            <a:off x="411480" y="3657600"/>
            <a:ext cx="2395728" cy="777240"/>
          </a:xfrm>
          <a:prstGeom prst="roundRect">
            <a:avLst>
              <a:gd name="adj" fmla="val 7059"/>
            </a:avLst>
          </a:prstGeom>
          <a:solidFill>
            <a:srgbClr val="FFFFFF"/>
          </a:solidFill>
          <a:ln w="9525">
            <a:solidFill>
              <a:srgbClr val="D5DAE2"/>
            </a:solidFill>
            <a:prstDash val="solid"/>
          </a:ln>
        </p:spPr>
      </p:sp>
      <p:sp>
        <p:nvSpPr>
          <p:cNvPr id="24" name="Text 21"/>
          <p:cNvSpPr txBox="1"/>
          <p:nvPr/>
        </p:nvSpPr>
        <p:spPr>
          <a:xfrm>
            <a:off x="548640" y="374904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R4</a:t>
            </a:r>
            <a:endParaRPr lang="en-US" sz="900" dirty="0"/>
          </a:p>
        </p:txBody>
      </p:sp>
      <p:sp>
        <p:nvSpPr>
          <p:cNvPr id="25" name="Text 22"/>
          <p:cNvSpPr txBox="1"/>
          <p:nvPr/>
        </p:nvSpPr>
        <p:spPr>
          <a:xfrm>
            <a:off x="548640" y="395935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Elimina emojis y caracteres no latinos</a:t>
            </a:r>
            <a:endParaRPr lang="en-US" sz="950" dirty="0"/>
          </a:p>
        </p:txBody>
      </p:sp>
      <p:sp>
        <p:nvSpPr>
          <p:cNvPr id="26" name="Shape 23"/>
          <p:cNvSpPr/>
          <p:nvPr/>
        </p:nvSpPr>
        <p:spPr>
          <a:xfrm>
            <a:off x="2926080" y="1051560"/>
            <a:ext cx="2395728" cy="777240"/>
          </a:xfrm>
          <a:prstGeom prst="roundRect">
            <a:avLst>
              <a:gd name="adj" fmla="val 7059"/>
            </a:avLst>
          </a:prstGeom>
          <a:solidFill>
            <a:srgbClr val="FFFFFF"/>
          </a:solidFill>
          <a:ln w="9525">
            <a:solidFill>
              <a:srgbClr val="D5DAE2"/>
            </a:solidFill>
            <a:prstDash val="solid"/>
          </a:ln>
        </p:spPr>
      </p:sp>
      <p:sp>
        <p:nvSpPr>
          <p:cNvPr id="27" name="Text 24"/>
          <p:cNvSpPr txBox="1"/>
          <p:nvPr/>
        </p:nvSpPr>
        <p:spPr>
          <a:xfrm>
            <a:off x="3063240" y="114300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R5</a:t>
            </a:r>
            <a:endParaRPr lang="en-US" sz="900" dirty="0"/>
          </a:p>
        </p:txBody>
      </p:sp>
      <p:sp>
        <p:nvSpPr>
          <p:cNvPr id="28" name="Text 25"/>
          <p:cNvSpPr txBox="1"/>
          <p:nvPr/>
        </p:nvSpPr>
        <p:spPr>
          <a:xfrm>
            <a:off x="3063240" y="135331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Compacta espacios y tokeniza con regex alfanumérica</a:t>
            </a:r>
            <a:endParaRPr lang="en-US" sz="950" dirty="0"/>
          </a:p>
        </p:txBody>
      </p:sp>
      <p:sp>
        <p:nvSpPr>
          <p:cNvPr id="29" name="Shape 26"/>
          <p:cNvSpPr/>
          <p:nvPr/>
        </p:nvSpPr>
        <p:spPr>
          <a:xfrm>
            <a:off x="2926080" y="1920240"/>
            <a:ext cx="2395728" cy="777240"/>
          </a:xfrm>
          <a:prstGeom prst="roundRect">
            <a:avLst>
              <a:gd name="adj" fmla="val 7059"/>
            </a:avLst>
          </a:prstGeom>
          <a:solidFill>
            <a:srgbClr val="FFFFFF"/>
          </a:solidFill>
          <a:ln w="9525">
            <a:solidFill>
              <a:srgbClr val="D5DAE2"/>
            </a:solidFill>
            <a:prstDash val="solid"/>
          </a:ln>
        </p:spPr>
      </p:sp>
      <p:sp>
        <p:nvSpPr>
          <p:cNvPr id="30" name="Text 27"/>
          <p:cNvSpPr txBox="1"/>
          <p:nvPr/>
        </p:nvSpPr>
        <p:spPr>
          <a:xfrm>
            <a:off x="3063240" y="201168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R6</a:t>
            </a:r>
            <a:endParaRPr lang="en-US" sz="900" dirty="0"/>
          </a:p>
        </p:txBody>
      </p:sp>
      <p:sp>
        <p:nvSpPr>
          <p:cNvPr id="31" name="Text 28"/>
          <p:cNvSpPr txBox="1"/>
          <p:nvPr/>
        </p:nvSpPr>
        <p:spPr>
          <a:xfrm>
            <a:off x="3063240" y="222199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Filtra stopwords configurables</a:t>
            </a:r>
            <a:endParaRPr lang="en-US" sz="950" dirty="0"/>
          </a:p>
        </p:txBody>
      </p:sp>
      <p:sp>
        <p:nvSpPr>
          <p:cNvPr id="32" name="Shape 29"/>
          <p:cNvSpPr/>
          <p:nvPr/>
        </p:nvSpPr>
        <p:spPr>
          <a:xfrm>
            <a:off x="2926080" y="2788920"/>
            <a:ext cx="2395728" cy="777240"/>
          </a:xfrm>
          <a:prstGeom prst="roundRect">
            <a:avLst>
              <a:gd name="adj" fmla="val 7059"/>
            </a:avLst>
          </a:prstGeom>
          <a:solidFill>
            <a:srgbClr val="FFFFFF"/>
          </a:solidFill>
          <a:ln w="9525">
            <a:solidFill>
              <a:srgbClr val="D5DAE2"/>
            </a:solidFill>
            <a:prstDash val="solid"/>
          </a:ln>
        </p:spPr>
      </p:sp>
      <p:sp>
        <p:nvSpPr>
          <p:cNvPr id="33" name="Text 30"/>
          <p:cNvSpPr txBox="1"/>
          <p:nvPr/>
        </p:nvSpPr>
        <p:spPr>
          <a:xfrm>
            <a:off x="3063240" y="2880360"/>
            <a:ext cx="457200" cy="201168"/>
          </a:xfrm>
          <a:prstGeom prst="rect">
            <a:avLst/>
          </a:prstGeom>
          <a:noFill/>
          <a:ln/>
        </p:spPr>
        <p:txBody>
          <a:bodyPr wrap="square" lIns="0" tIns="0" rIns="0" bIns="0" rtlCol="0" anchor="ctr"/>
          <a:lstStyle/>
          <a:p>
            <a:pPr indent="0" marL="0">
              <a:buNone/>
            </a:pPr>
            <a:r>
              <a:rPr lang="en-US" sz="900" b="1" dirty="0">
                <a:solidFill>
                  <a:srgbClr val="CA061C"/>
                </a:solidFill>
                <a:latin typeface="Courier New" pitchFamily="34" charset="0"/>
                <a:ea typeface="Courier New" pitchFamily="34" charset="-122"/>
                <a:cs typeface="Courier New" pitchFamily="34" charset="-120"/>
              </a:rPr>
              <a:t>R7</a:t>
            </a:r>
            <a:endParaRPr lang="en-US" sz="900" dirty="0"/>
          </a:p>
        </p:txBody>
      </p:sp>
      <p:sp>
        <p:nvSpPr>
          <p:cNvPr id="34" name="Text 31"/>
          <p:cNvSpPr txBox="1"/>
          <p:nvPr/>
        </p:nvSpPr>
        <p:spPr>
          <a:xfrm>
            <a:off x="3063240" y="3090672"/>
            <a:ext cx="2148840" cy="457200"/>
          </a:xfrm>
          <a:prstGeom prst="rect">
            <a:avLst/>
          </a:prstGeom>
          <a:noFill/>
          <a:ln/>
        </p:spPr>
        <p:txBody>
          <a:bodyPr wrap="square" lIns="0" tIns="0" rIns="0" bIns="0" rtlCol="0" anchor="t"/>
          <a:lstStyle/>
          <a:p>
            <a:pPr indent="0" marL="0">
              <a:buNone/>
            </a:pPr>
            <a:r>
              <a:rPr lang="en-US" sz="950" dirty="0">
                <a:solidFill>
                  <a:srgbClr val="141821"/>
                </a:solidFill>
                <a:latin typeface="Calibri" pitchFamily="34" charset="0"/>
                <a:ea typeface="Calibri" pitchFamily="34" charset="-122"/>
                <a:cs typeface="Calibri" pitchFamily="34" charset="-120"/>
              </a:rPr>
              <a:t>Marca textos vacíos, cortos o de idioma desconocido (quality_flags)</a:t>
            </a:r>
            <a:endParaRPr lang="en-US" sz="950" dirty="0"/>
          </a:p>
        </p:txBody>
      </p:sp>
      <p:sp>
        <p:nvSpPr>
          <p:cNvPr id="35" name="Shape 32"/>
          <p:cNvSpPr/>
          <p:nvPr/>
        </p:nvSpPr>
        <p:spPr>
          <a:xfrm>
            <a:off x="2926080" y="3657600"/>
            <a:ext cx="2395728" cy="1024128"/>
          </a:xfrm>
          <a:prstGeom prst="roundRect">
            <a:avLst>
              <a:gd name="adj" fmla="val 5357"/>
            </a:avLst>
          </a:prstGeom>
          <a:solidFill>
            <a:srgbClr val="CA061C"/>
          </a:solidFill>
          <a:ln w="9525">
            <a:solidFill>
              <a:srgbClr val="CA061C"/>
            </a:solidFill>
            <a:prstDash val="solid"/>
          </a:ln>
        </p:spPr>
      </p:sp>
      <p:sp>
        <p:nvSpPr>
          <p:cNvPr id="36" name="Text 33"/>
          <p:cNvSpPr txBox="1"/>
          <p:nvPr/>
        </p:nvSpPr>
        <p:spPr>
          <a:xfrm>
            <a:off x="3063240" y="3657600"/>
            <a:ext cx="2148840" cy="102412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El texto original no se borra: </a:t>
            </a:r>
            <a:pPr indent="0" marL="0">
              <a:buNone/>
            </a:pPr>
            <a:r>
              <a:rPr lang="en-US" sz="950" dirty="0">
                <a:solidFill>
                  <a:srgbClr val="FFFFFF"/>
                </a:solidFill>
                <a:latin typeface="Calibri" pitchFamily="34" charset="0"/>
                <a:ea typeface="Calibri" pitchFamily="34" charset="-122"/>
                <a:cs typeface="Calibri" pitchFamily="34" charset="-120"/>
              </a:rPr>
              <a:t>normalized_text se guarda junto a text para auditar cada transformación.</a:t>
            </a:r>
            <a:endParaRPr lang="en-US" sz="950" dirty="0"/>
          </a:p>
        </p:txBody>
      </p:sp>
      <p:sp>
        <p:nvSpPr>
          <p:cNvPr id="37" name="Shape 34"/>
          <p:cNvSpPr/>
          <p:nvPr/>
        </p:nvSpPr>
        <p:spPr>
          <a:xfrm>
            <a:off x="5486400" y="1051560"/>
            <a:ext cx="3246120" cy="3630168"/>
          </a:xfrm>
          <a:prstGeom prst="roundRect">
            <a:avLst>
              <a:gd name="adj" fmla="val 1690"/>
            </a:avLst>
          </a:prstGeom>
          <a:solidFill>
            <a:srgbClr val="141821"/>
          </a:solidFill>
          <a:ln w="9525">
            <a:solidFill>
              <a:srgbClr val="141821"/>
            </a:solidFill>
            <a:prstDash val="solid"/>
          </a:ln>
        </p:spPr>
      </p:sp>
      <p:sp>
        <p:nvSpPr>
          <p:cNvPr id="38" name="Text 35"/>
          <p:cNvSpPr txBox="1"/>
          <p:nvPr/>
        </p:nvSpPr>
        <p:spPr>
          <a:xfrm>
            <a:off x="5669280" y="1188720"/>
            <a:ext cx="292608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ORDEN ESTABLE DE EJECUCIÓN</a:t>
            </a:r>
            <a:endParaRPr lang="en-US" sz="750" dirty="0"/>
          </a:p>
        </p:txBody>
      </p:sp>
      <p:sp>
        <p:nvSpPr>
          <p:cNvPr id="39" name="Text 36"/>
          <p:cNvSpPr txBox="1"/>
          <p:nvPr/>
        </p:nvSpPr>
        <p:spPr>
          <a:xfrm>
            <a:off x="5669280" y="1463040"/>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01  </a:t>
            </a:r>
            <a:pPr indent="0" marL="0">
              <a:buNone/>
            </a:pPr>
            <a:r>
              <a:rPr lang="en-US" sz="900" dirty="0">
                <a:solidFill>
                  <a:srgbClr val="FFFFFF"/>
                </a:solidFill>
                <a:latin typeface="Courier New" pitchFamily="34" charset="0"/>
                <a:ea typeface="Courier New" pitchFamily="34" charset="-122"/>
                <a:cs typeface="Courier New" pitchFamily="34" charset="-120"/>
              </a:rPr>
              <a:t>descodificar HTML</a:t>
            </a:r>
            <a:endParaRPr lang="en-US" sz="900" dirty="0"/>
          </a:p>
        </p:txBody>
      </p:sp>
      <p:sp>
        <p:nvSpPr>
          <p:cNvPr id="40" name="Text 37"/>
          <p:cNvSpPr txBox="1"/>
          <p:nvPr/>
        </p:nvSpPr>
        <p:spPr>
          <a:xfrm>
            <a:off x="5669280" y="1709928"/>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02  </a:t>
            </a:r>
            <a:pPr indent="0" marL="0">
              <a:buNone/>
            </a:pPr>
            <a:r>
              <a:rPr lang="en-US" sz="900" dirty="0">
                <a:solidFill>
                  <a:srgbClr val="FFFFFF"/>
                </a:solidFill>
                <a:latin typeface="Courier New" pitchFamily="34" charset="0"/>
                <a:ea typeface="Courier New" pitchFamily="34" charset="-122"/>
                <a:cs typeface="Courier New" pitchFamily="34" charset="-120"/>
              </a:rPr>
              <a:t>minúsculas</a:t>
            </a:r>
            <a:endParaRPr lang="en-US" sz="900" dirty="0"/>
          </a:p>
        </p:txBody>
      </p:sp>
      <p:sp>
        <p:nvSpPr>
          <p:cNvPr id="41" name="Text 38"/>
          <p:cNvSpPr txBox="1"/>
          <p:nvPr/>
        </p:nvSpPr>
        <p:spPr>
          <a:xfrm>
            <a:off x="5669280" y="1956816"/>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03  </a:t>
            </a:r>
            <a:pPr indent="0" marL="0">
              <a:buNone/>
            </a:pPr>
            <a:r>
              <a:rPr lang="en-US" sz="900" dirty="0">
                <a:solidFill>
                  <a:srgbClr val="FFFFFF"/>
                </a:solidFill>
                <a:latin typeface="Courier New" pitchFamily="34" charset="0"/>
                <a:ea typeface="Courier New" pitchFamily="34" charset="-122"/>
                <a:cs typeface="Courier New" pitchFamily="34" charset="-120"/>
              </a:rPr>
              <a:t>url / usuario</a:t>
            </a:r>
            <a:endParaRPr lang="en-US" sz="900" dirty="0"/>
          </a:p>
        </p:txBody>
      </p:sp>
      <p:sp>
        <p:nvSpPr>
          <p:cNvPr id="42" name="Text 39"/>
          <p:cNvSpPr txBox="1"/>
          <p:nvPr/>
        </p:nvSpPr>
        <p:spPr>
          <a:xfrm>
            <a:off x="5669280" y="2203704"/>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04  </a:t>
            </a:r>
            <a:pPr indent="0" marL="0">
              <a:buNone/>
            </a:pPr>
            <a:r>
              <a:rPr lang="en-US" sz="900" dirty="0">
                <a:solidFill>
                  <a:srgbClr val="FFFFFF"/>
                </a:solidFill>
                <a:latin typeface="Courier New" pitchFamily="34" charset="0"/>
                <a:ea typeface="Courier New" pitchFamily="34" charset="-122"/>
                <a:cs typeface="Courier New" pitchFamily="34" charset="-120"/>
              </a:rPr>
              <a:t>término base de #hashtag</a:t>
            </a:r>
            <a:endParaRPr lang="en-US" sz="900" dirty="0"/>
          </a:p>
        </p:txBody>
      </p:sp>
      <p:sp>
        <p:nvSpPr>
          <p:cNvPr id="43" name="Text 40"/>
          <p:cNvSpPr txBox="1"/>
          <p:nvPr/>
        </p:nvSpPr>
        <p:spPr>
          <a:xfrm>
            <a:off x="5669280" y="2450592"/>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05  </a:t>
            </a:r>
            <a:pPr indent="0" marL="0">
              <a:buNone/>
            </a:pPr>
            <a:r>
              <a:rPr lang="en-US" sz="900" dirty="0">
                <a:solidFill>
                  <a:srgbClr val="FFFFFF"/>
                </a:solidFill>
                <a:latin typeface="Courier New" pitchFamily="34" charset="0"/>
                <a:ea typeface="Courier New" pitchFamily="34" charset="-122"/>
                <a:cs typeface="Courier New" pitchFamily="34" charset="-120"/>
              </a:rPr>
              <a:t>eliminar fuera de clase</a:t>
            </a:r>
            <a:endParaRPr lang="en-US" sz="900" dirty="0"/>
          </a:p>
        </p:txBody>
      </p:sp>
      <p:sp>
        <p:nvSpPr>
          <p:cNvPr id="44" name="Text 41"/>
          <p:cNvSpPr txBox="1"/>
          <p:nvPr/>
        </p:nvSpPr>
        <p:spPr>
          <a:xfrm>
            <a:off x="5669280" y="2697480"/>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06  </a:t>
            </a:r>
            <a:pPr indent="0" marL="0">
              <a:buNone/>
            </a:pPr>
            <a:r>
              <a:rPr lang="en-US" sz="900" dirty="0">
                <a:solidFill>
                  <a:srgbClr val="FFFFFF"/>
                </a:solidFill>
                <a:latin typeface="Courier New" pitchFamily="34" charset="0"/>
                <a:ea typeface="Courier New" pitchFamily="34" charset="-122"/>
                <a:cs typeface="Courier New" pitchFamily="34" charset="-120"/>
              </a:rPr>
              <a:t>compactar espacios</a:t>
            </a:r>
            <a:endParaRPr lang="en-US" sz="900" dirty="0"/>
          </a:p>
        </p:txBody>
      </p:sp>
      <p:sp>
        <p:nvSpPr>
          <p:cNvPr id="45" name="Text 42"/>
          <p:cNvSpPr txBox="1"/>
          <p:nvPr/>
        </p:nvSpPr>
        <p:spPr>
          <a:xfrm>
            <a:off x="5669280" y="2944368"/>
            <a:ext cx="292608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07  </a:t>
            </a:r>
            <a:pPr indent="0" marL="0">
              <a:buNone/>
            </a:pPr>
            <a:r>
              <a:rPr lang="en-US" sz="900" dirty="0">
                <a:solidFill>
                  <a:srgbClr val="FFFFFF"/>
                </a:solidFill>
                <a:latin typeface="Courier New" pitchFamily="34" charset="0"/>
                <a:ea typeface="Courier New" pitchFamily="34" charset="-122"/>
                <a:cs typeface="Courier New" pitchFamily="34" charset="-120"/>
              </a:rPr>
              <a:t>tokenizar</a:t>
            </a:r>
            <a:endParaRPr lang="en-US" sz="900" dirty="0"/>
          </a:p>
        </p:txBody>
      </p:sp>
      <p:sp>
        <p:nvSpPr>
          <p:cNvPr id="46" name="Shape 43"/>
          <p:cNvSpPr/>
          <p:nvPr/>
        </p:nvSpPr>
        <p:spPr>
          <a:xfrm>
            <a:off x="5669280" y="3291840"/>
            <a:ext cx="2880360" cy="0"/>
          </a:xfrm>
          <a:prstGeom prst="line">
            <a:avLst/>
          </a:prstGeom>
          <a:noFill/>
          <a:ln w="9525">
            <a:solidFill>
              <a:srgbClr val="3A4250"/>
            </a:solidFill>
            <a:prstDash val="solid"/>
          </a:ln>
        </p:spPr>
      </p:sp>
      <p:sp>
        <p:nvSpPr>
          <p:cNvPr id="47" name="Text 44"/>
          <p:cNvSpPr txBox="1"/>
          <p:nvPr/>
        </p:nvSpPr>
        <p:spPr>
          <a:xfrm>
            <a:off x="5669280" y="3383280"/>
            <a:ext cx="2926080" cy="182880"/>
          </a:xfrm>
          <a:prstGeom prst="rect">
            <a:avLst/>
          </a:prstGeom>
          <a:noFill/>
          <a:ln/>
        </p:spPr>
        <p:txBody>
          <a:bodyPr wrap="square" lIns="0" tIns="0" rIns="0" bIns="0" rtlCol="0" anchor="ctr"/>
          <a:lstStyle/>
          <a:p>
            <a:pPr indent="0" marL="0">
              <a:buNone/>
            </a:pPr>
            <a:r>
              <a:rPr lang="en-US" sz="750" b="1" spc="150" kern="0" dirty="0">
                <a:solidFill>
                  <a:srgbClr val="AEB6C4"/>
                </a:solidFill>
                <a:latin typeface="Calibri" pitchFamily="34" charset="0"/>
                <a:ea typeface="Calibri" pitchFamily="34" charset="-122"/>
                <a:cs typeface="Calibri" pitchFamily="34" charset="-120"/>
              </a:rPr>
              <a:t>SALIDA PERSISTIDA</a:t>
            </a:r>
            <a:endParaRPr lang="en-US" sz="750" dirty="0"/>
          </a:p>
        </p:txBody>
      </p:sp>
      <p:sp>
        <p:nvSpPr>
          <p:cNvPr id="48" name="Text 45"/>
          <p:cNvSpPr txBox="1"/>
          <p:nvPr/>
        </p:nvSpPr>
        <p:spPr>
          <a:xfrm>
            <a:off x="5669280" y="3611880"/>
            <a:ext cx="2926080" cy="548640"/>
          </a:xfrm>
          <a:prstGeom prst="rect">
            <a:avLst/>
          </a:prstGeom>
          <a:noFill/>
          <a:ln/>
        </p:spPr>
        <p:txBody>
          <a:bodyPr wrap="square" lIns="0" tIns="0" rIns="0" bIns="0" rtlCol="0" anchor="ctr"/>
          <a:lstStyle/>
          <a:p>
            <a:pPr indent="0" marL="0">
              <a:buNone/>
            </a:pPr>
            <a:r>
              <a:rPr lang="en-US" sz="850" dirty="0">
                <a:solidFill>
                  <a:srgbClr val="7FD1A8"/>
                </a:solidFill>
                <a:latin typeface="Courier New" pitchFamily="34" charset="0"/>
                <a:ea typeface="Courier New" pitchFamily="34" charset="-122"/>
                <a:cs typeface="Courier New" pitchFamily="34" charset="-120"/>
              </a:rPr>
              <a:t>normalized_text · tokens · token_count · language · quality_flags · is_usable</a:t>
            </a:r>
            <a:endParaRPr lang="en-US" sz="850" dirty="0"/>
          </a:p>
        </p:txBody>
      </p:sp>
      <p:sp>
        <p:nvSpPr>
          <p:cNvPr id="49" name="Text 46"/>
          <p:cNvSpPr txBox="1"/>
          <p:nvPr/>
        </p:nvSpPr>
        <p:spPr>
          <a:xfrm>
            <a:off x="5669280" y="4206240"/>
            <a:ext cx="2926080" cy="411480"/>
          </a:xfrm>
          <a:prstGeom prst="rect">
            <a:avLst/>
          </a:prstGeom>
          <a:noFill/>
          <a:ln/>
        </p:spPr>
        <p:txBody>
          <a:bodyPr wrap="square" lIns="0" tIns="0" rIns="0" bIns="0" rtlCol="0" anchor="t"/>
          <a:lstStyle/>
          <a:p>
            <a:pPr indent="0" marL="0">
              <a:buNone/>
            </a:pPr>
            <a:r>
              <a:rPr lang="en-US" sz="850" dirty="0">
                <a:solidFill>
                  <a:srgbClr val="AEB6C4"/>
                </a:solidFill>
                <a:latin typeface="Calibri" pitchFamily="34" charset="0"/>
                <a:ea typeface="Calibri" pitchFamily="34" charset="-122"/>
                <a:cs typeface="Calibri" pitchFamily="34" charset="-120"/>
              </a:rPr>
              <a:t>Detector de idioma con semilla fija: mejora la repetibilidad, pero no certifica el idioma.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Shape 4"/>
          <p:cNvSpPr/>
          <p:nvPr/>
        </p:nvSpPr>
        <p:spPr>
          <a:xfrm>
            <a:off x="2739542" y="4914900"/>
            <a:ext cx="782726" cy="187452"/>
          </a:xfrm>
          <a:prstGeom prst="roundRect">
            <a:avLst>
              <a:gd name="adj" fmla="val 19512"/>
            </a:avLst>
          </a:prstGeom>
          <a:solidFill>
            <a:srgbClr val="CA061C"/>
          </a:solidFill>
          <a:ln w="12700">
            <a:solidFill>
              <a:srgbClr val="CA061C"/>
            </a:solidFill>
            <a:prstDash val="solid"/>
          </a:ln>
        </p:spPr>
      </p:sp>
      <p:sp>
        <p:nvSpPr>
          <p:cNvPr id="7" name="Text 5"/>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 Desarrollo</a:t>
            </a:r>
            <a:endParaRPr lang="en-US" sz="750" dirty="0"/>
          </a:p>
        </p:txBody>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13</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4 · DESARROLLO · ARTEFACTOS, REPRODUCCIÓN Y PRUEBAS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Cada cifra, trazable hasta su ejecución</a:t>
            </a:r>
            <a:endParaRPr lang="en-US" sz="2400" dirty="0"/>
          </a:p>
        </p:txBody>
      </p:sp>
      <p:sp>
        <p:nvSpPr>
          <p:cNvPr id="14" name="Shape 11"/>
          <p:cNvSpPr/>
          <p:nvPr/>
        </p:nvSpPr>
        <p:spPr>
          <a:xfrm>
            <a:off x="411480" y="1051560"/>
            <a:ext cx="4572000" cy="3630168"/>
          </a:xfrm>
          <a:prstGeom prst="roundRect">
            <a:avLst>
              <a:gd name="adj" fmla="val 1511"/>
            </a:avLst>
          </a:prstGeom>
          <a:solidFill>
            <a:srgbClr val="141821"/>
          </a:solidFill>
          <a:ln w="9525">
            <a:solidFill>
              <a:srgbClr val="141821"/>
            </a:solidFill>
            <a:prstDash val="solid"/>
          </a:ln>
        </p:spPr>
      </p:sp>
      <p:sp>
        <p:nvSpPr>
          <p:cNvPr id="15" name="Text 12"/>
          <p:cNvSpPr txBox="1"/>
          <p:nvPr/>
        </p:nvSpPr>
        <p:spPr>
          <a:xfrm>
            <a:off x="621792" y="1188720"/>
            <a:ext cx="420624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IDENTIDAD DE LA EJECUCIÓN PRINCIPAL</a:t>
            </a:r>
            <a:endParaRPr lang="en-US" sz="750" dirty="0"/>
          </a:p>
        </p:txBody>
      </p:sp>
      <p:sp>
        <p:nvSpPr>
          <p:cNvPr id="16" name="Text 13"/>
          <p:cNvSpPr txBox="1"/>
          <p:nvPr/>
        </p:nvSpPr>
        <p:spPr>
          <a:xfrm>
            <a:off x="621792" y="1463040"/>
            <a:ext cx="420624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run_id   </a:t>
            </a:r>
            <a:pPr indent="0" marL="0">
              <a:buNone/>
            </a:pPr>
            <a:r>
              <a:rPr lang="en-US" sz="900" b="1" dirty="0">
                <a:solidFill>
                  <a:srgbClr val="FF8A96"/>
                </a:solidFill>
                <a:latin typeface="Courier New" pitchFamily="34" charset="0"/>
                <a:ea typeface="Courier New" pitchFamily="34" charset="-122"/>
                <a:cs typeface="Courier New" pitchFamily="34" charset="-120"/>
              </a:rPr>
              <a:t>robustness-1a94400d502b149f</a:t>
            </a:r>
            <a:endParaRPr lang="en-US" sz="900" dirty="0"/>
          </a:p>
        </p:txBody>
      </p:sp>
      <p:sp>
        <p:nvSpPr>
          <p:cNvPr id="17" name="Text 14"/>
          <p:cNvSpPr txBox="1"/>
          <p:nvPr/>
        </p:nvSpPr>
        <p:spPr>
          <a:xfrm>
            <a:off x="621792" y="1709928"/>
            <a:ext cx="420624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fuente   </a:t>
            </a:r>
            <a:pPr indent="0" marL="0">
              <a:buNone/>
            </a:pPr>
            <a:r>
              <a:rPr lang="en-US" sz="900" dirty="0">
                <a:solidFill>
                  <a:srgbClr val="FFFFFF"/>
                </a:solidFill>
                <a:latin typeface="Courier New" pitchFamily="34" charset="0"/>
                <a:ea typeface="Courier New" pitchFamily="34" charset="-122"/>
                <a:cs typeface="Courier New" pitchFamily="34" charset="-120"/>
              </a:rPr>
              <a:t>cfaf1b39c026…b1</a:t>
            </a:r>
            <a:endParaRPr lang="en-US" sz="900" dirty="0"/>
          </a:p>
        </p:txBody>
      </p:sp>
      <p:sp>
        <p:nvSpPr>
          <p:cNvPr id="18" name="Text 15"/>
          <p:cNvSpPr txBox="1"/>
          <p:nvPr/>
        </p:nvSpPr>
        <p:spPr>
          <a:xfrm>
            <a:off x="621792" y="1956816"/>
            <a:ext cx="420624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corpus   </a:t>
            </a:r>
            <a:pPr indent="0" marL="0">
              <a:buNone/>
            </a:pPr>
            <a:r>
              <a:rPr lang="en-US" sz="900" dirty="0">
                <a:solidFill>
                  <a:srgbClr val="FFFFFF"/>
                </a:solidFill>
                <a:latin typeface="Courier New" pitchFamily="34" charset="0"/>
                <a:ea typeface="Courier New" pitchFamily="34" charset="-122"/>
                <a:cs typeface="Courier New" pitchFamily="34" charset="-120"/>
              </a:rPr>
              <a:t>184c707840a4…ea4e</a:t>
            </a:r>
            <a:endParaRPr lang="en-US" sz="900" dirty="0"/>
          </a:p>
        </p:txBody>
      </p:sp>
      <p:sp>
        <p:nvSpPr>
          <p:cNvPr id="19" name="Text 16"/>
          <p:cNvSpPr txBox="1"/>
          <p:nvPr/>
        </p:nvSpPr>
        <p:spPr>
          <a:xfrm>
            <a:off x="621792" y="2203704"/>
            <a:ext cx="420624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config   </a:t>
            </a:r>
            <a:pPr indent="0" marL="0">
              <a:buNone/>
            </a:pPr>
            <a:r>
              <a:rPr lang="en-US" sz="900" dirty="0">
                <a:solidFill>
                  <a:srgbClr val="FFFFFF"/>
                </a:solidFill>
                <a:latin typeface="Courier New" pitchFamily="34" charset="0"/>
                <a:ea typeface="Courier New" pitchFamily="34" charset="-122"/>
                <a:cs typeface="Courier New" pitchFamily="34" charset="-120"/>
              </a:rPr>
              <a:t>98ab0ed4887b…787e</a:t>
            </a:r>
            <a:endParaRPr lang="en-US" sz="900" dirty="0"/>
          </a:p>
        </p:txBody>
      </p:sp>
      <p:sp>
        <p:nvSpPr>
          <p:cNvPr id="20" name="Text 17"/>
          <p:cNvSpPr txBox="1"/>
          <p:nvPr/>
        </p:nvSpPr>
        <p:spPr>
          <a:xfrm>
            <a:off x="621792" y="2450592"/>
            <a:ext cx="4206240" cy="228600"/>
          </a:xfrm>
          <a:prstGeom prst="rect">
            <a:avLst/>
          </a:prstGeom>
          <a:noFill/>
          <a:ln/>
        </p:spPr>
        <p:txBody>
          <a:bodyPr wrap="square" lIns="0" tIns="0" rIns="0" bIns="0" rtlCol="0" anchor="ctr"/>
          <a:lstStyle/>
          <a:p>
            <a:pPr indent="0" marL="0">
              <a:buNone/>
            </a:pPr>
            <a:r>
              <a:rPr lang="en-US" sz="900" dirty="0">
                <a:solidFill>
                  <a:srgbClr val="8A93A3"/>
                </a:solidFill>
                <a:latin typeface="Courier New" pitchFamily="34" charset="0"/>
                <a:ea typeface="Courier New" pitchFamily="34" charset="-122"/>
                <a:cs typeface="Courier New" pitchFamily="34" charset="-120"/>
              </a:rPr>
              <a:t>ejecutor </a:t>
            </a:r>
            <a:pPr indent="0" marL="0">
              <a:buNone/>
            </a:pPr>
            <a:r>
              <a:rPr lang="en-US" sz="900" dirty="0">
                <a:solidFill>
                  <a:srgbClr val="FFFFFF"/>
                </a:solidFill>
                <a:latin typeface="Courier New" pitchFamily="34" charset="0"/>
                <a:ea typeface="Courier New" pitchFamily="34" charset="-122"/>
                <a:cs typeface="Courier New" pitchFamily="34" charset="-120"/>
              </a:rPr>
              <a:t>83569de79e51…34e8</a:t>
            </a:r>
            <a:endParaRPr lang="en-US" sz="900" dirty="0"/>
          </a:p>
        </p:txBody>
      </p:sp>
      <p:sp>
        <p:nvSpPr>
          <p:cNvPr id="21" name="Shape 18"/>
          <p:cNvSpPr/>
          <p:nvPr/>
        </p:nvSpPr>
        <p:spPr>
          <a:xfrm>
            <a:off x="621792" y="2779776"/>
            <a:ext cx="4160520" cy="0"/>
          </a:xfrm>
          <a:prstGeom prst="line">
            <a:avLst/>
          </a:prstGeom>
          <a:noFill/>
          <a:ln w="9525">
            <a:solidFill>
              <a:srgbClr val="3A4250"/>
            </a:solidFill>
            <a:prstDash val="solid"/>
          </a:ln>
        </p:spPr>
      </p:sp>
      <p:sp>
        <p:nvSpPr>
          <p:cNvPr id="22" name="Text 19"/>
          <p:cNvSpPr txBox="1"/>
          <p:nvPr/>
        </p:nvSpPr>
        <p:spPr>
          <a:xfrm>
            <a:off x="621792" y="2871216"/>
            <a:ext cx="4206240" cy="182880"/>
          </a:xfrm>
          <a:prstGeom prst="rect">
            <a:avLst/>
          </a:prstGeom>
          <a:noFill/>
          <a:ln/>
        </p:spPr>
        <p:txBody>
          <a:bodyPr wrap="square" lIns="0" tIns="0" rIns="0" bIns="0" rtlCol="0" anchor="ctr"/>
          <a:lstStyle/>
          <a:p>
            <a:pPr indent="0" marL="0">
              <a:buNone/>
            </a:pPr>
            <a:r>
              <a:rPr lang="en-US" sz="750" b="1" spc="150" kern="0" dirty="0">
                <a:solidFill>
                  <a:srgbClr val="AEB6C4"/>
                </a:solidFill>
                <a:latin typeface="Calibri" pitchFamily="34" charset="0"/>
                <a:ea typeface="Calibri" pitchFamily="34" charset="-122"/>
                <a:cs typeface="Calibri" pitchFamily="34" charset="-120"/>
              </a:rPr>
              <a:t>ARTEFACTOS PERSISTIDOS</a:t>
            </a:r>
            <a:endParaRPr lang="en-US" sz="750" dirty="0"/>
          </a:p>
        </p:txBody>
      </p:sp>
      <p:sp>
        <p:nvSpPr>
          <p:cNvPr id="23" name="Text 20"/>
          <p:cNvSpPr txBox="1"/>
          <p:nvPr/>
        </p:nvSpPr>
        <p:spPr>
          <a:xfrm>
            <a:off x="621792" y="3108960"/>
            <a:ext cx="4160520" cy="685800"/>
          </a:xfrm>
          <a:prstGeom prst="rect">
            <a:avLst/>
          </a:prstGeom>
          <a:noFill/>
          <a:ln/>
        </p:spPr>
        <p:txBody>
          <a:bodyPr wrap="square" lIns="0" tIns="0" rIns="0" bIns="0" rtlCol="0" anchor="ctr"/>
          <a:lstStyle/>
          <a:p>
            <a:pPr indent="0" marL="0">
              <a:buNone/>
            </a:pPr>
            <a:r>
              <a:rPr lang="en-US" sz="850" dirty="0">
                <a:solidFill>
                  <a:srgbClr val="7FD1A8"/>
                </a:solidFill>
                <a:latin typeface="Courier New" pitchFamily="34" charset="0"/>
                <a:ea typeface="Courier New" pitchFamily="34" charset="-122"/>
                <a:cs typeface="Courier New" pitchFamily="34" charset="-120"/>
              </a:rPr>
              <a:t>robustness_manifest.json · protocol.json · preparation.json · exclusion_audit.csv · fold_assignments.csv · *_oof_predictions.csv · *_fold_*.json · transfer_*.json · modelos</a:t>
            </a:r>
            <a:endParaRPr lang="en-US" sz="850" dirty="0"/>
          </a:p>
        </p:txBody>
      </p:sp>
      <p:sp>
        <p:nvSpPr>
          <p:cNvPr id="24" name="Text 21"/>
          <p:cNvSpPr txBox="1"/>
          <p:nvPr/>
        </p:nvSpPr>
        <p:spPr>
          <a:xfrm>
            <a:off x="621792" y="3931920"/>
            <a:ext cx="4160520" cy="54864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Tres niveles: </a:t>
            </a:r>
            <a:pPr indent="0" marL="0">
              <a:buNone/>
            </a:pPr>
            <a:r>
              <a:rPr lang="en-US" sz="950" dirty="0">
                <a:solidFill>
                  <a:srgbClr val="AEB6C4"/>
                </a:solidFill>
                <a:latin typeface="Calibri" pitchFamily="34" charset="0"/>
                <a:ea typeface="Calibri" pitchFamily="34" charset="-122"/>
                <a:cs typeface="Calibri" pitchFamily="34" charset="-120"/>
              </a:rPr>
              <a:t>configuración JSON · carpeta propia por run · validación antes de entrenar.</a:t>
            </a:r>
            <a:endParaRPr lang="en-US" sz="950" dirty="0"/>
          </a:p>
        </p:txBody>
      </p:sp>
      <p:sp>
        <p:nvSpPr>
          <p:cNvPr id="25" name="Shape 22"/>
          <p:cNvSpPr/>
          <p:nvPr/>
        </p:nvSpPr>
        <p:spPr>
          <a:xfrm>
            <a:off x="5120640" y="1051560"/>
            <a:ext cx="1600200" cy="1600200"/>
          </a:xfrm>
          <a:prstGeom prst="roundRect">
            <a:avLst>
              <a:gd name="adj" fmla="val 3429"/>
            </a:avLst>
          </a:prstGeom>
          <a:solidFill>
            <a:srgbClr val="CA061C"/>
          </a:solidFill>
          <a:ln w="9525">
            <a:solidFill>
              <a:srgbClr val="CA061C"/>
            </a:solidFill>
            <a:prstDash val="solid"/>
          </a:ln>
        </p:spPr>
      </p:sp>
      <p:sp>
        <p:nvSpPr>
          <p:cNvPr id="26" name="Text 23"/>
          <p:cNvSpPr txBox="1"/>
          <p:nvPr/>
        </p:nvSpPr>
        <p:spPr>
          <a:xfrm>
            <a:off x="5120640" y="1188720"/>
            <a:ext cx="1600200" cy="6858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28</a:t>
            </a:r>
            <a:endParaRPr lang="en-US" sz="4000" dirty="0"/>
          </a:p>
        </p:txBody>
      </p:sp>
      <p:sp>
        <p:nvSpPr>
          <p:cNvPr id="27" name="Text 24"/>
          <p:cNvSpPr txBox="1"/>
          <p:nvPr/>
        </p:nvSpPr>
        <p:spPr>
          <a:xfrm>
            <a:off x="5212080" y="1920240"/>
            <a:ext cx="1417320" cy="54864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pruebas superadas · 0 fallidas</a:t>
            </a:r>
            <a:endParaRPr lang="en-US" sz="950" dirty="0"/>
          </a:p>
        </p:txBody>
      </p:sp>
      <p:sp>
        <p:nvSpPr>
          <p:cNvPr id="28" name="Shape 25"/>
          <p:cNvSpPr/>
          <p:nvPr/>
        </p:nvSpPr>
        <p:spPr>
          <a:xfrm>
            <a:off x="6858000" y="1051560"/>
            <a:ext cx="1874520" cy="1600200"/>
          </a:xfrm>
          <a:prstGeom prst="roundRect">
            <a:avLst>
              <a:gd name="adj" fmla="val 3429"/>
            </a:avLst>
          </a:prstGeom>
          <a:solidFill>
            <a:srgbClr val="EEF1F6"/>
          </a:solidFill>
          <a:ln w="9525">
            <a:solidFill>
              <a:srgbClr val="EEF1F6"/>
            </a:solidFill>
            <a:prstDash val="solid"/>
          </a:ln>
        </p:spPr>
      </p:sp>
      <p:sp>
        <p:nvSpPr>
          <p:cNvPr id="29" name="Text 26"/>
          <p:cNvSpPr txBox="1"/>
          <p:nvPr/>
        </p:nvSpPr>
        <p:spPr>
          <a:xfrm>
            <a:off x="6967728" y="1133856"/>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Robustez agrupada</a:t>
            </a:r>
            <a:endParaRPr lang="en-US" sz="850" dirty="0"/>
          </a:p>
        </p:txBody>
      </p:sp>
      <p:sp>
        <p:nvSpPr>
          <p:cNvPr id="30" name="Text 27"/>
          <p:cNvSpPr txBox="1"/>
          <p:nvPr/>
        </p:nvSpPr>
        <p:spPr>
          <a:xfrm>
            <a:off x="8321040" y="1133856"/>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12</a:t>
            </a:r>
            <a:endParaRPr lang="en-US" sz="850" dirty="0"/>
          </a:p>
        </p:txBody>
      </p:sp>
      <p:sp>
        <p:nvSpPr>
          <p:cNvPr id="31" name="Text 28"/>
          <p:cNvSpPr txBox="1"/>
          <p:nvPr/>
        </p:nvSpPr>
        <p:spPr>
          <a:xfrm>
            <a:off x="6967728" y="1335024"/>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Preprocesamiento</a:t>
            </a:r>
            <a:endParaRPr lang="en-US" sz="850" dirty="0"/>
          </a:p>
        </p:txBody>
      </p:sp>
      <p:sp>
        <p:nvSpPr>
          <p:cNvPr id="32" name="Text 29"/>
          <p:cNvSpPr txBox="1"/>
          <p:nvPr/>
        </p:nvSpPr>
        <p:spPr>
          <a:xfrm>
            <a:off x="8321040" y="1335024"/>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4</a:t>
            </a:r>
            <a:endParaRPr lang="en-US" sz="850" dirty="0"/>
          </a:p>
        </p:txBody>
      </p:sp>
      <p:sp>
        <p:nvSpPr>
          <p:cNvPr id="33" name="Text 30"/>
          <p:cNvSpPr txBox="1"/>
          <p:nvPr/>
        </p:nvSpPr>
        <p:spPr>
          <a:xfrm>
            <a:off x="6967728" y="1536192"/>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Corpus y validación</a:t>
            </a:r>
            <a:endParaRPr lang="en-US" sz="850" dirty="0"/>
          </a:p>
        </p:txBody>
      </p:sp>
      <p:sp>
        <p:nvSpPr>
          <p:cNvPr id="34" name="Text 31"/>
          <p:cNvSpPr txBox="1"/>
          <p:nvPr/>
        </p:nvSpPr>
        <p:spPr>
          <a:xfrm>
            <a:off x="8321040" y="1536192"/>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3</a:t>
            </a:r>
            <a:endParaRPr lang="en-US" sz="850" dirty="0"/>
          </a:p>
        </p:txBody>
      </p:sp>
      <p:sp>
        <p:nvSpPr>
          <p:cNvPr id="35" name="Text 32"/>
          <p:cNvSpPr txBox="1"/>
          <p:nvPr/>
        </p:nvSpPr>
        <p:spPr>
          <a:xfrm>
            <a:off x="6967728" y="1737360"/>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Telegram simulado</a:t>
            </a:r>
            <a:endParaRPr lang="en-US" sz="850" dirty="0"/>
          </a:p>
        </p:txBody>
      </p:sp>
      <p:sp>
        <p:nvSpPr>
          <p:cNvPr id="36" name="Text 33"/>
          <p:cNvSpPr txBox="1"/>
          <p:nvPr/>
        </p:nvSpPr>
        <p:spPr>
          <a:xfrm>
            <a:off x="8321040" y="1737360"/>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3</a:t>
            </a:r>
            <a:endParaRPr lang="en-US" sz="850" dirty="0"/>
          </a:p>
        </p:txBody>
      </p:sp>
      <p:sp>
        <p:nvSpPr>
          <p:cNvPr id="37" name="Text 34"/>
          <p:cNvSpPr txBox="1"/>
          <p:nvPr/>
        </p:nvSpPr>
        <p:spPr>
          <a:xfrm>
            <a:off x="6967728" y="1938528"/>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Análisis</a:t>
            </a:r>
            <a:endParaRPr lang="en-US" sz="850" dirty="0"/>
          </a:p>
        </p:txBody>
      </p:sp>
      <p:sp>
        <p:nvSpPr>
          <p:cNvPr id="38" name="Text 35"/>
          <p:cNvSpPr txBox="1"/>
          <p:nvPr/>
        </p:nvSpPr>
        <p:spPr>
          <a:xfrm>
            <a:off x="8321040" y="1938528"/>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3</a:t>
            </a:r>
            <a:endParaRPr lang="en-US" sz="850" dirty="0"/>
          </a:p>
        </p:txBody>
      </p:sp>
      <p:sp>
        <p:nvSpPr>
          <p:cNvPr id="39" name="Text 36"/>
          <p:cNvSpPr txBox="1"/>
          <p:nvPr/>
        </p:nvSpPr>
        <p:spPr>
          <a:xfrm>
            <a:off x="6967728" y="2139696"/>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Entrenamiento</a:t>
            </a:r>
            <a:endParaRPr lang="en-US" sz="850" dirty="0"/>
          </a:p>
        </p:txBody>
      </p:sp>
      <p:sp>
        <p:nvSpPr>
          <p:cNvPr id="40" name="Text 37"/>
          <p:cNvSpPr txBox="1"/>
          <p:nvPr/>
        </p:nvSpPr>
        <p:spPr>
          <a:xfrm>
            <a:off x="8321040" y="2139696"/>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2</a:t>
            </a:r>
            <a:endParaRPr lang="en-US" sz="850" dirty="0"/>
          </a:p>
        </p:txBody>
      </p:sp>
      <p:sp>
        <p:nvSpPr>
          <p:cNvPr id="41" name="Text 38"/>
          <p:cNvSpPr txBox="1"/>
          <p:nvPr/>
        </p:nvSpPr>
        <p:spPr>
          <a:xfrm>
            <a:off x="6967728" y="2340864"/>
            <a:ext cx="1417320" cy="192024"/>
          </a:xfrm>
          <a:prstGeom prst="rect">
            <a:avLst/>
          </a:prstGeom>
          <a:noFill/>
          <a:ln/>
        </p:spPr>
        <p:txBody>
          <a:bodyPr wrap="square" lIns="0" tIns="0" rIns="0" bIns="0" rtlCol="0" anchor="ctr"/>
          <a:lstStyle/>
          <a:p>
            <a:pPr indent="0" marL="0">
              <a:buNone/>
            </a:pPr>
            <a:r>
              <a:rPr lang="en-US" sz="850" dirty="0">
                <a:solidFill>
                  <a:srgbClr val="141821"/>
                </a:solidFill>
                <a:latin typeface="Calibri" pitchFamily="34" charset="0"/>
                <a:ea typeface="Calibri" pitchFamily="34" charset="-122"/>
                <a:cs typeface="Calibri" pitchFamily="34" charset="-120"/>
              </a:rPr>
              <a:t>Evaluación</a:t>
            </a:r>
            <a:endParaRPr lang="en-US" sz="850" dirty="0"/>
          </a:p>
        </p:txBody>
      </p:sp>
      <p:sp>
        <p:nvSpPr>
          <p:cNvPr id="42" name="Text 39"/>
          <p:cNvSpPr txBox="1"/>
          <p:nvPr/>
        </p:nvSpPr>
        <p:spPr>
          <a:xfrm>
            <a:off x="8321040" y="2340864"/>
            <a:ext cx="320040" cy="192024"/>
          </a:xfrm>
          <a:prstGeom prst="rect">
            <a:avLst/>
          </a:prstGeom>
          <a:noFill/>
          <a:ln/>
        </p:spPr>
        <p:txBody>
          <a:bodyPr wrap="square" lIns="0" tIns="0" rIns="0" bIns="0" rtlCol="0" anchor="ctr"/>
          <a:lstStyle/>
          <a:p>
            <a:pPr algn="r" indent="0" marL="0">
              <a:buNone/>
            </a:pPr>
            <a:r>
              <a:rPr lang="en-US" sz="850" b="1" dirty="0">
                <a:solidFill>
                  <a:srgbClr val="CA061C"/>
                </a:solidFill>
                <a:latin typeface="Courier New" pitchFamily="34" charset="0"/>
                <a:ea typeface="Courier New" pitchFamily="34" charset="-122"/>
                <a:cs typeface="Courier New" pitchFamily="34" charset="-120"/>
              </a:rPr>
              <a:t>1</a:t>
            </a:r>
            <a:endParaRPr lang="en-US" sz="850" dirty="0"/>
          </a:p>
        </p:txBody>
      </p:sp>
      <p:sp>
        <p:nvSpPr>
          <p:cNvPr id="43" name="Shape 40"/>
          <p:cNvSpPr/>
          <p:nvPr/>
        </p:nvSpPr>
        <p:spPr>
          <a:xfrm>
            <a:off x="5120640" y="2788920"/>
            <a:ext cx="3611880" cy="1892808"/>
          </a:xfrm>
          <a:prstGeom prst="roundRect">
            <a:avLst>
              <a:gd name="adj" fmla="val 2899"/>
            </a:avLst>
          </a:prstGeom>
          <a:solidFill>
            <a:srgbClr val="FFFFFF"/>
          </a:solidFill>
          <a:ln w="9525">
            <a:solidFill>
              <a:srgbClr val="D5DAE2"/>
            </a:solidFill>
            <a:prstDash val="solid"/>
          </a:ln>
        </p:spPr>
      </p:sp>
      <p:sp>
        <p:nvSpPr>
          <p:cNvPr id="44" name="Text 41"/>
          <p:cNvSpPr txBox="1"/>
          <p:nvPr/>
        </p:nvSpPr>
        <p:spPr>
          <a:xfrm>
            <a:off x="5303520" y="2926080"/>
            <a:ext cx="329184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COMPROBACIONES DE INTEGRIDAD</a:t>
            </a:r>
            <a:endParaRPr lang="en-US" sz="750" dirty="0"/>
          </a:p>
        </p:txBody>
      </p:sp>
      <p:sp>
        <p:nvSpPr>
          <p:cNvPr id="45" name="Text 42"/>
          <p:cNvSpPr txBox="1"/>
          <p:nvPr/>
        </p:nvSpPr>
        <p:spPr>
          <a:xfrm>
            <a:off x="5303520" y="3182112"/>
            <a:ext cx="3291840" cy="141732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41821"/>
                </a:solidFill>
                <a:latin typeface="Calibri" pitchFamily="34" charset="0"/>
                <a:ea typeface="Calibri" pitchFamily="34" charset="-122"/>
                <a:cs typeface="Calibri" pitchFamily="34" charset="-120"/>
              </a:rPr>
              <a:t>44.408 predicciones por modelo y 44.408 filas asignadas</a:t>
            </a:r>
            <a:endParaRPr lang="en-US" sz="950" dirty="0"/>
          </a:p>
          <a:p>
            <a:pPr marL="342900" indent="-342900">
              <a:spcAft>
                <a:spcPts val="300"/>
              </a:spcAft>
              <a:buSzPct val="100000"/>
              <a:buChar char="•"/>
            </a:pPr>
            <a:r>
              <a:rPr lang="en-US" sz="950" dirty="0">
                <a:solidFill>
                  <a:srgbClr val="141821"/>
                </a:solidFill>
                <a:latin typeface="Calibri" pitchFamily="34" charset="0"/>
                <a:ea typeface="Calibri" pitchFamily="34" charset="-122"/>
                <a:cs typeface="Calibri" pitchFamily="34" charset="-120"/>
              </a:rPr>
              <a:t>Ningún grupo de duplicados repartido entre folds</a:t>
            </a:r>
            <a:endParaRPr lang="en-US" sz="950" dirty="0"/>
          </a:p>
          <a:p>
            <a:pPr marL="342900" indent="-342900">
              <a:spcAft>
                <a:spcPts val="300"/>
              </a:spcAft>
              <a:buSzPct val="100000"/>
              <a:buChar char="•"/>
            </a:pPr>
            <a:r>
              <a:rPr lang="en-US" sz="950" dirty="0">
                <a:solidFill>
                  <a:srgbClr val="141821"/>
                </a:solidFill>
                <a:latin typeface="Calibri" pitchFamily="34" charset="0"/>
                <a:ea typeface="Calibri" pitchFamily="34" charset="-122"/>
                <a:cs typeface="Calibri" pitchFamily="34" charset="-120"/>
              </a:rPr>
              <a:t>Sin avisos de convergencia en los diez ajustes</a:t>
            </a:r>
            <a:endParaRPr lang="en-US" sz="950" dirty="0"/>
          </a:p>
          <a:p>
            <a:pPr marL="342900" indent="-342900">
              <a:spcAft>
                <a:spcPts val="300"/>
              </a:spcAft>
              <a:buSzPct val="100000"/>
              <a:buChar char="•"/>
            </a:pPr>
            <a:r>
              <a:rPr lang="en-US" sz="950" dirty="0">
                <a:solidFill>
                  <a:srgbClr val="5B6472"/>
                </a:solidFill>
                <a:latin typeface="Calibri" pitchFamily="34" charset="0"/>
                <a:ea typeface="Calibri" pitchFamily="34" charset="-122"/>
                <a:cs typeface="Calibri" pitchFamily="34" charset="-120"/>
              </a:rPr>
              <a:t>Las pruebas verifican contratos técnicos, no rendimiento ni Telegram real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6"/>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Shape 5"/>
          <p:cNvSpPr/>
          <p:nvPr/>
        </p:nvSpPr>
        <p:spPr>
          <a:xfrm>
            <a:off x="3567989" y="4914900"/>
            <a:ext cx="782726" cy="187452"/>
          </a:xfrm>
          <a:prstGeom prst="roundRect">
            <a:avLst>
              <a:gd name="adj" fmla="val 19512"/>
            </a:avLst>
          </a:prstGeom>
          <a:solidFill>
            <a:srgbClr val="CA061C"/>
          </a:solidFill>
          <a:ln w="12700">
            <a:solidFill>
              <a:srgbClr val="CA061C"/>
            </a:solidFill>
            <a:prstDash val="solid"/>
          </a:ln>
        </p:spPr>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14</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5 · EVALUACIÓN · COMPARATIVA DE MODELOS CANDIDATOS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Regresión logística, por un margen mínimo</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Cinco particiones agrupadas compartidas · TF-IDF uni y bigramas, 5.000 features · selección por macro F1 medio</a:t>
            </a:r>
            <a:endParaRPr lang="en-US" sz="1100" dirty="0"/>
          </a:p>
        </p:txBody>
      </p:sp>
      <p:sp>
        <p:nvSpPr>
          <p:cNvPr id="15" name="Shape 12"/>
          <p:cNvSpPr/>
          <p:nvPr/>
        </p:nvSpPr>
        <p:spPr>
          <a:xfrm>
            <a:off x="411480" y="1280160"/>
            <a:ext cx="1965960" cy="1051560"/>
          </a:xfrm>
          <a:prstGeom prst="roundRect">
            <a:avLst>
              <a:gd name="adj" fmla="val 5217"/>
            </a:avLst>
          </a:prstGeom>
          <a:solidFill>
            <a:srgbClr val="CA061C"/>
          </a:solidFill>
          <a:ln w="9525">
            <a:solidFill>
              <a:srgbClr val="CA061C"/>
            </a:solidFill>
            <a:prstDash val="solid"/>
          </a:ln>
        </p:spPr>
      </p:sp>
      <p:sp>
        <p:nvSpPr>
          <p:cNvPr id="16" name="Text 13"/>
          <p:cNvSpPr txBox="1"/>
          <p:nvPr/>
        </p:nvSpPr>
        <p:spPr>
          <a:xfrm>
            <a:off x="411480" y="1353312"/>
            <a:ext cx="19659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0,9392</a:t>
            </a:r>
            <a:endParaRPr lang="en-US" sz="2400" dirty="0"/>
          </a:p>
        </p:txBody>
      </p:sp>
      <p:sp>
        <p:nvSpPr>
          <p:cNvPr id="17" name="Text 14"/>
          <p:cNvSpPr txBox="1"/>
          <p:nvPr/>
        </p:nvSpPr>
        <p:spPr>
          <a:xfrm>
            <a:off x="411480" y="1828800"/>
            <a:ext cx="19659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Regresión logística · ± 0,0013</a:t>
            </a:r>
            <a:endParaRPr lang="en-US" sz="900" dirty="0"/>
          </a:p>
        </p:txBody>
      </p:sp>
      <p:sp>
        <p:nvSpPr>
          <p:cNvPr id="18" name="Shape 15"/>
          <p:cNvSpPr/>
          <p:nvPr/>
        </p:nvSpPr>
        <p:spPr>
          <a:xfrm>
            <a:off x="2514600" y="1280160"/>
            <a:ext cx="1965960" cy="1051560"/>
          </a:xfrm>
          <a:prstGeom prst="roundRect">
            <a:avLst>
              <a:gd name="adj" fmla="val 5217"/>
            </a:avLst>
          </a:prstGeom>
          <a:solidFill>
            <a:srgbClr val="141821"/>
          </a:solidFill>
          <a:ln w="9525">
            <a:solidFill>
              <a:srgbClr val="141821"/>
            </a:solidFill>
            <a:prstDash val="solid"/>
          </a:ln>
        </p:spPr>
      </p:sp>
      <p:sp>
        <p:nvSpPr>
          <p:cNvPr id="19" name="Text 16"/>
          <p:cNvSpPr txBox="1"/>
          <p:nvPr/>
        </p:nvSpPr>
        <p:spPr>
          <a:xfrm>
            <a:off x="2514600" y="1353312"/>
            <a:ext cx="19659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0,9388</a:t>
            </a:r>
            <a:endParaRPr lang="en-US" sz="2400" dirty="0"/>
          </a:p>
        </p:txBody>
      </p:sp>
      <p:sp>
        <p:nvSpPr>
          <p:cNvPr id="20" name="Text 17"/>
          <p:cNvSpPr txBox="1"/>
          <p:nvPr/>
        </p:nvSpPr>
        <p:spPr>
          <a:xfrm>
            <a:off x="2514600" y="1828800"/>
            <a:ext cx="19659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Linear SVC · ± 0,0020</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2468880"/>
          <a:ext cx="4069080" cy="914400"/>
        </p:xfrm>
        <a:graphic>
          <a:graphicData uri="http://schemas.openxmlformats.org/drawingml/2006/table">
            <a:tbl>
              <a:tblPr/>
              <a:tblGrid>
                <a:gridCol w="224028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Métrica (media de 5 folds)</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RL</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SVC</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r>
              <a:tr h="274320">
                <a:tc>
                  <a:txBody>
                    <a:bodyPr/>
                    <a:lstStyle/>
                    <a:p>
                      <a:pPr algn="l" indent="0" marL="0">
                        <a:buNone/>
                      </a:pPr>
                      <a:r>
                        <a:rPr lang="en-US" sz="950" dirty="0">
                          <a:solidFill>
                            <a:srgbClr val="141821"/>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0,9394</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0,9390</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41821"/>
                          </a:solidFill>
                          <a:latin typeface="Calibri" pitchFamily="34" charset="0"/>
                          <a:ea typeface="Calibri" pitchFamily="34" charset="-122"/>
                          <a:cs typeface="Calibri" pitchFamily="34" charset="-120"/>
                        </a:rPr>
                        <a:t>Precisión macro</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0,9397</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0,9405</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41821"/>
                          </a:solidFill>
                          <a:latin typeface="Calibri" pitchFamily="34" charset="0"/>
                          <a:ea typeface="Calibri" pitchFamily="34" charset="-122"/>
                          <a:cs typeface="Calibri" pitchFamily="34" charset="-120"/>
                        </a:rPr>
                        <a:t>Recall macro</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0,9390</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0,9381</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141821"/>
                          </a:solidFill>
                          <a:latin typeface="Calibri" pitchFamily="34" charset="0"/>
                          <a:ea typeface="Calibri" pitchFamily="34" charset="-122"/>
                          <a:cs typeface="Calibri" pitchFamily="34" charset="-120"/>
                        </a:rPr>
                        <a:t>Macro F1</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41821"/>
                          </a:solidFill>
                          <a:latin typeface="Calibri" pitchFamily="34" charset="0"/>
                          <a:ea typeface="Calibri" pitchFamily="34" charset="-122"/>
                          <a:cs typeface="Calibri" pitchFamily="34" charset="-120"/>
                        </a:rPr>
                        <a:t>0,9392</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41821"/>
                          </a:solidFill>
                          <a:latin typeface="Calibri" pitchFamily="34" charset="0"/>
                          <a:ea typeface="Calibri" pitchFamily="34" charset="-122"/>
                          <a:cs typeface="Calibri" pitchFamily="34" charset="-120"/>
                        </a:rPr>
                        <a:t>0,9388</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41821"/>
                          </a:solidFill>
                          <a:latin typeface="Calibri" pitchFamily="34" charset="0"/>
                          <a:ea typeface="Calibri" pitchFamily="34" charset="-122"/>
                          <a:cs typeface="Calibri" pitchFamily="34" charset="-120"/>
                        </a:rPr>
                        <a:t>Iteraciones totales</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105</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239</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bl>
          </a:graphicData>
        </a:graphic>
      </p:graphicFrame>
      <p:sp>
        <p:nvSpPr>
          <p:cNvPr id="22" name="Shape 18"/>
          <p:cNvSpPr/>
          <p:nvPr/>
        </p:nvSpPr>
        <p:spPr>
          <a:xfrm>
            <a:off x="4663440" y="1280160"/>
            <a:ext cx="4069080" cy="3401568"/>
          </a:xfrm>
          <a:prstGeom prst="roundRect">
            <a:avLst>
              <a:gd name="adj" fmla="val 1613"/>
            </a:avLst>
          </a:prstGeom>
          <a:solidFill>
            <a:srgbClr val="FFFFFF"/>
          </a:solidFill>
          <a:ln w="9525">
            <a:solidFill>
              <a:srgbClr val="D5DAE2"/>
            </a:solidFill>
            <a:prstDash val="solid"/>
          </a:ln>
        </p:spPr>
      </p:sp>
      <p:sp>
        <p:nvSpPr>
          <p:cNvPr id="23" name="Text 19"/>
          <p:cNvSpPr txBox="1"/>
          <p:nvPr/>
        </p:nvSpPr>
        <p:spPr>
          <a:xfrm>
            <a:off x="4846320" y="1389888"/>
            <a:ext cx="36576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MACRO F1 POR PARTICIÓN AGRUPADA (TABLA 20)</a:t>
            </a:r>
            <a:endParaRPr lang="en-US" sz="750" dirty="0"/>
          </a:p>
        </p:txBody>
      </p:sp>
      <p:graphicFrame>
        <p:nvGraphicFramePr>
          <p:cNvPr id="24" name="Chart 0" descr=""/>
          <p:cNvGraphicFramePr/>
          <p:nvPr/>
        </p:nvGraphicFramePr>
        <p:xfrm>
          <a:off x="4754880" y="1600200"/>
          <a:ext cx="3886200" cy="2514600"/>
        </p:xfrm>
        <a:graphic xmlns:a="http://schemas.openxmlformats.org/drawingml/2006/main">
          <a:graphicData uri="http://schemas.openxmlformats.org/drawingml/2006/chart">
            <c:chart xmlns:c="http://schemas.openxmlformats.org/drawingml/2006/chart" r:id="rId1"/>
          </a:graphicData>
        </a:graphic>
      </p:graphicFrame>
      <p:sp>
        <p:nvSpPr>
          <p:cNvPr id="25" name="Text 20"/>
          <p:cNvSpPr txBox="1"/>
          <p:nvPr/>
        </p:nvSpPr>
        <p:spPr>
          <a:xfrm>
            <a:off x="4846320" y="4160520"/>
            <a:ext cx="3749040" cy="411480"/>
          </a:xfrm>
          <a:prstGeom prst="rect">
            <a:avLst/>
          </a:prstGeom>
          <a:noFill/>
          <a:ln/>
        </p:spPr>
        <p:txBody>
          <a:bodyPr wrap="square" lIns="0" tIns="0" rIns="0" bIns="0" rtlCol="0" anchor="t"/>
          <a:lstStyle/>
          <a:p>
            <a:pPr indent="0" marL="0">
              <a:buNone/>
            </a:pPr>
            <a:r>
              <a:rPr lang="en-US" sz="900" i="1" dirty="0">
                <a:solidFill>
                  <a:srgbClr val="5B6472"/>
                </a:solidFill>
                <a:latin typeface="Calibri" pitchFamily="34" charset="0"/>
                <a:ea typeface="Calibri" pitchFamily="34" charset="-122"/>
                <a:cs typeface="Calibri" pitchFamily="34" charset="-120"/>
              </a:rPr>
              <a:t>Diferencia pequeña: criterio interno de selección, no contraste de significación.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6"/>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Shape 5"/>
          <p:cNvSpPr/>
          <p:nvPr/>
        </p:nvSpPr>
        <p:spPr>
          <a:xfrm>
            <a:off x="3567989" y="4914900"/>
            <a:ext cx="782726" cy="187452"/>
          </a:xfrm>
          <a:prstGeom prst="roundRect">
            <a:avLst>
              <a:gd name="adj" fmla="val 19512"/>
            </a:avLst>
          </a:prstGeom>
          <a:solidFill>
            <a:srgbClr val="CA061C"/>
          </a:solidFill>
          <a:ln w="12700">
            <a:solidFill>
              <a:srgbClr val="CA061C"/>
            </a:solidFill>
            <a:prstDash val="solid"/>
          </a:ln>
        </p:spPr>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15</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5 · EVALUACIÓN · MÉTRICAS Y MATRIZ DE CONFUSIÓN</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93,9% fuera de entrenamiento, sobre 44.408 predicciones</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Regresión logística · predicciones OOF agregadas de los cinco folds · etiquetas heredadas del corpus derivado</a:t>
            </a:r>
            <a:endParaRPr lang="en-US" sz="1100" dirty="0"/>
          </a:p>
        </p:txBody>
      </p:sp>
      <p:sp>
        <p:nvSpPr>
          <p:cNvPr id="15" name="Shape 12"/>
          <p:cNvSpPr/>
          <p:nvPr/>
        </p:nvSpPr>
        <p:spPr>
          <a:xfrm>
            <a:off x="411480" y="1280160"/>
            <a:ext cx="1993392" cy="868680"/>
          </a:xfrm>
          <a:prstGeom prst="roundRect">
            <a:avLst>
              <a:gd name="adj" fmla="val 6316"/>
            </a:avLst>
          </a:prstGeom>
          <a:solidFill>
            <a:srgbClr val="CA061C"/>
          </a:solidFill>
          <a:ln w="9525">
            <a:solidFill>
              <a:srgbClr val="CA061C"/>
            </a:solidFill>
            <a:prstDash val="solid"/>
          </a:ln>
        </p:spPr>
      </p:sp>
      <p:sp>
        <p:nvSpPr>
          <p:cNvPr id="16" name="Text 13"/>
          <p:cNvSpPr txBox="1"/>
          <p:nvPr/>
        </p:nvSpPr>
        <p:spPr>
          <a:xfrm>
            <a:off x="411480" y="1371600"/>
            <a:ext cx="1993392"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0,9394</a:t>
            </a:r>
            <a:endParaRPr lang="en-US" sz="2200" dirty="0"/>
          </a:p>
        </p:txBody>
      </p:sp>
      <p:sp>
        <p:nvSpPr>
          <p:cNvPr id="17" name="Text 14"/>
          <p:cNvSpPr txBox="1"/>
          <p:nvPr/>
        </p:nvSpPr>
        <p:spPr>
          <a:xfrm>
            <a:off x="411480" y="1828800"/>
            <a:ext cx="1993392" cy="228600"/>
          </a:xfrm>
          <a:prstGeom prst="rect">
            <a:avLst/>
          </a:prstGeom>
          <a:noFill/>
          <a:ln/>
        </p:spPr>
        <p:txBody>
          <a:bodyPr wrap="square" lIns="0" tIns="0" rIns="0" bIns="0" rtlCol="0" anchor="ctr"/>
          <a:lstStyle/>
          <a:p>
            <a:pPr algn="ctr" indent="0" marL="0">
              <a:buNone/>
            </a:pPr>
            <a:r>
              <a:rPr lang="en-US" sz="950" dirty="0">
                <a:solidFill>
                  <a:srgbClr val="E5E8EE"/>
                </a:solidFill>
                <a:latin typeface="Calibri" pitchFamily="34" charset="0"/>
                <a:ea typeface="Calibri" pitchFamily="34" charset="-122"/>
                <a:cs typeface="Calibri" pitchFamily="34" charset="-120"/>
              </a:rPr>
              <a:t>Accuracy</a:t>
            </a:r>
            <a:endParaRPr lang="en-US" sz="950" dirty="0"/>
          </a:p>
        </p:txBody>
      </p:sp>
      <p:sp>
        <p:nvSpPr>
          <p:cNvPr id="18" name="Shape 15"/>
          <p:cNvSpPr/>
          <p:nvPr/>
        </p:nvSpPr>
        <p:spPr>
          <a:xfrm>
            <a:off x="2514600" y="1280160"/>
            <a:ext cx="1993392" cy="868680"/>
          </a:xfrm>
          <a:prstGeom prst="roundRect">
            <a:avLst>
              <a:gd name="adj" fmla="val 6316"/>
            </a:avLst>
          </a:prstGeom>
          <a:solidFill>
            <a:srgbClr val="141821"/>
          </a:solidFill>
          <a:ln w="9525">
            <a:solidFill>
              <a:srgbClr val="141821"/>
            </a:solidFill>
            <a:prstDash val="solid"/>
          </a:ln>
        </p:spPr>
      </p:sp>
      <p:sp>
        <p:nvSpPr>
          <p:cNvPr id="19" name="Text 16"/>
          <p:cNvSpPr txBox="1"/>
          <p:nvPr/>
        </p:nvSpPr>
        <p:spPr>
          <a:xfrm>
            <a:off x="2514600" y="1371600"/>
            <a:ext cx="1993392"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0,9392</a:t>
            </a:r>
            <a:endParaRPr lang="en-US" sz="2200" dirty="0"/>
          </a:p>
        </p:txBody>
      </p:sp>
      <p:sp>
        <p:nvSpPr>
          <p:cNvPr id="20" name="Text 17"/>
          <p:cNvSpPr txBox="1"/>
          <p:nvPr/>
        </p:nvSpPr>
        <p:spPr>
          <a:xfrm>
            <a:off x="2514600" y="1828800"/>
            <a:ext cx="1993392" cy="228600"/>
          </a:xfrm>
          <a:prstGeom prst="rect">
            <a:avLst/>
          </a:prstGeom>
          <a:noFill/>
          <a:ln/>
        </p:spPr>
        <p:txBody>
          <a:bodyPr wrap="square" lIns="0" tIns="0" rIns="0" bIns="0" rtlCol="0" anchor="ctr"/>
          <a:lstStyle/>
          <a:p>
            <a:pPr algn="ctr" indent="0" marL="0">
              <a:buNone/>
            </a:pPr>
            <a:r>
              <a:rPr lang="en-US" sz="950" dirty="0">
                <a:solidFill>
                  <a:srgbClr val="E5E8EE"/>
                </a:solidFill>
                <a:latin typeface="Calibri" pitchFamily="34" charset="0"/>
                <a:ea typeface="Calibri" pitchFamily="34" charset="-122"/>
                <a:cs typeface="Calibri" pitchFamily="34" charset="-120"/>
              </a:rPr>
              <a:t>Macro F1</a:t>
            </a:r>
            <a:endParaRPr lang="en-US" sz="950" dirty="0"/>
          </a:p>
        </p:txBody>
      </p:sp>
      <p:sp>
        <p:nvSpPr>
          <p:cNvPr id="21" name="Shape 18"/>
          <p:cNvSpPr/>
          <p:nvPr/>
        </p:nvSpPr>
        <p:spPr>
          <a:xfrm>
            <a:off x="411480" y="2240280"/>
            <a:ext cx="1993392" cy="868680"/>
          </a:xfrm>
          <a:prstGeom prst="roundRect">
            <a:avLst>
              <a:gd name="adj" fmla="val 6316"/>
            </a:avLst>
          </a:prstGeom>
          <a:solidFill>
            <a:srgbClr val="FFFFFF"/>
          </a:solidFill>
          <a:ln w="9525">
            <a:solidFill>
              <a:srgbClr val="D5DAE2"/>
            </a:solidFill>
            <a:prstDash val="solid"/>
          </a:ln>
        </p:spPr>
      </p:sp>
      <p:sp>
        <p:nvSpPr>
          <p:cNvPr id="22" name="Text 19"/>
          <p:cNvSpPr txBox="1"/>
          <p:nvPr/>
        </p:nvSpPr>
        <p:spPr>
          <a:xfrm>
            <a:off x="411480" y="2331720"/>
            <a:ext cx="1993392" cy="438912"/>
          </a:xfrm>
          <a:prstGeom prst="rect">
            <a:avLst/>
          </a:prstGeom>
          <a:noFill/>
          <a:ln/>
        </p:spPr>
        <p:txBody>
          <a:bodyPr wrap="square" lIns="0" tIns="0" rIns="0" bIns="0" rtlCol="0" anchor="ctr"/>
          <a:lstStyle/>
          <a:p>
            <a:pPr algn="ctr" indent="0" marL="0">
              <a:buNone/>
            </a:pPr>
            <a:r>
              <a:rPr lang="en-US" sz="2200" b="1" dirty="0">
                <a:solidFill>
                  <a:srgbClr val="141821"/>
                </a:solidFill>
                <a:latin typeface="Cambria" pitchFamily="34" charset="0"/>
                <a:ea typeface="Cambria" pitchFamily="34" charset="-122"/>
                <a:cs typeface="Cambria" pitchFamily="34" charset="-120"/>
              </a:rPr>
              <a:t>0,9396</a:t>
            </a:r>
            <a:endParaRPr lang="en-US" sz="2200" dirty="0"/>
          </a:p>
        </p:txBody>
      </p:sp>
      <p:sp>
        <p:nvSpPr>
          <p:cNvPr id="23" name="Text 20"/>
          <p:cNvSpPr txBox="1"/>
          <p:nvPr/>
        </p:nvSpPr>
        <p:spPr>
          <a:xfrm>
            <a:off x="411480" y="2788920"/>
            <a:ext cx="1993392" cy="228600"/>
          </a:xfrm>
          <a:prstGeom prst="rect">
            <a:avLst/>
          </a:prstGeom>
          <a:noFill/>
          <a:ln/>
        </p:spPr>
        <p:txBody>
          <a:bodyPr wrap="square" lIns="0" tIns="0" rIns="0" bIns="0" rtlCol="0" anchor="ctr"/>
          <a:lstStyle/>
          <a:p>
            <a:pPr algn="ctr" indent="0" marL="0">
              <a:buNone/>
            </a:pPr>
            <a:r>
              <a:rPr lang="en-US" sz="950" dirty="0">
                <a:solidFill>
                  <a:srgbClr val="5B6472"/>
                </a:solidFill>
                <a:latin typeface="Calibri" pitchFamily="34" charset="0"/>
                <a:ea typeface="Calibri" pitchFamily="34" charset="-122"/>
                <a:cs typeface="Calibri" pitchFamily="34" charset="-120"/>
              </a:rPr>
              <a:t>Precisión macro</a:t>
            </a:r>
            <a:endParaRPr lang="en-US" sz="950" dirty="0"/>
          </a:p>
        </p:txBody>
      </p:sp>
      <p:sp>
        <p:nvSpPr>
          <p:cNvPr id="24" name="Shape 21"/>
          <p:cNvSpPr/>
          <p:nvPr/>
        </p:nvSpPr>
        <p:spPr>
          <a:xfrm>
            <a:off x="2514600" y="2240280"/>
            <a:ext cx="1993392" cy="868680"/>
          </a:xfrm>
          <a:prstGeom prst="roundRect">
            <a:avLst>
              <a:gd name="adj" fmla="val 6316"/>
            </a:avLst>
          </a:prstGeom>
          <a:solidFill>
            <a:srgbClr val="FFFFFF"/>
          </a:solidFill>
          <a:ln w="9525">
            <a:solidFill>
              <a:srgbClr val="D5DAE2"/>
            </a:solidFill>
            <a:prstDash val="solid"/>
          </a:ln>
        </p:spPr>
      </p:sp>
      <p:sp>
        <p:nvSpPr>
          <p:cNvPr id="25" name="Text 22"/>
          <p:cNvSpPr txBox="1"/>
          <p:nvPr/>
        </p:nvSpPr>
        <p:spPr>
          <a:xfrm>
            <a:off x="2514600" y="2331720"/>
            <a:ext cx="1993392" cy="438912"/>
          </a:xfrm>
          <a:prstGeom prst="rect">
            <a:avLst/>
          </a:prstGeom>
          <a:noFill/>
          <a:ln/>
        </p:spPr>
        <p:txBody>
          <a:bodyPr wrap="square" lIns="0" tIns="0" rIns="0" bIns="0" rtlCol="0" anchor="ctr"/>
          <a:lstStyle/>
          <a:p>
            <a:pPr algn="ctr" indent="0" marL="0">
              <a:buNone/>
            </a:pPr>
            <a:r>
              <a:rPr lang="en-US" sz="2200" b="1" dirty="0">
                <a:solidFill>
                  <a:srgbClr val="141821"/>
                </a:solidFill>
                <a:latin typeface="Cambria" pitchFamily="34" charset="0"/>
                <a:ea typeface="Cambria" pitchFamily="34" charset="-122"/>
                <a:cs typeface="Cambria" pitchFamily="34" charset="-120"/>
              </a:rPr>
              <a:t>0,9390</a:t>
            </a:r>
            <a:endParaRPr lang="en-US" sz="2200" dirty="0"/>
          </a:p>
        </p:txBody>
      </p:sp>
      <p:sp>
        <p:nvSpPr>
          <p:cNvPr id="26" name="Text 23"/>
          <p:cNvSpPr txBox="1"/>
          <p:nvPr/>
        </p:nvSpPr>
        <p:spPr>
          <a:xfrm>
            <a:off x="2514600" y="2788920"/>
            <a:ext cx="1993392" cy="228600"/>
          </a:xfrm>
          <a:prstGeom prst="rect">
            <a:avLst/>
          </a:prstGeom>
          <a:noFill/>
          <a:ln/>
        </p:spPr>
        <p:txBody>
          <a:bodyPr wrap="square" lIns="0" tIns="0" rIns="0" bIns="0" rtlCol="0" anchor="ctr"/>
          <a:lstStyle/>
          <a:p>
            <a:pPr algn="ctr" indent="0" marL="0">
              <a:buNone/>
            </a:pPr>
            <a:r>
              <a:rPr lang="en-US" sz="950" dirty="0">
                <a:solidFill>
                  <a:srgbClr val="5B6472"/>
                </a:solidFill>
                <a:latin typeface="Calibri" pitchFamily="34" charset="0"/>
                <a:ea typeface="Calibri" pitchFamily="34" charset="-122"/>
                <a:cs typeface="Calibri" pitchFamily="34" charset="-120"/>
              </a:rPr>
              <a:t>Recall macro</a:t>
            </a:r>
            <a:endParaRPr lang="en-US" sz="950" dirty="0"/>
          </a:p>
        </p:txBody>
      </p:sp>
      <p:sp>
        <p:nvSpPr>
          <p:cNvPr id="27" name="Shape 24"/>
          <p:cNvSpPr/>
          <p:nvPr/>
        </p:nvSpPr>
        <p:spPr>
          <a:xfrm>
            <a:off x="411480" y="3246120"/>
            <a:ext cx="4096512" cy="1435608"/>
          </a:xfrm>
          <a:prstGeom prst="roundRect">
            <a:avLst>
              <a:gd name="adj" fmla="val 3822"/>
            </a:avLst>
          </a:prstGeom>
          <a:solidFill>
            <a:srgbClr val="FFFFFF"/>
          </a:solidFill>
          <a:ln w="9525">
            <a:solidFill>
              <a:srgbClr val="D5DAE2"/>
            </a:solidFill>
            <a:prstDash val="solid"/>
          </a:ln>
        </p:spPr>
      </p:sp>
      <p:sp>
        <p:nvSpPr>
          <p:cNvPr id="28" name="Text 25"/>
          <p:cNvSpPr txBox="1"/>
          <p:nvPr/>
        </p:nvSpPr>
        <p:spPr>
          <a:xfrm>
            <a:off x="594360" y="3364992"/>
            <a:ext cx="36576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UMBRALES FIJADOS ANTES DE EVALUAR</a:t>
            </a:r>
            <a:endParaRPr lang="en-US" sz="750" dirty="0"/>
          </a:p>
        </p:txBody>
      </p:sp>
      <p:sp>
        <p:nvSpPr>
          <p:cNvPr id="29" name="Text 26"/>
          <p:cNvSpPr txBox="1"/>
          <p:nvPr/>
        </p:nvSpPr>
        <p:spPr>
          <a:xfrm>
            <a:off x="594360" y="3611880"/>
            <a:ext cx="3749040" cy="1005840"/>
          </a:xfrm>
          <a:prstGeom prst="rect">
            <a:avLst/>
          </a:prstGeom>
          <a:noFill/>
          <a:ln/>
        </p:spPr>
        <p:txBody>
          <a:bodyPr wrap="square" lIns="0" tIns="0" rIns="0" bIns="0" rtlCol="0" anchor="t"/>
          <a:lstStyle/>
          <a:p>
            <a:pPr indent="0" marL="0">
              <a:buNone/>
            </a:pPr>
            <a:r>
              <a:rPr lang="en-US" sz="950" b="1" dirty="0">
                <a:solidFill>
                  <a:srgbClr val="141821"/>
                </a:solidFill>
                <a:latin typeface="Calibri" pitchFamily="34" charset="0"/>
                <a:ea typeface="Calibri" pitchFamily="34" charset="-122"/>
                <a:cs typeface="Calibri" pitchFamily="34" charset="-120"/>
              </a:rPr>
              <a:t>0,60 </a:t>
            </a:r>
            <a:pPr indent="0" marL="0">
              <a:buNone/>
            </a:pPr>
            <a:r>
              <a:rPr lang="en-US" sz="950" dirty="0">
                <a:solidFill>
                  <a:srgbClr val="141821"/>
                </a:solidFill>
                <a:latin typeface="Calibri" pitchFamily="34" charset="0"/>
                <a:ea typeface="Calibri" pitchFamily="34" charset="-122"/>
                <a:cs typeface="Calibri" pitchFamily="34" charset="-120"/>
              </a:rPr>
              <a:t>sobre la probabilidad de la regresión logística; </a:t>
            </a:r>
            <a:pPr indent="0" marL="0">
              <a:buNone/>
            </a:pPr>
            <a:r>
              <a:rPr lang="en-US" sz="950" b="1" dirty="0">
                <a:solidFill>
                  <a:srgbClr val="141821"/>
                </a:solidFill>
                <a:latin typeface="Calibri" pitchFamily="34" charset="0"/>
                <a:ea typeface="Calibri" pitchFamily="34" charset="-122"/>
                <a:cs typeface="Calibri" pitchFamily="34" charset="-120"/>
              </a:rPr>
              <a:t>0,30 </a:t>
            </a:r>
            <a:pPr indent="0" marL="0">
              <a:buNone/>
            </a:pPr>
            <a:r>
              <a:rPr lang="en-US" sz="950" dirty="0">
                <a:solidFill>
                  <a:srgbClr val="141821"/>
                </a:solidFill>
                <a:latin typeface="Calibri" pitchFamily="34" charset="0"/>
                <a:ea typeface="Calibri" pitchFamily="34" charset="-122"/>
                <a:cs typeface="Calibri" pitchFamily="34" charset="-120"/>
              </a:rPr>
              <a:t>sobre decision_function de Linear SVC (no es probabilidad).</a:t>
            </a:r>
            <a:endParaRPr lang="en-US" sz="950" dirty="0"/>
          </a:p>
          <a:p>
            <a:pPr indent="0" marL="0">
              <a:buNone/>
            </a:pPr>
            <a:r>
              <a:rPr lang="en-US" sz="950" dirty="0">
                <a:solidFill>
                  <a:srgbClr val="5B6472"/>
                </a:solidFill>
                <a:latin typeface="Calibri" pitchFamily="34" charset="0"/>
                <a:ea typeface="Calibri" pitchFamily="34" charset="-122"/>
                <a:cs typeface="Calibri" pitchFamily="34" charset="-120"/>
              </a:rPr>
              <a:t>Manuales, no aprendidos ni universales: orientan la decisión a reducir falsos positivos en este experimento.</a:t>
            </a:r>
            <a:endParaRPr lang="en-US" sz="950" dirty="0"/>
          </a:p>
        </p:txBody>
      </p:sp>
      <p:sp>
        <p:nvSpPr>
          <p:cNvPr id="30" name="Text 27"/>
          <p:cNvSpPr txBox="1"/>
          <p:nvPr/>
        </p:nvSpPr>
        <p:spPr>
          <a:xfrm>
            <a:off x="5120640" y="1234440"/>
            <a:ext cx="356616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MATRIZ DE CONFUSIÓN GLOBAL OOF</a:t>
            </a:r>
            <a:endParaRPr lang="en-US" sz="750" dirty="0"/>
          </a:p>
        </p:txBody>
      </p:sp>
      <p:sp>
        <p:nvSpPr>
          <p:cNvPr id="31" name="Text 28"/>
          <p:cNvSpPr txBox="1"/>
          <p:nvPr/>
        </p:nvSpPr>
        <p:spPr>
          <a:xfrm>
            <a:off x="5257800" y="1463040"/>
            <a:ext cx="1691640" cy="201168"/>
          </a:xfrm>
          <a:prstGeom prst="rect">
            <a:avLst/>
          </a:prstGeom>
          <a:noFill/>
          <a:ln/>
        </p:spPr>
        <p:txBody>
          <a:bodyPr wrap="square" lIns="0" tIns="0" rIns="0" bIns="0" rtlCol="0" anchor="ctr"/>
          <a:lstStyle/>
          <a:p>
            <a:pPr algn="ctr" indent="0" marL="0">
              <a:buNone/>
            </a:pPr>
            <a:r>
              <a:rPr lang="en-US" sz="900" b="1" dirty="0">
                <a:solidFill>
                  <a:srgbClr val="3A4250"/>
                </a:solidFill>
                <a:latin typeface="Calibri" pitchFamily="34" charset="0"/>
                <a:ea typeface="Calibri" pitchFamily="34" charset="-122"/>
                <a:cs typeface="Calibri" pitchFamily="34" charset="-120"/>
              </a:rPr>
              <a:t>Pred. no_fake</a:t>
            </a:r>
            <a:endParaRPr lang="en-US" sz="900" dirty="0"/>
          </a:p>
        </p:txBody>
      </p:sp>
      <p:sp>
        <p:nvSpPr>
          <p:cNvPr id="32" name="Text 29"/>
          <p:cNvSpPr txBox="1"/>
          <p:nvPr/>
        </p:nvSpPr>
        <p:spPr>
          <a:xfrm>
            <a:off x="7040880" y="1463040"/>
            <a:ext cx="1691640" cy="201168"/>
          </a:xfrm>
          <a:prstGeom prst="rect">
            <a:avLst/>
          </a:prstGeom>
          <a:noFill/>
          <a:ln/>
        </p:spPr>
        <p:txBody>
          <a:bodyPr wrap="square" lIns="0" tIns="0" rIns="0" bIns="0" rtlCol="0" anchor="ctr"/>
          <a:lstStyle/>
          <a:p>
            <a:pPr algn="ctr" indent="0" marL="0">
              <a:buNone/>
            </a:pPr>
            <a:r>
              <a:rPr lang="en-US" sz="900" b="1" dirty="0">
                <a:solidFill>
                  <a:srgbClr val="3A4250"/>
                </a:solidFill>
                <a:latin typeface="Calibri" pitchFamily="34" charset="0"/>
                <a:ea typeface="Calibri" pitchFamily="34" charset="-122"/>
                <a:cs typeface="Calibri" pitchFamily="34" charset="-120"/>
              </a:rPr>
              <a:t>Pred. fake_news</a:t>
            </a:r>
            <a:endParaRPr lang="en-US" sz="900" dirty="0"/>
          </a:p>
        </p:txBody>
      </p:sp>
      <p:sp>
        <p:nvSpPr>
          <p:cNvPr id="33" name="Text 30"/>
          <p:cNvSpPr txBox="1"/>
          <p:nvPr/>
        </p:nvSpPr>
        <p:spPr>
          <a:xfrm rot="16200000">
            <a:off x="4617720" y="1965960"/>
            <a:ext cx="822960" cy="822960"/>
          </a:xfrm>
          <a:prstGeom prst="rect">
            <a:avLst/>
          </a:prstGeom>
          <a:noFill/>
          <a:ln/>
        </p:spPr>
        <p:txBody>
          <a:bodyPr wrap="square" lIns="0" tIns="0" rIns="0" bIns="0" rtlCol="0" anchor="ctr"/>
          <a:lstStyle/>
          <a:p>
            <a:pPr algn="ctr" indent="0" marL="0">
              <a:buNone/>
            </a:pPr>
            <a:r>
              <a:rPr lang="en-US" sz="900" b="1" dirty="0">
                <a:solidFill>
                  <a:srgbClr val="3A4250"/>
                </a:solidFill>
                <a:latin typeface="Calibri" pitchFamily="34" charset="0"/>
                <a:ea typeface="Calibri" pitchFamily="34" charset="-122"/>
                <a:cs typeface="Calibri" pitchFamily="34" charset="-120"/>
              </a:rPr>
              <a:t>Real no_fake</a:t>
            </a:r>
            <a:endParaRPr lang="en-US" sz="900" dirty="0"/>
          </a:p>
        </p:txBody>
      </p:sp>
      <p:sp>
        <p:nvSpPr>
          <p:cNvPr id="34" name="Text 31"/>
          <p:cNvSpPr txBox="1"/>
          <p:nvPr/>
        </p:nvSpPr>
        <p:spPr>
          <a:xfrm rot="16200000">
            <a:off x="4617720" y="3429000"/>
            <a:ext cx="822960" cy="822960"/>
          </a:xfrm>
          <a:prstGeom prst="rect">
            <a:avLst/>
          </a:prstGeom>
          <a:noFill/>
          <a:ln/>
        </p:spPr>
        <p:txBody>
          <a:bodyPr wrap="square" lIns="0" tIns="0" rIns="0" bIns="0" rtlCol="0" anchor="ctr"/>
          <a:lstStyle/>
          <a:p>
            <a:pPr algn="ctr" indent="0" marL="0">
              <a:buNone/>
            </a:pPr>
            <a:r>
              <a:rPr lang="en-US" sz="900" b="1" dirty="0">
                <a:solidFill>
                  <a:srgbClr val="3A4250"/>
                </a:solidFill>
                <a:latin typeface="Calibri" pitchFamily="34" charset="0"/>
                <a:ea typeface="Calibri" pitchFamily="34" charset="-122"/>
                <a:cs typeface="Calibri" pitchFamily="34" charset="-120"/>
              </a:rPr>
              <a:t>Real fake_news</a:t>
            </a:r>
            <a:endParaRPr lang="en-US" sz="900" dirty="0"/>
          </a:p>
        </p:txBody>
      </p:sp>
      <p:sp>
        <p:nvSpPr>
          <p:cNvPr id="35" name="Shape 32"/>
          <p:cNvSpPr/>
          <p:nvPr/>
        </p:nvSpPr>
        <p:spPr>
          <a:xfrm>
            <a:off x="5257800" y="1719072"/>
            <a:ext cx="1691640" cy="1389888"/>
          </a:xfrm>
          <a:prstGeom prst="roundRect">
            <a:avLst>
              <a:gd name="adj" fmla="val 3947"/>
            </a:avLst>
          </a:prstGeom>
          <a:solidFill>
            <a:srgbClr val="ECF5F0"/>
          </a:solidFill>
          <a:ln w="9525">
            <a:solidFill>
              <a:srgbClr val="CFE5D8"/>
            </a:solidFill>
            <a:prstDash val="solid"/>
          </a:ln>
        </p:spPr>
      </p:sp>
      <p:sp>
        <p:nvSpPr>
          <p:cNvPr id="36" name="Text 33"/>
          <p:cNvSpPr txBox="1"/>
          <p:nvPr/>
        </p:nvSpPr>
        <p:spPr>
          <a:xfrm>
            <a:off x="5257800" y="2103120"/>
            <a:ext cx="1691640" cy="411480"/>
          </a:xfrm>
          <a:prstGeom prst="rect">
            <a:avLst/>
          </a:prstGeom>
          <a:noFill/>
          <a:ln/>
        </p:spPr>
        <p:txBody>
          <a:bodyPr wrap="square" lIns="0" tIns="0" rIns="0" bIns="0" rtlCol="0" anchor="ctr"/>
          <a:lstStyle/>
          <a:p>
            <a:pPr algn="ctr" indent="0" marL="0">
              <a:buNone/>
            </a:pPr>
            <a:r>
              <a:rPr lang="en-US" sz="2200" b="1" dirty="0">
                <a:solidFill>
                  <a:srgbClr val="1E8A5A"/>
                </a:solidFill>
                <a:latin typeface="Cambria" pitchFamily="34" charset="0"/>
                <a:ea typeface="Cambria" pitchFamily="34" charset="-122"/>
                <a:cs typeface="Cambria" pitchFamily="34" charset="-120"/>
              </a:rPr>
              <a:t>21.819</a:t>
            </a:r>
            <a:endParaRPr lang="en-US" sz="2200" dirty="0"/>
          </a:p>
        </p:txBody>
      </p:sp>
      <p:sp>
        <p:nvSpPr>
          <p:cNvPr id="37" name="Text 34"/>
          <p:cNvSpPr txBox="1"/>
          <p:nvPr/>
        </p:nvSpPr>
        <p:spPr>
          <a:xfrm>
            <a:off x="5257800" y="2542032"/>
            <a:ext cx="1691640" cy="201168"/>
          </a:xfrm>
          <a:prstGeom prst="rect">
            <a:avLst/>
          </a:prstGeom>
          <a:noFill/>
          <a:ln/>
        </p:spPr>
        <p:txBody>
          <a:bodyPr wrap="square" lIns="0" tIns="0" rIns="0" bIns="0" rtlCol="0" anchor="ctr"/>
          <a:lstStyle/>
          <a:p>
            <a:pPr algn="ctr" indent="0" marL="0">
              <a:buNone/>
            </a:pPr>
            <a:r>
              <a:rPr lang="en-US" sz="900" dirty="0">
                <a:solidFill>
                  <a:srgbClr val="1E8A5A"/>
                </a:solidFill>
                <a:latin typeface="Calibri" pitchFamily="34" charset="0"/>
                <a:ea typeface="Calibri" pitchFamily="34" charset="-122"/>
                <a:cs typeface="Calibri" pitchFamily="34" charset="-120"/>
              </a:rPr>
              <a:t>verdadero negativo</a:t>
            </a:r>
            <a:endParaRPr lang="en-US" sz="900" dirty="0"/>
          </a:p>
        </p:txBody>
      </p:sp>
      <p:sp>
        <p:nvSpPr>
          <p:cNvPr id="38" name="Shape 35"/>
          <p:cNvSpPr/>
          <p:nvPr/>
        </p:nvSpPr>
        <p:spPr>
          <a:xfrm>
            <a:off x="7040880" y="1719072"/>
            <a:ext cx="1691640" cy="1389888"/>
          </a:xfrm>
          <a:prstGeom prst="roundRect">
            <a:avLst>
              <a:gd name="adj" fmla="val 3947"/>
            </a:avLst>
          </a:prstGeom>
          <a:solidFill>
            <a:srgbClr val="FAF1EC"/>
          </a:solidFill>
          <a:ln w="9525">
            <a:solidFill>
              <a:srgbClr val="F0D9CC"/>
            </a:solidFill>
            <a:prstDash val="solid"/>
          </a:ln>
        </p:spPr>
      </p:sp>
      <p:sp>
        <p:nvSpPr>
          <p:cNvPr id="39" name="Text 36"/>
          <p:cNvSpPr txBox="1"/>
          <p:nvPr/>
        </p:nvSpPr>
        <p:spPr>
          <a:xfrm>
            <a:off x="7040880" y="2103120"/>
            <a:ext cx="1691640" cy="411480"/>
          </a:xfrm>
          <a:prstGeom prst="rect">
            <a:avLst/>
          </a:prstGeom>
          <a:noFill/>
          <a:ln/>
        </p:spPr>
        <p:txBody>
          <a:bodyPr wrap="square" lIns="0" tIns="0" rIns="0" bIns="0" rtlCol="0" anchor="ctr"/>
          <a:lstStyle/>
          <a:p>
            <a:pPr algn="ctr" indent="0" marL="0">
              <a:buNone/>
            </a:pPr>
            <a:r>
              <a:rPr lang="en-US" sz="2200" b="1" dirty="0">
                <a:solidFill>
                  <a:srgbClr val="C2410C"/>
                </a:solidFill>
                <a:latin typeface="Cambria" pitchFamily="34" charset="0"/>
                <a:ea typeface="Cambria" pitchFamily="34" charset="-122"/>
                <a:cs typeface="Cambria" pitchFamily="34" charset="-120"/>
              </a:rPr>
              <a:t>1.156</a:t>
            </a:r>
            <a:endParaRPr lang="en-US" sz="2200" dirty="0"/>
          </a:p>
        </p:txBody>
      </p:sp>
      <p:sp>
        <p:nvSpPr>
          <p:cNvPr id="40" name="Text 37"/>
          <p:cNvSpPr txBox="1"/>
          <p:nvPr/>
        </p:nvSpPr>
        <p:spPr>
          <a:xfrm>
            <a:off x="7040880" y="2542032"/>
            <a:ext cx="1691640" cy="201168"/>
          </a:xfrm>
          <a:prstGeom prst="rect">
            <a:avLst/>
          </a:prstGeom>
          <a:noFill/>
          <a:ln/>
        </p:spPr>
        <p:txBody>
          <a:bodyPr wrap="square" lIns="0" tIns="0" rIns="0" bIns="0" rtlCol="0" anchor="ctr"/>
          <a:lstStyle/>
          <a:p>
            <a:pPr algn="ctr" indent="0" marL="0">
              <a:buNone/>
            </a:pPr>
            <a:r>
              <a:rPr lang="en-US" sz="900" dirty="0">
                <a:solidFill>
                  <a:srgbClr val="C2410C"/>
                </a:solidFill>
                <a:latin typeface="Calibri" pitchFamily="34" charset="0"/>
                <a:ea typeface="Calibri" pitchFamily="34" charset="-122"/>
                <a:cs typeface="Calibri" pitchFamily="34" charset="-120"/>
              </a:rPr>
              <a:t>falso positivo</a:t>
            </a:r>
            <a:endParaRPr lang="en-US" sz="900" dirty="0"/>
          </a:p>
        </p:txBody>
      </p:sp>
      <p:sp>
        <p:nvSpPr>
          <p:cNvPr id="41" name="Shape 38"/>
          <p:cNvSpPr/>
          <p:nvPr/>
        </p:nvSpPr>
        <p:spPr>
          <a:xfrm>
            <a:off x="5257800" y="3200400"/>
            <a:ext cx="1691640" cy="1389888"/>
          </a:xfrm>
          <a:prstGeom prst="roundRect">
            <a:avLst>
              <a:gd name="adj" fmla="val 3947"/>
            </a:avLst>
          </a:prstGeom>
          <a:solidFill>
            <a:srgbClr val="FAF1EC"/>
          </a:solidFill>
          <a:ln w="9525">
            <a:solidFill>
              <a:srgbClr val="F0D9CC"/>
            </a:solidFill>
            <a:prstDash val="solid"/>
          </a:ln>
        </p:spPr>
      </p:sp>
      <p:sp>
        <p:nvSpPr>
          <p:cNvPr id="42" name="Text 39"/>
          <p:cNvSpPr txBox="1"/>
          <p:nvPr/>
        </p:nvSpPr>
        <p:spPr>
          <a:xfrm>
            <a:off x="5257800" y="3584448"/>
            <a:ext cx="1691640" cy="411480"/>
          </a:xfrm>
          <a:prstGeom prst="rect">
            <a:avLst/>
          </a:prstGeom>
          <a:noFill/>
          <a:ln/>
        </p:spPr>
        <p:txBody>
          <a:bodyPr wrap="square" lIns="0" tIns="0" rIns="0" bIns="0" rtlCol="0" anchor="ctr"/>
          <a:lstStyle/>
          <a:p>
            <a:pPr algn="ctr" indent="0" marL="0">
              <a:buNone/>
            </a:pPr>
            <a:r>
              <a:rPr lang="en-US" sz="2200" b="1" dirty="0">
                <a:solidFill>
                  <a:srgbClr val="C2410C"/>
                </a:solidFill>
                <a:latin typeface="Cambria" pitchFamily="34" charset="0"/>
                <a:ea typeface="Cambria" pitchFamily="34" charset="-122"/>
                <a:cs typeface="Cambria" pitchFamily="34" charset="-120"/>
              </a:rPr>
              <a:t>1.537</a:t>
            </a:r>
            <a:endParaRPr lang="en-US" sz="2200" dirty="0"/>
          </a:p>
        </p:txBody>
      </p:sp>
      <p:sp>
        <p:nvSpPr>
          <p:cNvPr id="43" name="Text 40"/>
          <p:cNvSpPr txBox="1"/>
          <p:nvPr/>
        </p:nvSpPr>
        <p:spPr>
          <a:xfrm>
            <a:off x="5257800" y="4023360"/>
            <a:ext cx="1691640" cy="201168"/>
          </a:xfrm>
          <a:prstGeom prst="rect">
            <a:avLst/>
          </a:prstGeom>
          <a:noFill/>
          <a:ln/>
        </p:spPr>
        <p:txBody>
          <a:bodyPr wrap="square" lIns="0" tIns="0" rIns="0" bIns="0" rtlCol="0" anchor="ctr"/>
          <a:lstStyle/>
          <a:p>
            <a:pPr algn="ctr" indent="0" marL="0">
              <a:buNone/>
            </a:pPr>
            <a:r>
              <a:rPr lang="en-US" sz="900" dirty="0">
                <a:solidFill>
                  <a:srgbClr val="C2410C"/>
                </a:solidFill>
                <a:latin typeface="Calibri" pitchFamily="34" charset="0"/>
                <a:ea typeface="Calibri" pitchFamily="34" charset="-122"/>
                <a:cs typeface="Calibri" pitchFamily="34" charset="-120"/>
              </a:rPr>
              <a:t>falso negativo</a:t>
            </a:r>
            <a:endParaRPr lang="en-US" sz="900" dirty="0"/>
          </a:p>
        </p:txBody>
      </p:sp>
      <p:sp>
        <p:nvSpPr>
          <p:cNvPr id="44" name="Shape 41"/>
          <p:cNvSpPr/>
          <p:nvPr/>
        </p:nvSpPr>
        <p:spPr>
          <a:xfrm>
            <a:off x="7040880" y="3200400"/>
            <a:ext cx="1691640" cy="1389888"/>
          </a:xfrm>
          <a:prstGeom prst="roundRect">
            <a:avLst>
              <a:gd name="adj" fmla="val 3947"/>
            </a:avLst>
          </a:prstGeom>
          <a:solidFill>
            <a:srgbClr val="ECF5F0"/>
          </a:solidFill>
          <a:ln w="9525">
            <a:solidFill>
              <a:srgbClr val="CFE5D8"/>
            </a:solidFill>
            <a:prstDash val="solid"/>
          </a:ln>
        </p:spPr>
      </p:sp>
      <p:sp>
        <p:nvSpPr>
          <p:cNvPr id="45" name="Text 42"/>
          <p:cNvSpPr txBox="1"/>
          <p:nvPr/>
        </p:nvSpPr>
        <p:spPr>
          <a:xfrm>
            <a:off x="7040880" y="3584448"/>
            <a:ext cx="1691640" cy="411480"/>
          </a:xfrm>
          <a:prstGeom prst="rect">
            <a:avLst/>
          </a:prstGeom>
          <a:noFill/>
          <a:ln/>
        </p:spPr>
        <p:txBody>
          <a:bodyPr wrap="square" lIns="0" tIns="0" rIns="0" bIns="0" rtlCol="0" anchor="ctr"/>
          <a:lstStyle/>
          <a:p>
            <a:pPr algn="ctr" indent="0" marL="0">
              <a:buNone/>
            </a:pPr>
            <a:r>
              <a:rPr lang="en-US" sz="2200" b="1" dirty="0">
                <a:solidFill>
                  <a:srgbClr val="1E8A5A"/>
                </a:solidFill>
                <a:latin typeface="Cambria" pitchFamily="34" charset="0"/>
                <a:ea typeface="Cambria" pitchFamily="34" charset="-122"/>
                <a:cs typeface="Cambria" pitchFamily="34" charset="-120"/>
              </a:rPr>
              <a:t>19.896</a:t>
            </a:r>
            <a:endParaRPr lang="en-US" sz="2200" dirty="0"/>
          </a:p>
        </p:txBody>
      </p:sp>
      <p:sp>
        <p:nvSpPr>
          <p:cNvPr id="46" name="Text 43"/>
          <p:cNvSpPr txBox="1"/>
          <p:nvPr/>
        </p:nvSpPr>
        <p:spPr>
          <a:xfrm>
            <a:off x="7040880" y="4023360"/>
            <a:ext cx="1691640" cy="201168"/>
          </a:xfrm>
          <a:prstGeom prst="rect">
            <a:avLst/>
          </a:prstGeom>
          <a:noFill/>
          <a:ln/>
        </p:spPr>
        <p:txBody>
          <a:bodyPr wrap="square" lIns="0" tIns="0" rIns="0" bIns="0" rtlCol="0" anchor="ctr"/>
          <a:lstStyle/>
          <a:p>
            <a:pPr algn="ctr" indent="0" marL="0">
              <a:buNone/>
            </a:pPr>
            <a:r>
              <a:rPr lang="en-US" sz="900" dirty="0">
                <a:solidFill>
                  <a:srgbClr val="1E8A5A"/>
                </a:solidFill>
                <a:latin typeface="Calibri" pitchFamily="34" charset="0"/>
                <a:ea typeface="Calibri" pitchFamily="34" charset="-122"/>
                <a:cs typeface="Calibri" pitchFamily="34" charset="-120"/>
              </a:rPr>
              <a:t>verdadero positivo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Shape 5"/>
          <p:cNvSpPr/>
          <p:nvPr/>
        </p:nvSpPr>
        <p:spPr>
          <a:xfrm>
            <a:off x="3567989" y="4914900"/>
            <a:ext cx="782726" cy="187452"/>
          </a:xfrm>
          <a:prstGeom prst="roundRect">
            <a:avLst>
              <a:gd name="adj" fmla="val 19512"/>
            </a:avLst>
          </a:prstGeom>
          <a:solidFill>
            <a:srgbClr val="CA061C"/>
          </a:solidFill>
          <a:ln w="12700">
            <a:solidFill>
              <a:srgbClr val="CA061C"/>
            </a:solidFill>
            <a:prstDash val="solid"/>
          </a:ln>
        </p:spPr>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16</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5 · EVALUACIÓN · DESGLOSE POR FUENTE Y TRANSFERENCIA</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El promedio esconde dos fuentes muy distintas</a:t>
            </a:r>
            <a:endParaRPr lang="en-US" sz="2400" dirty="0"/>
          </a:p>
        </p:txBody>
      </p:sp>
      <p:sp>
        <p:nvSpPr>
          <p:cNvPr id="14" name="Shape 11"/>
          <p:cNvSpPr/>
          <p:nvPr/>
        </p:nvSpPr>
        <p:spPr>
          <a:xfrm>
            <a:off x="411480" y="1051560"/>
            <a:ext cx="2011680" cy="1325880"/>
          </a:xfrm>
          <a:prstGeom prst="roundRect">
            <a:avLst>
              <a:gd name="adj" fmla="val 4138"/>
            </a:avLst>
          </a:prstGeom>
          <a:solidFill>
            <a:srgbClr val="141821"/>
          </a:solidFill>
          <a:ln w="9525">
            <a:solidFill>
              <a:srgbClr val="141821"/>
            </a:solidFill>
            <a:prstDash val="solid"/>
          </a:ln>
        </p:spPr>
      </p:sp>
      <p:sp>
        <p:nvSpPr>
          <p:cNvPr id="15" name="Text 12"/>
          <p:cNvSpPr txBox="1"/>
          <p:nvPr/>
        </p:nvSpPr>
        <p:spPr>
          <a:xfrm>
            <a:off x="411480" y="1161288"/>
            <a:ext cx="20116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0,9845</a:t>
            </a:r>
            <a:endParaRPr lang="en-US" sz="2600" dirty="0"/>
          </a:p>
        </p:txBody>
      </p:sp>
      <p:sp>
        <p:nvSpPr>
          <p:cNvPr id="16" name="Text 13"/>
          <p:cNvSpPr txBox="1"/>
          <p:nvPr/>
        </p:nvSpPr>
        <p:spPr>
          <a:xfrm>
            <a:off x="457200" y="1691640"/>
            <a:ext cx="192024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archive2</a:t>
            </a:r>
            <a:endParaRPr lang="en-US" sz="950" dirty="0"/>
          </a:p>
          <a:p>
            <a:pPr algn="ctr" indent="0" marL="0">
              <a:buNone/>
            </a:pPr>
            <a:r>
              <a:rPr lang="en-US" sz="950" dirty="0">
                <a:solidFill>
                  <a:srgbClr val="AEB6C4"/>
                </a:solidFill>
                <a:latin typeface="Calibri" pitchFamily="34" charset="0"/>
                <a:ea typeface="Calibri" pitchFamily="34" charset="-122"/>
                <a:cs typeface="Calibri" pitchFamily="34" charset="-120"/>
              </a:rPr>
              <a:t>macro F1 OOF · 38.826 registros</a:t>
            </a:r>
            <a:endParaRPr lang="en-US" sz="950" dirty="0"/>
          </a:p>
        </p:txBody>
      </p:sp>
      <p:sp>
        <p:nvSpPr>
          <p:cNvPr id="17" name="Shape 14"/>
          <p:cNvSpPr/>
          <p:nvPr/>
        </p:nvSpPr>
        <p:spPr>
          <a:xfrm>
            <a:off x="2560320" y="1051560"/>
            <a:ext cx="2011680" cy="1325880"/>
          </a:xfrm>
          <a:prstGeom prst="roundRect">
            <a:avLst>
              <a:gd name="adj" fmla="val 4138"/>
            </a:avLst>
          </a:prstGeom>
          <a:solidFill>
            <a:srgbClr val="CA061C"/>
          </a:solidFill>
          <a:ln w="9525">
            <a:solidFill>
              <a:srgbClr val="CA061C"/>
            </a:solidFill>
            <a:prstDash val="solid"/>
          </a:ln>
        </p:spPr>
      </p:sp>
      <p:sp>
        <p:nvSpPr>
          <p:cNvPr id="18" name="Text 15"/>
          <p:cNvSpPr txBox="1"/>
          <p:nvPr/>
        </p:nvSpPr>
        <p:spPr>
          <a:xfrm>
            <a:off x="2560320" y="1161288"/>
            <a:ext cx="20116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0,5949</a:t>
            </a:r>
            <a:endParaRPr lang="en-US" sz="2600" dirty="0"/>
          </a:p>
        </p:txBody>
      </p:sp>
      <p:sp>
        <p:nvSpPr>
          <p:cNvPr id="19" name="Text 16"/>
          <p:cNvSpPr txBox="1"/>
          <p:nvPr/>
        </p:nvSpPr>
        <p:spPr>
          <a:xfrm>
            <a:off x="2606040" y="1691640"/>
            <a:ext cx="192024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LIAR</a:t>
            </a:r>
            <a:endParaRPr lang="en-US" sz="950" dirty="0"/>
          </a:p>
          <a:p>
            <a:pPr algn="ctr" indent="0" marL="0">
              <a:buNone/>
            </a:pPr>
            <a:r>
              <a:rPr lang="en-US" sz="950" dirty="0">
                <a:solidFill>
                  <a:srgbClr val="FBE7EA"/>
                </a:solidFill>
                <a:latin typeface="Calibri" pitchFamily="34" charset="0"/>
                <a:ea typeface="Calibri" pitchFamily="34" charset="-122"/>
                <a:cs typeface="Calibri" pitchFamily="34" charset="-120"/>
              </a:rPr>
              <a:t>macro F1 OOF · 5.582 registros</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2514600"/>
          <a:ext cx="4160520" cy="914400"/>
        </p:xfrm>
        <a:graphic>
          <a:graphicData uri="http://schemas.openxmlformats.org/drawingml/2006/table">
            <a:tbl>
              <a:tblPr/>
              <a:tblGrid>
                <a:gridCol w="2148840"/>
                <a:gridCol w="1005840"/>
                <a:gridCol w="1005840"/>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Errores OOF (Tabla 23)</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Falsos +</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Falsos −</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41821"/>
                    </a:solidFill>
                  </a:tcPr>
                </a:tc>
              </a:tr>
              <a:tr h="274320">
                <a:tc>
                  <a:txBody>
                    <a:bodyPr/>
                    <a:lstStyle/>
                    <a:p>
                      <a:pPr algn="l" indent="0" marL="0">
                        <a:buNone/>
                      </a:pPr>
                      <a:r>
                        <a:rPr lang="en-US" sz="950" dirty="0">
                          <a:solidFill>
                            <a:srgbClr val="141821"/>
                          </a:solidFill>
                          <a:latin typeface="Calibri" pitchFamily="34" charset="0"/>
                          <a:ea typeface="Calibri" pitchFamily="34" charset="-122"/>
                          <a:cs typeface="Calibri" pitchFamily="34" charset="-120"/>
                        </a:rPr>
                        <a:t>Global</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1.156</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1.537</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41821"/>
                          </a:solidFill>
                          <a:latin typeface="Calibri" pitchFamily="34" charset="0"/>
                          <a:ea typeface="Calibri" pitchFamily="34" charset="-122"/>
                          <a:cs typeface="Calibri" pitchFamily="34" charset="-120"/>
                        </a:rPr>
                        <a:t>archive2</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95</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dirty="0">
                          <a:solidFill>
                            <a:srgbClr val="141821"/>
                          </a:solidFill>
                          <a:latin typeface="Calibri" pitchFamily="34" charset="0"/>
                          <a:ea typeface="Calibri" pitchFamily="34" charset="-122"/>
                          <a:cs typeface="Calibri" pitchFamily="34" charset="-120"/>
                        </a:rPr>
                        <a:t>502</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141821"/>
                          </a:solidFill>
                          <a:latin typeface="Calibri" pitchFamily="34" charset="0"/>
                          <a:ea typeface="Calibri" pitchFamily="34" charset="-122"/>
                          <a:cs typeface="Calibri" pitchFamily="34" charset="-120"/>
                        </a:rPr>
                        <a:t>LIAR</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41821"/>
                          </a:solidFill>
                          <a:latin typeface="Calibri" pitchFamily="34" charset="0"/>
                          <a:ea typeface="Calibri" pitchFamily="34" charset="-122"/>
                          <a:cs typeface="Calibri" pitchFamily="34" charset="-120"/>
                        </a:rPr>
                        <a:t>1.061</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41821"/>
                          </a:solidFill>
                          <a:latin typeface="Calibri" pitchFamily="34" charset="0"/>
                          <a:ea typeface="Calibri" pitchFamily="34" charset="-122"/>
                          <a:cs typeface="Calibri" pitchFamily="34" charset="-120"/>
                        </a:rPr>
                        <a:t>1.035</a:t>
                      </a:r>
                      <a:endParaRPr lang="en-US" sz="950" dirty="0">
                        <a:latin typeface="Calibri" charset="0"/>
                        <a:ea typeface="Calibri" charset="0"/>
                        <a:cs typeface="Calibri" charset="0"/>
                      </a:endParaRPr>
                    </a:p>
                  </a:txBody>
                  <a:tcPr marL="91440" marR="91440" marT="27432" marB="2743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bl>
          </a:graphicData>
        </a:graphic>
      </p:graphicFrame>
      <p:sp>
        <p:nvSpPr>
          <p:cNvPr id="21" name="Shape 17"/>
          <p:cNvSpPr/>
          <p:nvPr/>
        </p:nvSpPr>
        <p:spPr>
          <a:xfrm>
            <a:off x="4754880" y="1051560"/>
            <a:ext cx="3977640" cy="2697480"/>
          </a:xfrm>
          <a:prstGeom prst="roundRect">
            <a:avLst>
              <a:gd name="adj" fmla="val 2034"/>
            </a:avLst>
          </a:prstGeom>
          <a:solidFill>
            <a:srgbClr val="EEF1F6"/>
          </a:solidFill>
          <a:ln w="9525">
            <a:solidFill>
              <a:srgbClr val="EEF1F6"/>
            </a:solidFill>
            <a:prstDash val="solid"/>
          </a:ln>
        </p:spPr>
      </p:sp>
      <p:sp>
        <p:nvSpPr>
          <p:cNvPr id="22" name="Text 18"/>
          <p:cNvSpPr txBox="1"/>
          <p:nvPr/>
        </p:nvSpPr>
        <p:spPr>
          <a:xfrm>
            <a:off x="4937760" y="1188720"/>
            <a:ext cx="36576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TRANSFERENCIA ENTRE FUENTES · MACRO F1 (TABLA 24)</a:t>
            </a:r>
            <a:endParaRPr lang="en-US" sz="750" dirty="0"/>
          </a:p>
        </p:txBody>
      </p:sp>
      <p:sp>
        <p:nvSpPr>
          <p:cNvPr id="23" name="Shape 19"/>
          <p:cNvSpPr/>
          <p:nvPr/>
        </p:nvSpPr>
        <p:spPr>
          <a:xfrm>
            <a:off x="4937760" y="1481328"/>
            <a:ext cx="3611880" cy="457200"/>
          </a:xfrm>
          <a:prstGeom prst="roundRect">
            <a:avLst>
              <a:gd name="adj" fmla="val 12000"/>
            </a:avLst>
          </a:prstGeom>
          <a:solidFill>
            <a:srgbClr val="FFFFFF"/>
          </a:solidFill>
          <a:ln w="9525">
            <a:solidFill>
              <a:srgbClr val="D5DAE2"/>
            </a:solidFill>
            <a:prstDash val="solid"/>
          </a:ln>
        </p:spPr>
      </p:sp>
      <p:sp>
        <p:nvSpPr>
          <p:cNvPr id="24" name="Text 20"/>
          <p:cNvSpPr txBox="1"/>
          <p:nvPr/>
        </p:nvSpPr>
        <p:spPr>
          <a:xfrm>
            <a:off x="5074920" y="1481328"/>
            <a:ext cx="1325880" cy="457200"/>
          </a:xfrm>
          <a:prstGeom prst="rect">
            <a:avLst/>
          </a:prstGeom>
          <a:noFill/>
          <a:ln/>
        </p:spPr>
        <p:txBody>
          <a:bodyPr wrap="square" lIns="0" tIns="0" rIns="0" bIns="0" rtlCol="0" anchor="ctr"/>
          <a:lstStyle/>
          <a:p>
            <a:pPr indent="0" marL="0">
              <a:buNone/>
            </a:pPr>
            <a:r>
              <a:rPr lang="en-US" sz="850" b="1" dirty="0">
                <a:solidFill>
                  <a:srgbClr val="141821"/>
                </a:solidFill>
                <a:latin typeface="Courier New" pitchFamily="34" charset="0"/>
                <a:ea typeface="Courier New" pitchFamily="34" charset="-122"/>
                <a:cs typeface="Courier New" pitchFamily="34" charset="-120"/>
              </a:rPr>
              <a:t>archive2 → LIAR</a:t>
            </a:r>
            <a:endParaRPr lang="en-US" sz="850" dirty="0"/>
          </a:p>
        </p:txBody>
      </p:sp>
      <p:sp>
        <p:nvSpPr>
          <p:cNvPr id="25" name="Text 21"/>
          <p:cNvSpPr txBox="1"/>
          <p:nvPr/>
        </p:nvSpPr>
        <p:spPr>
          <a:xfrm>
            <a:off x="6400800" y="1481328"/>
            <a:ext cx="1280160" cy="4572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Regresión logística</a:t>
            </a:r>
            <a:endParaRPr lang="en-US" sz="900" dirty="0"/>
          </a:p>
        </p:txBody>
      </p:sp>
      <p:sp>
        <p:nvSpPr>
          <p:cNvPr id="26" name="Text 22"/>
          <p:cNvSpPr txBox="1"/>
          <p:nvPr/>
        </p:nvSpPr>
        <p:spPr>
          <a:xfrm>
            <a:off x="7635240" y="1481328"/>
            <a:ext cx="822960" cy="457200"/>
          </a:xfrm>
          <a:prstGeom prst="rect">
            <a:avLst/>
          </a:prstGeom>
          <a:noFill/>
          <a:ln/>
        </p:spPr>
        <p:txBody>
          <a:bodyPr wrap="square" lIns="0" tIns="0" rIns="0" bIns="0" rtlCol="0" anchor="ctr"/>
          <a:lstStyle/>
          <a:p>
            <a:pPr algn="r" indent="0" marL="0">
              <a:buNone/>
            </a:pPr>
            <a:r>
              <a:rPr lang="en-US" sz="1400" b="1" dirty="0">
                <a:solidFill>
                  <a:srgbClr val="CA061C"/>
                </a:solidFill>
                <a:latin typeface="Cambria" pitchFamily="34" charset="0"/>
                <a:ea typeface="Cambria" pitchFamily="34" charset="-122"/>
                <a:cs typeface="Cambria" pitchFamily="34" charset="-120"/>
              </a:rPr>
              <a:t>0,5069</a:t>
            </a:r>
            <a:endParaRPr lang="en-US" sz="1400" dirty="0"/>
          </a:p>
        </p:txBody>
      </p:sp>
      <p:sp>
        <p:nvSpPr>
          <p:cNvPr id="27" name="Shape 23"/>
          <p:cNvSpPr/>
          <p:nvPr/>
        </p:nvSpPr>
        <p:spPr>
          <a:xfrm>
            <a:off x="4937760" y="2029968"/>
            <a:ext cx="3611880" cy="457200"/>
          </a:xfrm>
          <a:prstGeom prst="roundRect">
            <a:avLst>
              <a:gd name="adj" fmla="val 12000"/>
            </a:avLst>
          </a:prstGeom>
          <a:solidFill>
            <a:srgbClr val="FFFFFF"/>
          </a:solidFill>
          <a:ln w="9525">
            <a:solidFill>
              <a:srgbClr val="D5DAE2"/>
            </a:solidFill>
            <a:prstDash val="solid"/>
          </a:ln>
        </p:spPr>
      </p:sp>
      <p:sp>
        <p:nvSpPr>
          <p:cNvPr id="28" name="Text 24"/>
          <p:cNvSpPr txBox="1"/>
          <p:nvPr/>
        </p:nvSpPr>
        <p:spPr>
          <a:xfrm>
            <a:off x="5074920" y="2029968"/>
            <a:ext cx="1325880" cy="457200"/>
          </a:xfrm>
          <a:prstGeom prst="rect">
            <a:avLst/>
          </a:prstGeom>
          <a:noFill/>
          <a:ln/>
        </p:spPr>
        <p:txBody>
          <a:bodyPr wrap="square" lIns="0" tIns="0" rIns="0" bIns="0" rtlCol="0" anchor="ctr"/>
          <a:lstStyle/>
          <a:p>
            <a:pPr indent="0" marL="0">
              <a:buNone/>
            </a:pPr>
            <a:r>
              <a:rPr lang="en-US" sz="850" b="1" dirty="0">
                <a:solidFill>
                  <a:srgbClr val="141821"/>
                </a:solidFill>
                <a:latin typeface="Courier New" pitchFamily="34" charset="0"/>
                <a:ea typeface="Courier New" pitchFamily="34" charset="-122"/>
                <a:cs typeface="Courier New" pitchFamily="34" charset="-120"/>
              </a:rPr>
              <a:t>archive2 → LIAR</a:t>
            </a:r>
            <a:endParaRPr lang="en-US" sz="850" dirty="0"/>
          </a:p>
        </p:txBody>
      </p:sp>
      <p:sp>
        <p:nvSpPr>
          <p:cNvPr id="29" name="Text 25"/>
          <p:cNvSpPr txBox="1"/>
          <p:nvPr/>
        </p:nvSpPr>
        <p:spPr>
          <a:xfrm>
            <a:off x="6400800" y="2029968"/>
            <a:ext cx="1280160" cy="4572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Linear SVC</a:t>
            </a:r>
            <a:endParaRPr lang="en-US" sz="900" dirty="0"/>
          </a:p>
        </p:txBody>
      </p:sp>
      <p:sp>
        <p:nvSpPr>
          <p:cNvPr id="30" name="Text 26"/>
          <p:cNvSpPr txBox="1"/>
          <p:nvPr/>
        </p:nvSpPr>
        <p:spPr>
          <a:xfrm>
            <a:off x="7635240" y="2029968"/>
            <a:ext cx="822960" cy="457200"/>
          </a:xfrm>
          <a:prstGeom prst="rect">
            <a:avLst/>
          </a:prstGeom>
          <a:noFill/>
          <a:ln/>
        </p:spPr>
        <p:txBody>
          <a:bodyPr wrap="square" lIns="0" tIns="0" rIns="0" bIns="0" rtlCol="0" anchor="ctr"/>
          <a:lstStyle/>
          <a:p>
            <a:pPr algn="r" indent="0" marL="0">
              <a:buNone/>
            </a:pPr>
            <a:r>
              <a:rPr lang="en-US" sz="1400" b="1" dirty="0">
                <a:solidFill>
                  <a:srgbClr val="CA061C"/>
                </a:solidFill>
                <a:latin typeface="Cambria" pitchFamily="34" charset="0"/>
                <a:ea typeface="Cambria" pitchFamily="34" charset="-122"/>
                <a:cs typeface="Cambria" pitchFamily="34" charset="-120"/>
              </a:rPr>
              <a:t>0,5064</a:t>
            </a:r>
            <a:endParaRPr lang="en-US" sz="1400" dirty="0"/>
          </a:p>
        </p:txBody>
      </p:sp>
      <p:sp>
        <p:nvSpPr>
          <p:cNvPr id="31" name="Shape 27"/>
          <p:cNvSpPr/>
          <p:nvPr/>
        </p:nvSpPr>
        <p:spPr>
          <a:xfrm>
            <a:off x="4937760" y="2578608"/>
            <a:ext cx="3611880" cy="457200"/>
          </a:xfrm>
          <a:prstGeom prst="roundRect">
            <a:avLst>
              <a:gd name="adj" fmla="val 12000"/>
            </a:avLst>
          </a:prstGeom>
          <a:solidFill>
            <a:srgbClr val="FFFFFF"/>
          </a:solidFill>
          <a:ln w="9525">
            <a:solidFill>
              <a:srgbClr val="D5DAE2"/>
            </a:solidFill>
            <a:prstDash val="solid"/>
          </a:ln>
        </p:spPr>
      </p:sp>
      <p:sp>
        <p:nvSpPr>
          <p:cNvPr id="32" name="Text 28"/>
          <p:cNvSpPr txBox="1"/>
          <p:nvPr/>
        </p:nvSpPr>
        <p:spPr>
          <a:xfrm>
            <a:off x="5074920" y="2578608"/>
            <a:ext cx="1325880" cy="457200"/>
          </a:xfrm>
          <a:prstGeom prst="rect">
            <a:avLst/>
          </a:prstGeom>
          <a:noFill/>
          <a:ln/>
        </p:spPr>
        <p:txBody>
          <a:bodyPr wrap="square" lIns="0" tIns="0" rIns="0" bIns="0" rtlCol="0" anchor="ctr"/>
          <a:lstStyle/>
          <a:p>
            <a:pPr indent="0" marL="0">
              <a:buNone/>
            </a:pPr>
            <a:r>
              <a:rPr lang="en-US" sz="850" b="1" dirty="0">
                <a:solidFill>
                  <a:srgbClr val="141821"/>
                </a:solidFill>
                <a:latin typeface="Courier New" pitchFamily="34" charset="0"/>
                <a:ea typeface="Courier New" pitchFamily="34" charset="-122"/>
                <a:cs typeface="Courier New" pitchFamily="34" charset="-120"/>
              </a:rPr>
              <a:t>LIAR → archive2</a:t>
            </a:r>
            <a:endParaRPr lang="en-US" sz="850" dirty="0"/>
          </a:p>
        </p:txBody>
      </p:sp>
      <p:sp>
        <p:nvSpPr>
          <p:cNvPr id="33" name="Text 29"/>
          <p:cNvSpPr txBox="1"/>
          <p:nvPr/>
        </p:nvSpPr>
        <p:spPr>
          <a:xfrm>
            <a:off x="6400800" y="2578608"/>
            <a:ext cx="1280160" cy="4572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Regresión logística</a:t>
            </a:r>
            <a:endParaRPr lang="en-US" sz="900" dirty="0"/>
          </a:p>
        </p:txBody>
      </p:sp>
      <p:sp>
        <p:nvSpPr>
          <p:cNvPr id="34" name="Text 30"/>
          <p:cNvSpPr txBox="1"/>
          <p:nvPr/>
        </p:nvSpPr>
        <p:spPr>
          <a:xfrm>
            <a:off x="7635240" y="2578608"/>
            <a:ext cx="822960" cy="457200"/>
          </a:xfrm>
          <a:prstGeom prst="rect">
            <a:avLst/>
          </a:prstGeom>
          <a:noFill/>
          <a:ln/>
        </p:spPr>
        <p:txBody>
          <a:bodyPr wrap="square" lIns="0" tIns="0" rIns="0" bIns="0" rtlCol="0" anchor="ctr"/>
          <a:lstStyle/>
          <a:p>
            <a:pPr algn="r" indent="0" marL="0">
              <a:buNone/>
            </a:pPr>
            <a:r>
              <a:rPr lang="en-US" sz="1400" b="1" dirty="0">
                <a:solidFill>
                  <a:srgbClr val="CA061C"/>
                </a:solidFill>
                <a:latin typeface="Cambria" pitchFamily="34" charset="0"/>
                <a:ea typeface="Cambria" pitchFamily="34" charset="-122"/>
                <a:cs typeface="Cambria" pitchFamily="34" charset="-120"/>
              </a:rPr>
              <a:t>0,4741</a:t>
            </a:r>
            <a:endParaRPr lang="en-US" sz="1400" dirty="0"/>
          </a:p>
        </p:txBody>
      </p:sp>
      <p:sp>
        <p:nvSpPr>
          <p:cNvPr id="35" name="Shape 31"/>
          <p:cNvSpPr/>
          <p:nvPr/>
        </p:nvSpPr>
        <p:spPr>
          <a:xfrm>
            <a:off x="4937760" y="3127248"/>
            <a:ext cx="3611880" cy="457200"/>
          </a:xfrm>
          <a:prstGeom prst="roundRect">
            <a:avLst>
              <a:gd name="adj" fmla="val 12000"/>
            </a:avLst>
          </a:prstGeom>
          <a:solidFill>
            <a:srgbClr val="FFFFFF"/>
          </a:solidFill>
          <a:ln w="9525">
            <a:solidFill>
              <a:srgbClr val="D5DAE2"/>
            </a:solidFill>
            <a:prstDash val="solid"/>
          </a:ln>
        </p:spPr>
      </p:sp>
      <p:sp>
        <p:nvSpPr>
          <p:cNvPr id="36" name="Text 32"/>
          <p:cNvSpPr txBox="1"/>
          <p:nvPr/>
        </p:nvSpPr>
        <p:spPr>
          <a:xfrm>
            <a:off x="5074920" y="3127248"/>
            <a:ext cx="1325880" cy="457200"/>
          </a:xfrm>
          <a:prstGeom prst="rect">
            <a:avLst/>
          </a:prstGeom>
          <a:noFill/>
          <a:ln/>
        </p:spPr>
        <p:txBody>
          <a:bodyPr wrap="square" lIns="0" tIns="0" rIns="0" bIns="0" rtlCol="0" anchor="ctr"/>
          <a:lstStyle/>
          <a:p>
            <a:pPr indent="0" marL="0">
              <a:buNone/>
            </a:pPr>
            <a:r>
              <a:rPr lang="en-US" sz="850" b="1" dirty="0">
                <a:solidFill>
                  <a:srgbClr val="141821"/>
                </a:solidFill>
                <a:latin typeface="Courier New" pitchFamily="34" charset="0"/>
                <a:ea typeface="Courier New" pitchFamily="34" charset="-122"/>
                <a:cs typeface="Courier New" pitchFamily="34" charset="-120"/>
              </a:rPr>
              <a:t>LIAR → archive2</a:t>
            </a:r>
            <a:endParaRPr lang="en-US" sz="850" dirty="0"/>
          </a:p>
        </p:txBody>
      </p:sp>
      <p:sp>
        <p:nvSpPr>
          <p:cNvPr id="37" name="Text 33"/>
          <p:cNvSpPr txBox="1"/>
          <p:nvPr/>
        </p:nvSpPr>
        <p:spPr>
          <a:xfrm>
            <a:off x="6400800" y="3127248"/>
            <a:ext cx="1280160" cy="4572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Linear SVC</a:t>
            </a:r>
            <a:endParaRPr lang="en-US" sz="900" dirty="0"/>
          </a:p>
        </p:txBody>
      </p:sp>
      <p:sp>
        <p:nvSpPr>
          <p:cNvPr id="38" name="Text 34"/>
          <p:cNvSpPr txBox="1"/>
          <p:nvPr/>
        </p:nvSpPr>
        <p:spPr>
          <a:xfrm>
            <a:off x="7635240" y="3127248"/>
            <a:ext cx="822960" cy="457200"/>
          </a:xfrm>
          <a:prstGeom prst="rect">
            <a:avLst/>
          </a:prstGeom>
          <a:noFill/>
          <a:ln/>
        </p:spPr>
        <p:txBody>
          <a:bodyPr wrap="square" lIns="0" tIns="0" rIns="0" bIns="0" rtlCol="0" anchor="ctr"/>
          <a:lstStyle/>
          <a:p>
            <a:pPr algn="r" indent="0" marL="0">
              <a:buNone/>
            </a:pPr>
            <a:r>
              <a:rPr lang="en-US" sz="1400" b="1" dirty="0">
                <a:solidFill>
                  <a:srgbClr val="CA061C"/>
                </a:solidFill>
                <a:latin typeface="Cambria" pitchFamily="34" charset="0"/>
                <a:ea typeface="Cambria" pitchFamily="34" charset="-122"/>
                <a:cs typeface="Cambria" pitchFamily="34" charset="-120"/>
              </a:rPr>
              <a:t>0,5203</a:t>
            </a:r>
            <a:endParaRPr lang="en-US" sz="1400" dirty="0"/>
          </a:p>
        </p:txBody>
      </p:sp>
      <p:sp>
        <p:nvSpPr>
          <p:cNvPr id="39" name="Shape 35"/>
          <p:cNvSpPr/>
          <p:nvPr/>
        </p:nvSpPr>
        <p:spPr>
          <a:xfrm>
            <a:off x="411480" y="3794760"/>
            <a:ext cx="8321040" cy="886968"/>
          </a:xfrm>
          <a:prstGeom prst="roundRect">
            <a:avLst>
              <a:gd name="adj" fmla="val 6186"/>
            </a:avLst>
          </a:prstGeom>
          <a:solidFill>
            <a:srgbClr val="141821"/>
          </a:solidFill>
          <a:ln w="9525">
            <a:solidFill>
              <a:srgbClr val="141821"/>
            </a:solidFill>
            <a:prstDash val="solid"/>
          </a:ln>
        </p:spPr>
      </p:sp>
      <p:sp>
        <p:nvSpPr>
          <p:cNvPr id="40" name="Text 36"/>
          <p:cNvSpPr txBox="1"/>
          <p:nvPr/>
        </p:nvSpPr>
        <p:spPr>
          <a:xfrm>
            <a:off x="640080" y="3794760"/>
            <a:ext cx="7863840" cy="886968"/>
          </a:xfrm>
          <a:prstGeom prst="rect">
            <a:avLst/>
          </a:prstGeom>
          <a:noFill/>
          <a:ln/>
        </p:spPr>
        <p:txBody>
          <a:bodyPr wrap="square" lIns="0" tIns="0" rIns="0" bIns="0" rtlCol="0" anchor="ctr"/>
          <a:lstStyle/>
          <a:p>
            <a:pPr indent="0" marL="0">
              <a:buNone/>
            </a:pPr>
            <a:r>
              <a:rPr lang="en-US" sz="1100" b="1" dirty="0">
                <a:solidFill>
                  <a:srgbClr val="FF8A96"/>
                </a:solidFill>
                <a:latin typeface="Calibri" pitchFamily="34" charset="0"/>
                <a:ea typeface="Calibri" pitchFamily="34" charset="-122"/>
                <a:cs typeface="Calibri" pitchFamily="34" charset="-120"/>
              </a:rPr>
              <a:t>Lectura: </a:t>
            </a:r>
            <a:pPr indent="0" marL="0">
              <a:buNone/>
            </a:pPr>
            <a:r>
              <a:rPr lang="en-US" sz="1100" dirty="0">
                <a:solidFill>
                  <a:srgbClr val="FFFFFF"/>
                </a:solidFill>
                <a:latin typeface="Calibri" pitchFamily="34" charset="0"/>
                <a:ea typeface="Calibri" pitchFamily="34" charset="-122"/>
                <a:cs typeface="Calibri" pitchFamily="34" charset="-120"/>
              </a:rPr>
              <a:t>parte del rendimiento puede explicarse por </a:t>
            </a:r>
            <a:pPr indent="0" marL="0">
              <a:buNone/>
            </a:pPr>
            <a:r>
              <a:rPr lang="en-US" sz="1100" b="1" dirty="0">
                <a:solidFill>
                  <a:srgbClr val="FFFFFF"/>
                </a:solidFill>
                <a:latin typeface="Calibri" pitchFamily="34" charset="0"/>
                <a:ea typeface="Calibri" pitchFamily="34" charset="-122"/>
                <a:cs typeface="Calibri" pitchFamily="34" charset="-120"/>
              </a:rPr>
              <a:t>patrones propios de las fuentes</a:t>
            </a:r>
            <a:pPr indent="0" marL="0">
              <a:buNone/>
            </a:pPr>
            <a:r>
              <a:rPr lang="en-US" sz="1100" dirty="0">
                <a:solidFill>
                  <a:srgbClr val="FFFFFF"/>
                </a:solidFill>
                <a:latin typeface="Calibri" pitchFamily="34" charset="0"/>
                <a:ea typeface="Calibri" pitchFamily="34" charset="-122"/>
                <a:cs typeface="Calibri" pitchFamily="34" charset="-120"/>
              </a:rPr>
              <a:t> (longitud, formato, estilo, etiquetado) y no solo por la veracidad. El protocolo no aísla un único factor causal ni se extrapola a Telegram.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Shape 5"/>
          <p:cNvSpPr/>
          <p:nvPr/>
        </p:nvSpPr>
        <p:spPr>
          <a:xfrm>
            <a:off x="3567989" y="4914900"/>
            <a:ext cx="782726" cy="187452"/>
          </a:xfrm>
          <a:prstGeom prst="roundRect">
            <a:avLst>
              <a:gd name="adj" fmla="val 19512"/>
            </a:avLst>
          </a:prstGeom>
          <a:solidFill>
            <a:srgbClr val="CA061C"/>
          </a:solidFill>
          <a:ln w="12700">
            <a:solidFill>
              <a:srgbClr val="CA061C"/>
            </a:solidFill>
            <a:prstDash val="solid"/>
          </a:ln>
        </p:spPr>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17</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5 · EVALUACIÓN · BASELINE HISTÓRICO E INTERPRETABILIDAD</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Qué términos pesaban, y qué revelan</a:t>
            </a:r>
            <a:endParaRPr lang="en-US" sz="2400" dirty="0"/>
          </a:p>
        </p:txBody>
      </p:sp>
      <p:sp>
        <p:nvSpPr>
          <p:cNvPr id="13" name="Text 11"/>
          <p:cNvSpPr txBox="1"/>
          <p:nvPr/>
        </p:nvSpPr>
        <p:spPr>
          <a:xfrm>
            <a:off x="411480" y="868680"/>
            <a:ext cx="8321040" cy="237744"/>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Linear SVC del baseline histórico de una partición · referencia documental separada (Apéndice A)</a:t>
            </a:r>
            <a:endParaRPr lang="en-US" sz="1100" dirty="0"/>
          </a:p>
        </p:txBody>
      </p:sp>
      <p:sp>
        <p:nvSpPr>
          <p:cNvPr id="15" name="Shape 12"/>
          <p:cNvSpPr/>
          <p:nvPr/>
        </p:nvSpPr>
        <p:spPr>
          <a:xfrm>
            <a:off x="411480" y="1280160"/>
            <a:ext cx="2377440" cy="3401568"/>
          </a:xfrm>
          <a:prstGeom prst="roundRect">
            <a:avLst>
              <a:gd name="adj" fmla="val 2308"/>
            </a:avLst>
          </a:prstGeom>
          <a:solidFill>
            <a:srgbClr val="141821"/>
          </a:solidFill>
          <a:ln w="9525">
            <a:solidFill>
              <a:srgbClr val="141821"/>
            </a:solidFill>
            <a:prstDash val="solid"/>
          </a:ln>
        </p:spPr>
      </p:sp>
      <p:sp>
        <p:nvSpPr>
          <p:cNvPr id="16" name="Text 13"/>
          <p:cNvSpPr txBox="1"/>
          <p:nvPr/>
        </p:nvSpPr>
        <p:spPr>
          <a:xfrm>
            <a:off x="594360" y="1417320"/>
            <a:ext cx="210312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BASELINE HISTÓRICO</a:t>
            </a:r>
            <a:endParaRPr lang="en-US" sz="750" dirty="0"/>
          </a:p>
        </p:txBody>
      </p:sp>
      <p:sp>
        <p:nvSpPr>
          <p:cNvPr id="17" name="Text 14"/>
          <p:cNvSpPr txBox="1"/>
          <p:nvPr/>
        </p:nvSpPr>
        <p:spPr>
          <a:xfrm>
            <a:off x="594360" y="1645920"/>
            <a:ext cx="210312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0,9424</a:t>
            </a:r>
            <a:endParaRPr lang="en-US" sz="2600" dirty="0"/>
          </a:p>
        </p:txBody>
      </p:sp>
      <p:sp>
        <p:nvSpPr>
          <p:cNvPr id="18" name="Text 15"/>
          <p:cNvSpPr txBox="1"/>
          <p:nvPr/>
        </p:nvSpPr>
        <p:spPr>
          <a:xfrm>
            <a:off x="594360" y="2148840"/>
            <a:ext cx="2103120" cy="365760"/>
          </a:xfrm>
          <a:prstGeom prst="rect">
            <a:avLst/>
          </a:prstGeom>
          <a:noFill/>
          <a:ln/>
        </p:spPr>
        <p:txBody>
          <a:bodyPr wrap="square" lIns="0" tIns="0" rIns="0" bIns="0" rtlCol="0" anchor="t"/>
          <a:lstStyle/>
          <a:p>
            <a:pPr indent="0" marL="0">
              <a:buNone/>
            </a:pPr>
            <a:r>
              <a:rPr lang="en-US" sz="900" dirty="0">
                <a:solidFill>
                  <a:srgbClr val="AEB6C4"/>
                </a:solidFill>
                <a:latin typeface="Calibri" pitchFamily="34" charset="0"/>
                <a:ea typeface="Calibri" pitchFamily="34" charset="-122"/>
                <a:cs typeface="Calibri" pitchFamily="34" charset="-120"/>
              </a:rPr>
              <a:t>macro F1 · Linear SVC · holdout de 12.626</a:t>
            </a:r>
            <a:endParaRPr lang="en-US" sz="900" dirty="0"/>
          </a:p>
        </p:txBody>
      </p:sp>
      <p:sp>
        <p:nvSpPr>
          <p:cNvPr id="19" name="Text 16"/>
          <p:cNvSpPr txBox="1"/>
          <p:nvPr/>
        </p:nvSpPr>
        <p:spPr>
          <a:xfrm>
            <a:off x="594360" y="2606040"/>
            <a:ext cx="2057400" cy="196596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Una auditoría posterior identificó </a:t>
            </a:r>
            <a:pPr indent="0" marL="0">
              <a:buNone/>
            </a:pPr>
            <a:r>
              <a:rPr lang="en-US" sz="950" b="1" dirty="0">
                <a:solidFill>
                  <a:srgbClr val="FFFFFF"/>
                </a:solidFill>
                <a:latin typeface="Calibri" pitchFamily="34" charset="0"/>
                <a:ea typeface="Calibri" pitchFamily="34" charset="-122"/>
                <a:cs typeface="Calibri" pitchFamily="34" charset="-120"/>
              </a:rPr>
              <a:t>solapamiento de textos normalizados</a:t>
            </a:r>
            <a:pPr indent="0" marL="0">
              <a:buNone/>
            </a:pPr>
            <a:r>
              <a:rPr lang="en-US" sz="950" dirty="0">
                <a:solidFill>
                  <a:srgbClr val="FFFFFF"/>
                </a:solidFill>
                <a:latin typeface="Calibri" pitchFamily="34" charset="0"/>
                <a:ea typeface="Calibri" pitchFamily="34" charset="-122"/>
                <a:cs typeface="Calibri" pitchFamily="34" charset="-120"/>
              </a:rPr>
              <a:t> entre entrenamiento y holdout.</a:t>
            </a:r>
            <a:endParaRPr lang="en-US" sz="950" dirty="0"/>
          </a:p>
          <a:p>
            <a:pPr indent="0" marL="0">
              <a:buNone/>
            </a:pPr>
            <a:r>
              <a:rPr lang="en-US" sz="500" dirty="0">
                <a:solidFill>
                  <a:srgbClr val="141821"/>
                </a:solidFill>
                <a:latin typeface="Calibri" pitchFamily="34" charset="0"/>
                <a:ea typeface="Calibri" pitchFamily="34" charset="-122"/>
                <a:cs typeface="Calibri" pitchFamily="34" charset="-120"/>
              </a:rPr>
              <a:t> </a:t>
            </a:r>
            <a:endParaRPr lang="en-US" sz="950" dirty="0"/>
          </a:p>
          <a:p>
            <a:pPr indent="0" marL="0">
              <a:buNone/>
            </a:pPr>
            <a:r>
              <a:rPr lang="en-US" sz="950" dirty="0">
                <a:solidFill>
                  <a:srgbClr val="AEB6C4"/>
                </a:solidFill>
                <a:latin typeface="Calibri" pitchFamily="34" charset="0"/>
                <a:ea typeface="Calibri" pitchFamily="34" charset="-122"/>
                <a:cs typeface="Calibri" pitchFamily="34" charset="-120"/>
              </a:rPr>
              <a:t>Protocolos no equivalentes: la diferencia no se atribuye causalmente a la deduplicación.</a:t>
            </a:r>
            <a:endParaRPr lang="en-US" sz="950" dirty="0"/>
          </a:p>
        </p:txBody>
      </p:sp>
      <p:sp>
        <p:nvSpPr>
          <p:cNvPr id="20" name="Shape 17"/>
          <p:cNvSpPr/>
          <p:nvPr/>
        </p:nvSpPr>
        <p:spPr>
          <a:xfrm>
            <a:off x="2926080" y="1280160"/>
            <a:ext cx="2880360" cy="2606040"/>
          </a:xfrm>
          <a:prstGeom prst="roundRect">
            <a:avLst>
              <a:gd name="adj" fmla="val 2105"/>
            </a:avLst>
          </a:prstGeom>
          <a:solidFill>
            <a:srgbClr val="EAF0F7"/>
          </a:solidFill>
          <a:ln w="9525">
            <a:solidFill>
              <a:srgbClr val="EAF0F7"/>
            </a:solidFill>
            <a:prstDash val="solid"/>
          </a:ln>
        </p:spPr>
      </p:sp>
      <p:sp>
        <p:nvSpPr>
          <p:cNvPr id="21" name="Text 18"/>
          <p:cNvSpPr txBox="1"/>
          <p:nvPr/>
        </p:nvSpPr>
        <p:spPr>
          <a:xfrm>
            <a:off x="3108960" y="1417320"/>
            <a:ext cx="2560320" cy="182880"/>
          </a:xfrm>
          <a:prstGeom prst="rect">
            <a:avLst/>
          </a:prstGeom>
          <a:noFill/>
          <a:ln/>
        </p:spPr>
        <p:txBody>
          <a:bodyPr wrap="square" lIns="0" tIns="0" rIns="0" bIns="0" rtlCol="0" anchor="ctr"/>
          <a:lstStyle/>
          <a:p>
            <a:pPr indent="0" marL="0">
              <a:buNone/>
            </a:pPr>
            <a:r>
              <a:rPr lang="en-US" sz="750" b="1" spc="150" kern="0" dirty="0">
                <a:solidFill>
                  <a:srgbClr val="2F5D8A"/>
                </a:solidFill>
                <a:latin typeface="Calibri" pitchFamily="34" charset="0"/>
                <a:ea typeface="Calibri" pitchFamily="34" charset="-122"/>
                <a:cs typeface="Calibri" pitchFamily="34" charset="-120"/>
              </a:rPr>
              <a:t>EMPUJAN A CLASE 0 (HIST.)</a:t>
            </a:r>
            <a:endParaRPr lang="en-US" sz="750" dirty="0"/>
          </a:p>
        </p:txBody>
      </p:sp>
      <p:sp>
        <p:nvSpPr>
          <p:cNvPr id="22" name="Shape 19"/>
          <p:cNvSpPr/>
          <p:nvPr/>
        </p:nvSpPr>
        <p:spPr>
          <a:xfrm>
            <a:off x="3108960" y="1719072"/>
            <a:ext cx="818388" cy="329184"/>
          </a:xfrm>
          <a:prstGeom prst="roundRect">
            <a:avLst>
              <a:gd name="adj" fmla="val 16667"/>
            </a:avLst>
          </a:prstGeom>
          <a:solidFill>
            <a:srgbClr val="FFFFFF"/>
          </a:solidFill>
          <a:ln w="9525">
            <a:solidFill>
              <a:srgbClr val="D5DAE2"/>
            </a:solidFill>
            <a:prstDash val="solid"/>
          </a:ln>
        </p:spPr>
      </p:sp>
      <p:sp>
        <p:nvSpPr>
          <p:cNvPr id="23" name="Text 20"/>
          <p:cNvSpPr txBox="1"/>
          <p:nvPr/>
        </p:nvSpPr>
        <p:spPr>
          <a:xfrm>
            <a:off x="3108960" y="1719072"/>
            <a:ext cx="818388"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reuters</a:t>
            </a:r>
            <a:endParaRPr lang="en-US" sz="950" dirty="0"/>
          </a:p>
        </p:txBody>
      </p:sp>
      <p:sp>
        <p:nvSpPr>
          <p:cNvPr id="24" name="Shape 21"/>
          <p:cNvSpPr/>
          <p:nvPr/>
        </p:nvSpPr>
        <p:spPr>
          <a:xfrm>
            <a:off x="3108960" y="2157984"/>
            <a:ext cx="1673352" cy="329184"/>
          </a:xfrm>
          <a:prstGeom prst="roundRect">
            <a:avLst>
              <a:gd name="adj" fmla="val 16667"/>
            </a:avLst>
          </a:prstGeom>
          <a:solidFill>
            <a:srgbClr val="FFFFFF"/>
          </a:solidFill>
          <a:ln w="9525">
            <a:solidFill>
              <a:srgbClr val="D5DAE2"/>
            </a:solidFill>
            <a:prstDash val="solid"/>
          </a:ln>
        </p:spPr>
      </p:sp>
      <p:sp>
        <p:nvSpPr>
          <p:cNvPr id="25" name="Text 22"/>
          <p:cNvSpPr txBox="1"/>
          <p:nvPr/>
        </p:nvSpPr>
        <p:spPr>
          <a:xfrm>
            <a:off x="3108960" y="2157984"/>
            <a:ext cx="1673352"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washington reuters</a:t>
            </a:r>
            <a:endParaRPr lang="en-US" sz="950" dirty="0"/>
          </a:p>
        </p:txBody>
      </p:sp>
      <p:sp>
        <p:nvSpPr>
          <p:cNvPr id="26" name="Shape 23"/>
          <p:cNvSpPr/>
          <p:nvPr/>
        </p:nvSpPr>
        <p:spPr>
          <a:xfrm>
            <a:off x="4873752" y="2157984"/>
            <a:ext cx="585216" cy="329184"/>
          </a:xfrm>
          <a:prstGeom prst="roundRect">
            <a:avLst>
              <a:gd name="adj" fmla="val 16667"/>
            </a:avLst>
          </a:prstGeom>
          <a:solidFill>
            <a:srgbClr val="FFFFFF"/>
          </a:solidFill>
          <a:ln w="9525">
            <a:solidFill>
              <a:srgbClr val="D5DAE2"/>
            </a:solidFill>
            <a:prstDash val="solid"/>
          </a:ln>
        </p:spPr>
      </p:sp>
      <p:sp>
        <p:nvSpPr>
          <p:cNvPr id="27" name="Text 24"/>
          <p:cNvSpPr txBox="1"/>
          <p:nvPr/>
        </p:nvSpPr>
        <p:spPr>
          <a:xfrm>
            <a:off x="4873752" y="2157984"/>
            <a:ext cx="585216"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said</a:t>
            </a:r>
            <a:endParaRPr lang="en-US" sz="950" dirty="0"/>
          </a:p>
        </p:txBody>
      </p:sp>
      <p:sp>
        <p:nvSpPr>
          <p:cNvPr id="28" name="Shape 25"/>
          <p:cNvSpPr/>
          <p:nvPr/>
        </p:nvSpPr>
        <p:spPr>
          <a:xfrm>
            <a:off x="3108960" y="2596896"/>
            <a:ext cx="1129284" cy="329184"/>
          </a:xfrm>
          <a:prstGeom prst="roundRect">
            <a:avLst>
              <a:gd name="adj" fmla="val 16667"/>
            </a:avLst>
          </a:prstGeom>
          <a:solidFill>
            <a:srgbClr val="FFFFFF"/>
          </a:solidFill>
          <a:ln w="9525">
            <a:solidFill>
              <a:srgbClr val="D5DAE2"/>
            </a:solidFill>
            <a:prstDash val="solid"/>
          </a:ln>
        </p:spPr>
      </p:sp>
      <p:sp>
        <p:nvSpPr>
          <p:cNvPr id="29" name="Text 26"/>
          <p:cNvSpPr txBox="1"/>
          <p:nvPr/>
        </p:nvSpPr>
        <p:spPr>
          <a:xfrm>
            <a:off x="3108960" y="2596896"/>
            <a:ext cx="1129284"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reuters the</a:t>
            </a:r>
            <a:endParaRPr lang="en-US" sz="950" dirty="0"/>
          </a:p>
        </p:txBody>
      </p:sp>
      <p:sp>
        <p:nvSpPr>
          <p:cNvPr id="30" name="Shape 27"/>
          <p:cNvSpPr/>
          <p:nvPr/>
        </p:nvSpPr>
        <p:spPr>
          <a:xfrm>
            <a:off x="4329684" y="2596896"/>
            <a:ext cx="1051560" cy="329184"/>
          </a:xfrm>
          <a:prstGeom prst="roundRect">
            <a:avLst>
              <a:gd name="adj" fmla="val 16667"/>
            </a:avLst>
          </a:prstGeom>
          <a:solidFill>
            <a:srgbClr val="FFFFFF"/>
          </a:solidFill>
          <a:ln w="9525">
            <a:solidFill>
              <a:srgbClr val="D5DAE2"/>
            </a:solidFill>
            <a:prstDash val="solid"/>
          </a:ln>
        </p:spPr>
      </p:sp>
      <p:sp>
        <p:nvSpPr>
          <p:cNvPr id="31" name="Text 28"/>
          <p:cNvSpPr txBox="1"/>
          <p:nvPr/>
        </p:nvSpPr>
        <p:spPr>
          <a:xfrm>
            <a:off x="4329684" y="2596896"/>
            <a:ext cx="1051560"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on tuesday</a:t>
            </a:r>
            <a:endParaRPr lang="en-US" sz="950" dirty="0"/>
          </a:p>
        </p:txBody>
      </p:sp>
      <p:sp>
        <p:nvSpPr>
          <p:cNvPr id="32" name="Shape 29"/>
          <p:cNvSpPr/>
          <p:nvPr/>
        </p:nvSpPr>
        <p:spPr>
          <a:xfrm>
            <a:off x="3108960" y="3035808"/>
            <a:ext cx="1517904" cy="329184"/>
          </a:xfrm>
          <a:prstGeom prst="roundRect">
            <a:avLst>
              <a:gd name="adj" fmla="val 16667"/>
            </a:avLst>
          </a:prstGeom>
          <a:solidFill>
            <a:srgbClr val="FFFFFF"/>
          </a:solidFill>
          <a:ln w="9525">
            <a:solidFill>
              <a:srgbClr val="D5DAE2"/>
            </a:solidFill>
            <a:prstDash val="solid"/>
          </a:ln>
        </p:spPr>
      </p:sp>
      <p:sp>
        <p:nvSpPr>
          <p:cNvPr id="33" name="Text 30"/>
          <p:cNvSpPr txBox="1"/>
          <p:nvPr/>
        </p:nvSpPr>
        <p:spPr>
          <a:xfrm>
            <a:off x="3108960" y="3035808"/>
            <a:ext cx="1517904"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president donald</a:t>
            </a:r>
            <a:endParaRPr lang="en-US" sz="950" dirty="0"/>
          </a:p>
        </p:txBody>
      </p:sp>
      <p:sp>
        <p:nvSpPr>
          <p:cNvPr id="34" name="Shape 31"/>
          <p:cNvSpPr/>
          <p:nvPr/>
        </p:nvSpPr>
        <p:spPr>
          <a:xfrm>
            <a:off x="5852160" y="1280160"/>
            <a:ext cx="2880360" cy="2606040"/>
          </a:xfrm>
          <a:prstGeom prst="roundRect">
            <a:avLst>
              <a:gd name="adj" fmla="val 2105"/>
            </a:avLst>
          </a:prstGeom>
          <a:solidFill>
            <a:srgbClr val="FBE7EA"/>
          </a:solidFill>
          <a:ln w="9525">
            <a:solidFill>
              <a:srgbClr val="FBE7EA"/>
            </a:solidFill>
            <a:prstDash val="solid"/>
          </a:ln>
        </p:spPr>
      </p:sp>
      <p:sp>
        <p:nvSpPr>
          <p:cNvPr id="35" name="Text 32"/>
          <p:cNvSpPr txBox="1"/>
          <p:nvPr/>
        </p:nvSpPr>
        <p:spPr>
          <a:xfrm>
            <a:off x="6035040" y="1417320"/>
            <a:ext cx="2560320" cy="182880"/>
          </a:xfrm>
          <a:prstGeom prst="rect">
            <a:avLst/>
          </a:prstGeom>
          <a:noFill/>
          <a:ln/>
        </p:spPr>
        <p:txBody>
          <a:bodyPr wrap="square" lIns="0" tIns="0" rIns="0" bIns="0" rtlCol="0" anchor="ctr"/>
          <a:lstStyle/>
          <a:p>
            <a:pPr indent="0" marL="0">
              <a:buNone/>
            </a:pPr>
            <a:r>
              <a:rPr lang="en-US" sz="750" b="1" spc="150" kern="0" dirty="0">
                <a:solidFill>
                  <a:srgbClr val="CA061C"/>
                </a:solidFill>
                <a:latin typeface="Calibri" pitchFamily="34" charset="0"/>
                <a:ea typeface="Calibri" pitchFamily="34" charset="-122"/>
                <a:cs typeface="Calibri" pitchFamily="34" charset="-120"/>
              </a:rPr>
              <a:t>EMPUJAN A FAKE_NEWS</a:t>
            </a:r>
            <a:endParaRPr lang="en-US" sz="750" dirty="0"/>
          </a:p>
        </p:txBody>
      </p:sp>
      <p:sp>
        <p:nvSpPr>
          <p:cNvPr id="36" name="Shape 33"/>
          <p:cNvSpPr/>
          <p:nvPr/>
        </p:nvSpPr>
        <p:spPr>
          <a:xfrm>
            <a:off x="6035040" y="1719072"/>
            <a:ext cx="507492" cy="329184"/>
          </a:xfrm>
          <a:prstGeom prst="roundRect">
            <a:avLst>
              <a:gd name="adj" fmla="val 16667"/>
            </a:avLst>
          </a:prstGeom>
          <a:solidFill>
            <a:srgbClr val="FFFFFF"/>
          </a:solidFill>
          <a:ln w="9525">
            <a:solidFill>
              <a:srgbClr val="D5DAE2"/>
            </a:solidFill>
            <a:prstDash val="solid"/>
          </a:ln>
        </p:spPr>
      </p:sp>
      <p:sp>
        <p:nvSpPr>
          <p:cNvPr id="37" name="Text 34"/>
          <p:cNvSpPr txBox="1"/>
          <p:nvPr/>
        </p:nvSpPr>
        <p:spPr>
          <a:xfrm>
            <a:off x="6035040" y="1719072"/>
            <a:ext cx="507492"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via</a:t>
            </a:r>
            <a:endParaRPr lang="en-US" sz="950" dirty="0"/>
          </a:p>
        </p:txBody>
      </p:sp>
      <p:sp>
        <p:nvSpPr>
          <p:cNvPr id="38" name="Shape 35"/>
          <p:cNvSpPr/>
          <p:nvPr/>
        </p:nvSpPr>
        <p:spPr>
          <a:xfrm>
            <a:off x="6633972" y="1719072"/>
            <a:ext cx="973836" cy="329184"/>
          </a:xfrm>
          <a:prstGeom prst="roundRect">
            <a:avLst>
              <a:gd name="adj" fmla="val 16667"/>
            </a:avLst>
          </a:prstGeom>
          <a:solidFill>
            <a:srgbClr val="FFFFFF"/>
          </a:solidFill>
          <a:ln w="9525">
            <a:solidFill>
              <a:srgbClr val="D5DAE2"/>
            </a:solidFill>
            <a:prstDash val="solid"/>
          </a:ln>
        </p:spPr>
      </p:sp>
      <p:sp>
        <p:nvSpPr>
          <p:cNvPr id="39" name="Text 36"/>
          <p:cNvSpPr txBox="1"/>
          <p:nvPr/>
        </p:nvSpPr>
        <p:spPr>
          <a:xfrm>
            <a:off x="6633972" y="1719072"/>
            <a:ext cx="973836"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read more</a:t>
            </a:r>
            <a:endParaRPr lang="en-US" sz="950" dirty="0"/>
          </a:p>
        </p:txBody>
      </p:sp>
      <p:sp>
        <p:nvSpPr>
          <p:cNvPr id="40" name="Shape 37"/>
          <p:cNvSpPr/>
          <p:nvPr/>
        </p:nvSpPr>
        <p:spPr>
          <a:xfrm>
            <a:off x="7699248" y="1719072"/>
            <a:ext cx="662940" cy="329184"/>
          </a:xfrm>
          <a:prstGeom prst="roundRect">
            <a:avLst>
              <a:gd name="adj" fmla="val 16667"/>
            </a:avLst>
          </a:prstGeom>
          <a:solidFill>
            <a:srgbClr val="FFFFFF"/>
          </a:solidFill>
          <a:ln w="9525">
            <a:solidFill>
              <a:srgbClr val="D5DAE2"/>
            </a:solidFill>
            <a:prstDash val="solid"/>
          </a:ln>
        </p:spPr>
      </p:sp>
      <p:sp>
        <p:nvSpPr>
          <p:cNvPr id="41" name="Text 38"/>
          <p:cNvSpPr txBox="1"/>
          <p:nvPr/>
        </p:nvSpPr>
        <p:spPr>
          <a:xfrm>
            <a:off x="7699248" y="1719072"/>
            <a:ext cx="662940"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video</a:t>
            </a:r>
            <a:endParaRPr lang="en-US" sz="950" dirty="0"/>
          </a:p>
        </p:txBody>
      </p:sp>
      <p:sp>
        <p:nvSpPr>
          <p:cNvPr id="42" name="Shape 39"/>
          <p:cNvSpPr/>
          <p:nvPr/>
        </p:nvSpPr>
        <p:spPr>
          <a:xfrm>
            <a:off x="6035040" y="2157984"/>
            <a:ext cx="896112" cy="329184"/>
          </a:xfrm>
          <a:prstGeom prst="roundRect">
            <a:avLst>
              <a:gd name="adj" fmla="val 16667"/>
            </a:avLst>
          </a:prstGeom>
          <a:solidFill>
            <a:srgbClr val="FFFFFF"/>
          </a:solidFill>
          <a:ln w="9525">
            <a:solidFill>
              <a:srgbClr val="D5DAE2"/>
            </a:solidFill>
            <a:prstDash val="solid"/>
          </a:ln>
        </p:spPr>
      </p:sp>
      <p:sp>
        <p:nvSpPr>
          <p:cNvPr id="43" name="Text 40"/>
          <p:cNvSpPr txBox="1"/>
          <p:nvPr/>
        </p:nvSpPr>
        <p:spPr>
          <a:xfrm>
            <a:off x="6035040" y="2157984"/>
            <a:ext cx="896112"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breaking</a:t>
            </a:r>
            <a:endParaRPr lang="en-US" sz="950" dirty="0"/>
          </a:p>
        </p:txBody>
      </p:sp>
      <p:sp>
        <p:nvSpPr>
          <p:cNvPr id="44" name="Shape 41"/>
          <p:cNvSpPr/>
          <p:nvPr/>
        </p:nvSpPr>
        <p:spPr>
          <a:xfrm>
            <a:off x="7022592" y="2157984"/>
            <a:ext cx="1440180" cy="329184"/>
          </a:xfrm>
          <a:prstGeom prst="roundRect">
            <a:avLst>
              <a:gd name="adj" fmla="val 16667"/>
            </a:avLst>
          </a:prstGeom>
          <a:solidFill>
            <a:srgbClr val="FFFFFF"/>
          </a:solidFill>
          <a:ln w="9525">
            <a:solidFill>
              <a:srgbClr val="D5DAE2"/>
            </a:solidFill>
            <a:prstDash val="solid"/>
          </a:ln>
        </p:spPr>
      </p:sp>
      <p:sp>
        <p:nvSpPr>
          <p:cNvPr id="45" name="Text 42"/>
          <p:cNvSpPr txBox="1"/>
          <p:nvPr/>
        </p:nvSpPr>
        <p:spPr>
          <a:xfrm>
            <a:off x="7022592" y="2157984"/>
            <a:ext cx="1440180"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president trump</a:t>
            </a:r>
            <a:endParaRPr lang="en-US" sz="950" dirty="0"/>
          </a:p>
        </p:txBody>
      </p:sp>
      <p:sp>
        <p:nvSpPr>
          <p:cNvPr id="46" name="Shape 43"/>
          <p:cNvSpPr/>
          <p:nvPr/>
        </p:nvSpPr>
        <p:spPr>
          <a:xfrm>
            <a:off x="6035040" y="2596896"/>
            <a:ext cx="1362456" cy="329184"/>
          </a:xfrm>
          <a:prstGeom prst="roundRect">
            <a:avLst>
              <a:gd name="adj" fmla="val 16667"/>
            </a:avLst>
          </a:prstGeom>
          <a:solidFill>
            <a:srgbClr val="FFFFFF"/>
          </a:solidFill>
          <a:ln w="9525">
            <a:solidFill>
              <a:srgbClr val="D5DAE2"/>
            </a:solidFill>
            <a:prstDash val="solid"/>
          </a:ln>
        </p:spPr>
      </p:sp>
      <p:sp>
        <p:nvSpPr>
          <p:cNvPr id="47" name="Text 44"/>
          <p:cNvSpPr txBox="1"/>
          <p:nvPr/>
        </p:nvSpPr>
        <p:spPr>
          <a:xfrm>
            <a:off x="6035040" y="2596896"/>
            <a:ext cx="1362456" cy="32918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featured image</a:t>
            </a:r>
            <a:endParaRPr lang="en-US" sz="950" dirty="0"/>
          </a:p>
        </p:txBody>
      </p:sp>
      <p:sp>
        <p:nvSpPr>
          <p:cNvPr id="48" name="Shape 45"/>
          <p:cNvSpPr/>
          <p:nvPr/>
        </p:nvSpPr>
        <p:spPr>
          <a:xfrm>
            <a:off x="2926080" y="4023360"/>
            <a:ext cx="5806440" cy="658368"/>
          </a:xfrm>
          <a:prstGeom prst="roundRect">
            <a:avLst>
              <a:gd name="adj" fmla="val 8333"/>
            </a:avLst>
          </a:prstGeom>
          <a:solidFill>
            <a:srgbClr val="EEF1F6"/>
          </a:solidFill>
          <a:ln w="9525">
            <a:solidFill>
              <a:srgbClr val="EEF1F6"/>
            </a:solidFill>
            <a:prstDash val="solid"/>
          </a:ln>
        </p:spPr>
      </p:sp>
      <p:sp>
        <p:nvSpPr>
          <p:cNvPr id="49" name="Text 46"/>
          <p:cNvSpPr txBox="1"/>
          <p:nvPr/>
        </p:nvSpPr>
        <p:spPr>
          <a:xfrm>
            <a:off x="3108960" y="4023360"/>
            <a:ext cx="5486400" cy="658368"/>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Fuga de estilo: </a:t>
            </a:r>
            <a:pPr indent="0" marL="0">
              <a:buNone/>
            </a:pPr>
            <a:r>
              <a:rPr lang="en-US" sz="950" dirty="0">
                <a:solidFill>
                  <a:srgbClr val="141821"/>
                </a:solidFill>
                <a:latin typeface="Calibri" pitchFamily="34" charset="0"/>
                <a:ea typeface="Calibri" pitchFamily="34" charset="-122"/>
                <a:cs typeface="Calibri" pitchFamily="34" charset="-120"/>
              </a:rPr>
              <a:t>marcas como Reuters sugieren dependencia del estilo editorial y la procedencia. Son asociaciones históricas, no causas ni coeficientes del modelo actual.</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1F6"/>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Shape 5"/>
          <p:cNvSpPr/>
          <p:nvPr/>
        </p:nvSpPr>
        <p:spPr>
          <a:xfrm>
            <a:off x="3567989" y="4914900"/>
            <a:ext cx="782726" cy="187452"/>
          </a:xfrm>
          <a:prstGeom prst="roundRect">
            <a:avLst>
              <a:gd name="adj" fmla="val 19512"/>
            </a:avLst>
          </a:prstGeom>
          <a:solidFill>
            <a:srgbClr val="CA061C"/>
          </a:solidFill>
          <a:ln w="12700">
            <a:solidFill>
              <a:srgbClr val="CA061C"/>
            </a:solidFill>
            <a:prstDash val="solid"/>
          </a:ln>
        </p:spPr>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18</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5 · EVALUACIÓN · AMENAZAS A LA VALIDEZ</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Qué pueden sostener estos resultados, y qué no</a:t>
            </a:r>
            <a:endParaRPr lang="en-US" sz="2400" dirty="0"/>
          </a:p>
        </p:txBody>
      </p:sp>
      <p:sp>
        <p:nvSpPr>
          <p:cNvPr id="14" name="Shape 11"/>
          <p:cNvSpPr/>
          <p:nvPr/>
        </p:nvSpPr>
        <p:spPr>
          <a:xfrm>
            <a:off x="411480" y="1097280"/>
            <a:ext cx="2697480" cy="1664208"/>
          </a:xfrm>
          <a:prstGeom prst="roundRect">
            <a:avLst>
              <a:gd name="adj" fmla="val 3297"/>
            </a:avLst>
          </a:prstGeom>
          <a:solidFill>
            <a:srgbClr val="FFFFFF"/>
          </a:solidFill>
          <a:ln w="9525">
            <a:solidFill>
              <a:srgbClr val="D5DAE2"/>
            </a:solidFill>
            <a:prstDash val="solid"/>
          </a:ln>
        </p:spPr>
      </p:sp>
      <p:sp>
        <p:nvSpPr>
          <p:cNvPr id="15" name="Text 12"/>
          <p:cNvSpPr txBox="1"/>
          <p:nvPr/>
        </p:nvSpPr>
        <p:spPr>
          <a:xfrm>
            <a:off x="576072" y="1234440"/>
            <a:ext cx="2377440" cy="237744"/>
          </a:xfrm>
          <a:prstGeom prst="rect">
            <a:avLst/>
          </a:prstGeom>
          <a:noFill/>
          <a:ln/>
        </p:spPr>
        <p:txBody>
          <a:bodyPr wrap="square" lIns="0" tIns="0" rIns="0" bIns="0" rtlCol="0" anchor="t"/>
          <a:lstStyle/>
          <a:p>
            <a:pPr indent="0" marL="0">
              <a:buNone/>
            </a:pPr>
            <a:r>
              <a:rPr lang="en-US" sz="1150" b="1" dirty="0">
                <a:solidFill>
                  <a:srgbClr val="141821"/>
                </a:solidFill>
                <a:latin typeface="Cambria" pitchFamily="34" charset="0"/>
                <a:ea typeface="Cambria" pitchFamily="34" charset="-122"/>
                <a:cs typeface="Cambria" pitchFamily="34" charset="-120"/>
              </a:rPr>
              <a:t>Efecto de fuente</a:t>
            </a:r>
            <a:endParaRPr lang="en-US" sz="1150" dirty="0"/>
          </a:p>
        </p:txBody>
      </p:sp>
      <p:sp>
        <p:nvSpPr>
          <p:cNvPr id="16" name="Text 13"/>
          <p:cNvSpPr txBox="1"/>
          <p:nvPr/>
        </p:nvSpPr>
        <p:spPr>
          <a:xfrm>
            <a:off x="576072" y="1527048"/>
            <a:ext cx="2377440" cy="548640"/>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archive2 0,9845 vs. LIAR 0,5949</a:t>
            </a:r>
            <a:endParaRPr lang="en-US" sz="950" dirty="0"/>
          </a:p>
        </p:txBody>
      </p:sp>
      <p:sp>
        <p:nvSpPr>
          <p:cNvPr id="17" name="Shape 14"/>
          <p:cNvSpPr/>
          <p:nvPr/>
        </p:nvSpPr>
        <p:spPr>
          <a:xfrm>
            <a:off x="576072" y="2103120"/>
            <a:ext cx="2377440" cy="0"/>
          </a:xfrm>
          <a:prstGeom prst="line">
            <a:avLst/>
          </a:prstGeom>
          <a:noFill/>
          <a:ln w="9525">
            <a:solidFill>
              <a:srgbClr val="D5DAE2"/>
            </a:solidFill>
            <a:prstDash val="solid"/>
          </a:ln>
        </p:spPr>
      </p:sp>
      <p:sp>
        <p:nvSpPr>
          <p:cNvPr id="18" name="Text 15"/>
          <p:cNvSpPr txBox="1"/>
          <p:nvPr/>
        </p:nvSpPr>
        <p:spPr>
          <a:xfrm>
            <a:off x="576072" y="2167128"/>
            <a:ext cx="2377440" cy="548640"/>
          </a:xfrm>
          <a:prstGeom prst="rect">
            <a:avLst/>
          </a:prstGeom>
          <a:noFill/>
          <a:ln/>
        </p:spPr>
        <p:txBody>
          <a:bodyPr wrap="square" lIns="0" tIns="0" rIns="0" bIns="0" rtlCol="0" anchor="t"/>
          <a:lstStyle/>
          <a:p>
            <a:pPr indent="0" marL="0">
              <a:buNone/>
            </a:pPr>
            <a:r>
              <a:rPr lang="en-US" sz="900" b="1" dirty="0">
                <a:solidFill>
                  <a:srgbClr val="1E8A5A"/>
                </a:solidFill>
                <a:latin typeface="Calibri" pitchFamily="34" charset="0"/>
                <a:ea typeface="Calibri" pitchFamily="34" charset="-122"/>
                <a:cs typeface="Calibri" pitchFamily="34" charset="-120"/>
              </a:rPr>
              <a:t>Control: </a:t>
            </a:r>
            <a:pPr indent="0" marL="0">
              <a:buNone/>
            </a:pPr>
            <a:r>
              <a:rPr lang="en-US" sz="900" dirty="0">
                <a:solidFill>
                  <a:srgbClr val="141821"/>
                </a:solidFill>
                <a:latin typeface="Calibri" pitchFamily="34" charset="0"/>
                <a:ea typeface="Calibri" pitchFamily="34" charset="-122"/>
                <a:cs typeface="Calibri" pitchFamily="34" charset="-120"/>
              </a:rPr>
              <a:t>Desglose OOF por fuente</a:t>
            </a:r>
            <a:endParaRPr lang="en-US" sz="900" dirty="0"/>
          </a:p>
        </p:txBody>
      </p:sp>
      <p:sp>
        <p:nvSpPr>
          <p:cNvPr id="19" name="Shape 16"/>
          <p:cNvSpPr/>
          <p:nvPr/>
        </p:nvSpPr>
        <p:spPr>
          <a:xfrm>
            <a:off x="3218688" y="1097280"/>
            <a:ext cx="2697480" cy="1664208"/>
          </a:xfrm>
          <a:prstGeom prst="roundRect">
            <a:avLst>
              <a:gd name="adj" fmla="val 3297"/>
            </a:avLst>
          </a:prstGeom>
          <a:solidFill>
            <a:srgbClr val="FFFFFF"/>
          </a:solidFill>
          <a:ln w="9525">
            <a:solidFill>
              <a:srgbClr val="D5DAE2"/>
            </a:solidFill>
            <a:prstDash val="solid"/>
          </a:ln>
        </p:spPr>
      </p:sp>
      <p:sp>
        <p:nvSpPr>
          <p:cNvPr id="20" name="Text 17"/>
          <p:cNvSpPr txBox="1"/>
          <p:nvPr/>
        </p:nvSpPr>
        <p:spPr>
          <a:xfrm>
            <a:off x="3383280" y="1234440"/>
            <a:ext cx="2377440" cy="237744"/>
          </a:xfrm>
          <a:prstGeom prst="rect">
            <a:avLst/>
          </a:prstGeom>
          <a:noFill/>
          <a:ln/>
        </p:spPr>
        <p:txBody>
          <a:bodyPr wrap="square" lIns="0" tIns="0" rIns="0" bIns="0" rtlCol="0" anchor="t"/>
          <a:lstStyle/>
          <a:p>
            <a:pPr indent="0" marL="0">
              <a:buNone/>
            </a:pPr>
            <a:r>
              <a:rPr lang="en-US" sz="1150" b="1" dirty="0">
                <a:solidFill>
                  <a:srgbClr val="141821"/>
                </a:solidFill>
                <a:latin typeface="Cambria" pitchFamily="34" charset="0"/>
                <a:ea typeface="Cambria" pitchFamily="34" charset="-122"/>
                <a:cs typeface="Cambria" pitchFamily="34" charset="-120"/>
              </a:rPr>
              <a:t>Duplicación residual</a:t>
            </a:r>
            <a:endParaRPr lang="en-US" sz="1150" dirty="0"/>
          </a:p>
        </p:txBody>
      </p:sp>
      <p:sp>
        <p:nvSpPr>
          <p:cNvPr id="21" name="Text 18"/>
          <p:cNvSpPr txBox="1"/>
          <p:nvPr/>
        </p:nvSpPr>
        <p:spPr>
          <a:xfrm>
            <a:off x="3383280" y="1527048"/>
            <a:ext cx="2377440" cy="548640"/>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MinHash es aproximado y puede omitir paráfrasis</a:t>
            </a:r>
            <a:endParaRPr lang="en-US" sz="950" dirty="0"/>
          </a:p>
        </p:txBody>
      </p:sp>
      <p:sp>
        <p:nvSpPr>
          <p:cNvPr id="22" name="Shape 19"/>
          <p:cNvSpPr/>
          <p:nvPr/>
        </p:nvSpPr>
        <p:spPr>
          <a:xfrm>
            <a:off x="3383280" y="2103120"/>
            <a:ext cx="2377440" cy="0"/>
          </a:xfrm>
          <a:prstGeom prst="line">
            <a:avLst/>
          </a:prstGeom>
          <a:noFill/>
          <a:ln w="9525">
            <a:solidFill>
              <a:srgbClr val="D5DAE2"/>
            </a:solidFill>
            <a:prstDash val="solid"/>
          </a:ln>
        </p:spPr>
      </p:sp>
      <p:sp>
        <p:nvSpPr>
          <p:cNvPr id="23" name="Text 20"/>
          <p:cNvSpPr txBox="1"/>
          <p:nvPr/>
        </p:nvSpPr>
        <p:spPr>
          <a:xfrm>
            <a:off x="3383280" y="2167128"/>
            <a:ext cx="2377440" cy="548640"/>
          </a:xfrm>
          <a:prstGeom prst="rect">
            <a:avLst/>
          </a:prstGeom>
          <a:noFill/>
          <a:ln/>
        </p:spPr>
        <p:txBody>
          <a:bodyPr wrap="square" lIns="0" tIns="0" rIns="0" bIns="0" rtlCol="0" anchor="t"/>
          <a:lstStyle/>
          <a:p>
            <a:pPr indent="0" marL="0">
              <a:buNone/>
            </a:pPr>
            <a:r>
              <a:rPr lang="en-US" sz="900" b="1" dirty="0">
                <a:solidFill>
                  <a:srgbClr val="1E8A5A"/>
                </a:solidFill>
                <a:latin typeface="Calibri" pitchFamily="34" charset="0"/>
                <a:ea typeface="Calibri" pitchFamily="34" charset="-122"/>
                <a:cs typeface="Calibri" pitchFamily="34" charset="-120"/>
              </a:rPr>
              <a:t>Control: </a:t>
            </a:r>
            <a:pPr indent="0" marL="0">
              <a:buNone/>
            </a:pPr>
            <a:r>
              <a:rPr lang="en-US" sz="900" dirty="0">
                <a:solidFill>
                  <a:srgbClr val="141821"/>
                </a:solidFill>
                <a:latin typeface="Calibri" pitchFamily="34" charset="0"/>
                <a:ea typeface="Calibri" pitchFamily="34" charset="-122"/>
                <a:cs typeface="Calibri" pitchFamily="34" charset="-120"/>
              </a:rPr>
              <a:t>Grupos confirmados; límites declarados</a:t>
            </a:r>
            <a:endParaRPr lang="en-US" sz="900" dirty="0"/>
          </a:p>
        </p:txBody>
      </p:sp>
      <p:sp>
        <p:nvSpPr>
          <p:cNvPr id="24" name="Shape 21"/>
          <p:cNvSpPr/>
          <p:nvPr/>
        </p:nvSpPr>
        <p:spPr>
          <a:xfrm>
            <a:off x="6025896" y="1097280"/>
            <a:ext cx="2697480" cy="1664208"/>
          </a:xfrm>
          <a:prstGeom prst="roundRect">
            <a:avLst>
              <a:gd name="adj" fmla="val 3297"/>
            </a:avLst>
          </a:prstGeom>
          <a:solidFill>
            <a:srgbClr val="FFFFFF"/>
          </a:solidFill>
          <a:ln w="9525">
            <a:solidFill>
              <a:srgbClr val="D5DAE2"/>
            </a:solidFill>
            <a:prstDash val="solid"/>
          </a:ln>
        </p:spPr>
      </p:sp>
      <p:sp>
        <p:nvSpPr>
          <p:cNvPr id="25" name="Text 22"/>
          <p:cNvSpPr txBox="1"/>
          <p:nvPr/>
        </p:nvSpPr>
        <p:spPr>
          <a:xfrm>
            <a:off x="6190488" y="1234440"/>
            <a:ext cx="2377440" cy="237744"/>
          </a:xfrm>
          <a:prstGeom prst="rect">
            <a:avLst/>
          </a:prstGeom>
          <a:noFill/>
          <a:ln/>
        </p:spPr>
        <p:txBody>
          <a:bodyPr wrap="square" lIns="0" tIns="0" rIns="0" bIns="0" rtlCol="0" anchor="t"/>
          <a:lstStyle/>
          <a:p>
            <a:pPr indent="0" marL="0">
              <a:buNone/>
            </a:pPr>
            <a:r>
              <a:rPr lang="en-US" sz="1150" b="1" dirty="0">
                <a:solidFill>
                  <a:srgbClr val="141821"/>
                </a:solidFill>
                <a:latin typeface="Cambria" pitchFamily="34" charset="0"/>
                <a:ea typeface="Cambria" pitchFamily="34" charset="-122"/>
                <a:cs typeface="Cambria" pitchFamily="34" charset="-120"/>
              </a:rPr>
              <a:t>Validez de constructo</a:t>
            </a:r>
            <a:endParaRPr lang="en-US" sz="1150" dirty="0"/>
          </a:p>
        </p:txBody>
      </p:sp>
      <p:sp>
        <p:nvSpPr>
          <p:cNvPr id="26" name="Text 23"/>
          <p:cNvSpPr txBox="1"/>
          <p:nvPr/>
        </p:nvSpPr>
        <p:spPr>
          <a:xfrm>
            <a:off x="6190488" y="1527048"/>
            <a:ext cx="2377440" cy="548640"/>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Etiquetas heredadas; LIAR simplificado</a:t>
            </a:r>
            <a:endParaRPr lang="en-US" sz="950" dirty="0"/>
          </a:p>
        </p:txBody>
      </p:sp>
      <p:sp>
        <p:nvSpPr>
          <p:cNvPr id="27" name="Shape 24"/>
          <p:cNvSpPr/>
          <p:nvPr/>
        </p:nvSpPr>
        <p:spPr>
          <a:xfrm>
            <a:off x="6190488" y="2103120"/>
            <a:ext cx="2377440" cy="0"/>
          </a:xfrm>
          <a:prstGeom prst="line">
            <a:avLst/>
          </a:prstGeom>
          <a:noFill/>
          <a:ln w="9525">
            <a:solidFill>
              <a:srgbClr val="D5DAE2"/>
            </a:solidFill>
            <a:prstDash val="solid"/>
          </a:ln>
        </p:spPr>
      </p:sp>
      <p:sp>
        <p:nvSpPr>
          <p:cNvPr id="28" name="Text 25"/>
          <p:cNvSpPr txBox="1"/>
          <p:nvPr/>
        </p:nvSpPr>
        <p:spPr>
          <a:xfrm>
            <a:off x="6190488" y="2167128"/>
            <a:ext cx="2377440" cy="548640"/>
          </a:xfrm>
          <a:prstGeom prst="rect">
            <a:avLst/>
          </a:prstGeom>
          <a:noFill/>
          <a:ln/>
        </p:spPr>
        <p:txBody>
          <a:bodyPr wrap="square" lIns="0" tIns="0" rIns="0" bIns="0" rtlCol="0" anchor="t"/>
          <a:lstStyle/>
          <a:p>
            <a:pPr indent="0" marL="0">
              <a:buNone/>
            </a:pPr>
            <a:r>
              <a:rPr lang="en-US" sz="900" b="1" dirty="0">
                <a:solidFill>
                  <a:srgbClr val="1E8A5A"/>
                </a:solidFill>
                <a:latin typeface="Calibri" pitchFamily="34" charset="0"/>
                <a:ea typeface="Calibri" pitchFamily="34" charset="-122"/>
                <a:cs typeface="Calibri" pitchFamily="34" charset="-120"/>
              </a:rPr>
              <a:t>Control: </a:t>
            </a:r>
            <a:pPr indent="0" marL="0">
              <a:buNone/>
            </a:pPr>
            <a:r>
              <a:rPr lang="en-US" sz="900" dirty="0">
                <a:solidFill>
                  <a:srgbClr val="141821"/>
                </a:solidFill>
                <a:latin typeface="Calibri" pitchFamily="34" charset="0"/>
                <a:ea typeface="Calibri" pitchFamily="34" charset="-122"/>
                <a:cs typeface="Calibri" pitchFamily="34" charset="-120"/>
              </a:rPr>
              <a:t>7.184 intermedias excluidas; sin verificación independiente</a:t>
            </a:r>
            <a:endParaRPr lang="en-US" sz="900" dirty="0"/>
          </a:p>
        </p:txBody>
      </p:sp>
      <p:sp>
        <p:nvSpPr>
          <p:cNvPr id="29" name="Shape 26"/>
          <p:cNvSpPr/>
          <p:nvPr/>
        </p:nvSpPr>
        <p:spPr>
          <a:xfrm>
            <a:off x="411480" y="2880360"/>
            <a:ext cx="2697480" cy="1664208"/>
          </a:xfrm>
          <a:prstGeom prst="roundRect">
            <a:avLst>
              <a:gd name="adj" fmla="val 3297"/>
            </a:avLst>
          </a:prstGeom>
          <a:solidFill>
            <a:srgbClr val="FFFFFF"/>
          </a:solidFill>
          <a:ln w="9525">
            <a:solidFill>
              <a:srgbClr val="D5DAE2"/>
            </a:solidFill>
            <a:prstDash val="solid"/>
          </a:ln>
        </p:spPr>
      </p:sp>
      <p:sp>
        <p:nvSpPr>
          <p:cNvPr id="30" name="Text 27"/>
          <p:cNvSpPr txBox="1"/>
          <p:nvPr/>
        </p:nvSpPr>
        <p:spPr>
          <a:xfrm>
            <a:off x="576072" y="3017520"/>
            <a:ext cx="2377440" cy="237744"/>
          </a:xfrm>
          <a:prstGeom prst="rect">
            <a:avLst/>
          </a:prstGeom>
          <a:noFill/>
          <a:ln/>
        </p:spPr>
        <p:txBody>
          <a:bodyPr wrap="square" lIns="0" tIns="0" rIns="0" bIns="0" rtlCol="0" anchor="t"/>
          <a:lstStyle/>
          <a:p>
            <a:pPr indent="0" marL="0">
              <a:buNone/>
            </a:pPr>
            <a:r>
              <a:rPr lang="en-US" sz="1150" b="1" dirty="0">
                <a:solidFill>
                  <a:srgbClr val="141821"/>
                </a:solidFill>
                <a:latin typeface="Cambria" pitchFamily="34" charset="0"/>
                <a:ea typeface="Cambria" pitchFamily="34" charset="-122"/>
                <a:cs typeface="Cambria" pitchFamily="34" charset="-120"/>
              </a:rPr>
              <a:t>Validez estadística</a:t>
            </a:r>
            <a:endParaRPr lang="en-US" sz="1150" dirty="0"/>
          </a:p>
        </p:txBody>
      </p:sp>
      <p:sp>
        <p:nvSpPr>
          <p:cNvPr id="31" name="Text 28"/>
          <p:cNvSpPr txBox="1"/>
          <p:nvPr/>
        </p:nvSpPr>
        <p:spPr>
          <a:xfrm>
            <a:off x="576072" y="3310128"/>
            <a:ext cx="2377440" cy="548640"/>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Cinco folds dentro del corpus disponible</a:t>
            </a:r>
            <a:endParaRPr lang="en-US" sz="950" dirty="0"/>
          </a:p>
        </p:txBody>
      </p:sp>
      <p:sp>
        <p:nvSpPr>
          <p:cNvPr id="32" name="Shape 29"/>
          <p:cNvSpPr/>
          <p:nvPr/>
        </p:nvSpPr>
        <p:spPr>
          <a:xfrm>
            <a:off x="576072" y="3886200"/>
            <a:ext cx="2377440" cy="0"/>
          </a:xfrm>
          <a:prstGeom prst="line">
            <a:avLst/>
          </a:prstGeom>
          <a:noFill/>
          <a:ln w="9525">
            <a:solidFill>
              <a:srgbClr val="D5DAE2"/>
            </a:solidFill>
            <a:prstDash val="solid"/>
          </a:ln>
        </p:spPr>
      </p:sp>
      <p:sp>
        <p:nvSpPr>
          <p:cNvPr id="33" name="Text 30"/>
          <p:cNvSpPr txBox="1"/>
          <p:nvPr/>
        </p:nvSpPr>
        <p:spPr>
          <a:xfrm>
            <a:off x="576072" y="3950208"/>
            <a:ext cx="2377440" cy="548640"/>
          </a:xfrm>
          <a:prstGeom prst="rect">
            <a:avLst/>
          </a:prstGeom>
          <a:noFill/>
          <a:ln/>
        </p:spPr>
        <p:txBody>
          <a:bodyPr wrap="square" lIns="0" tIns="0" rIns="0" bIns="0" rtlCol="0" anchor="t"/>
          <a:lstStyle/>
          <a:p>
            <a:pPr indent="0" marL="0">
              <a:buNone/>
            </a:pPr>
            <a:r>
              <a:rPr lang="en-US" sz="900" b="1" dirty="0">
                <a:solidFill>
                  <a:srgbClr val="1E8A5A"/>
                </a:solidFill>
                <a:latin typeface="Calibri" pitchFamily="34" charset="0"/>
                <a:ea typeface="Calibri" pitchFamily="34" charset="-122"/>
                <a:cs typeface="Calibri" pitchFamily="34" charset="-120"/>
              </a:rPr>
              <a:t>Control: </a:t>
            </a:r>
            <a:pPr indent="0" marL="0">
              <a:buNone/>
            </a:pPr>
            <a:r>
              <a:rPr lang="en-US" sz="900" dirty="0">
                <a:solidFill>
                  <a:srgbClr val="141821"/>
                </a:solidFill>
                <a:latin typeface="Calibri" pitchFamily="34" charset="0"/>
                <a:ea typeface="Calibri" pitchFamily="34" charset="-122"/>
                <a:cs typeface="Calibri" pitchFamily="34" charset="-120"/>
              </a:rPr>
              <a:t>Comparación interna, no estimación independiente</a:t>
            </a:r>
            <a:endParaRPr lang="en-US" sz="900" dirty="0"/>
          </a:p>
        </p:txBody>
      </p:sp>
      <p:sp>
        <p:nvSpPr>
          <p:cNvPr id="34" name="Shape 31"/>
          <p:cNvSpPr/>
          <p:nvPr/>
        </p:nvSpPr>
        <p:spPr>
          <a:xfrm>
            <a:off x="3218688" y="2880360"/>
            <a:ext cx="2697480" cy="1664208"/>
          </a:xfrm>
          <a:prstGeom prst="roundRect">
            <a:avLst>
              <a:gd name="adj" fmla="val 3297"/>
            </a:avLst>
          </a:prstGeom>
          <a:solidFill>
            <a:srgbClr val="FFFFFF"/>
          </a:solidFill>
          <a:ln w="9525">
            <a:solidFill>
              <a:srgbClr val="D5DAE2"/>
            </a:solidFill>
            <a:prstDash val="solid"/>
          </a:ln>
        </p:spPr>
      </p:sp>
      <p:sp>
        <p:nvSpPr>
          <p:cNvPr id="35" name="Text 32"/>
          <p:cNvSpPr txBox="1"/>
          <p:nvPr/>
        </p:nvSpPr>
        <p:spPr>
          <a:xfrm>
            <a:off x="3383280" y="3017520"/>
            <a:ext cx="2377440" cy="237744"/>
          </a:xfrm>
          <a:prstGeom prst="rect">
            <a:avLst/>
          </a:prstGeom>
          <a:noFill/>
          <a:ln/>
        </p:spPr>
        <p:txBody>
          <a:bodyPr wrap="square" lIns="0" tIns="0" rIns="0" bIns="0" rtlCol="0" anchor="t"/>
          <a:lstStyle/>
          <a:p>
            <a:pPr indent="0" marL="0">
              <a:buNone/>
            </a:pPr>
            <a:r>
              <a:rPr lang="en-US" sz="1150" b="1" dirty="0">
                <a:solidFill>
                  <a:srgbClr val="141821"/>
                </a:solidFill>
                <a:latin typeface="Cambria" pitchFamily="34" charset="0"/>
                <a:ea typeface="Cambria" pitchFamily="34" charset="-122"/>
                <a:cs typeface="Cambria" pitchFamily="34" charset="-120"/>
              </a:rPr>
              <a:t>Validez externa</a:t>
            </a:r>
            <a:endParaRPr lang="en-US" sz="1150" dirty="0"/>
          </a:p>
        </p:txBody>
      </p:sp>
      <p:sp>
        <p:nvSpPr>
          <p:cNvPr id="36" name="Text 33"/>
          <p:cNvSpPr txBox="1"/>
          <p:nvPr/>
        </p:nvSpPr>
        <p:spPr>
          <a:xfrm>
            <a:off x="3383280" y="3310128"/>
            <a:ext cx="2377440" cy="548640"/>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Transferencia solo entre archive2 y LIAR</a:t>
            </a:r>
            <a:endParaRPr lang="en-US" sz="950" dirty="0"/>
          </a:p>
        </p:txBody>
      </p:sp>
      <p:sp>
        <p:nvSpPr>
          <p:cNvPr id="37" name="Shape 34"/>
          <p:cNvSpPr/>
          <p:nvPr/>
        </p:nvSpPr>
        <p:spPr>
          <a:xfrm>
            <a:off x="3383280" y="3886200"/>
            <a:ext cx="2377440" cy="0"/>
          </a:xfrm>
          <a:prstGeom prst="line">
            <a:avLst/>
          </a:prstGeom>
          <a:noFill/>
          <a:ln w="9525">
            <a:solidFill>
              <a:srgbClr val="D5DAE2"/>
            </a:solidFill>
            <a:prstDash val="solid"/>
          </a:ln>
        </p:spPr>
      </p:sp>
      <p:sp>
        <p:nvSpPr>
          <p:cNvPr id="38" name="Text 35"/>
          <p:cNvSpPr txBox="1"/>
          <p:nvPr/>
        </p:nvSpPr>
        <p:spPr>
          <a:xfrm>
            <a:off x="3383280" y="3950208"/>
            <a:ext cx="2377440" cy="548640"/>
          </a:xfrm>
          <a:prstGeom prst="rect">
            <a:avLst/>
          </a:prstGeom>
          <a:noFill/>
          <a:ln/>
        </p:spPr>
        <p:txBody>
          <a:bodyPr wrap="square" lIns="0" tIns="0" rIns="0" bIns="0" rtlCol="0" anchor="t"/>
          <a:lstStyle/>
          <a:p>
            <a:pPr indent="0" marL="0">
              <a:buNone/>
            </a:pPr>
            <a:r>
              <a:rPr lang="en-US" sz="900" b="1" dirty="0">
                <a:solidFill>
                  <a:srgbClr val="1E8A5A"/>
                </a:solidFill>
                <a:latin typeface="Calibri" pitchFamily="34" charset="0"/>
                <a:ea typeface="Calibri" pitchFamily="34" charset="-122"/>
                <a:cs typeface="Calibri" pitchFamily="34" charset="-120"/>
              </a:rPr>
              <a:t>Control: </a:t>
            </a:r>
            <a:pPr indent="0" marL="0">
              <a:buNone/>
            </a:pPr>
            <a:r>
              <a:rPr lang="en-US" sz="900" dirty="0">
                <a:solidFill>
                  <a:srgbClr val="141821"/>
                </a:solidFill>
                <a:latin typeface="Calibri" pitchFamily="34" charset="0"/>
                <a:ea typeface="Calibri" pitchFamily="34" charset="-122"/>
                <a:cs typeface="Calibri" pitchFamily="34" charset="-120"/>
              </a:rPr>
              <a:t>No demuestra adaptación a otros dominios ni a Telegram</a:t>
            </a:r>
            <a:endParaRPr lang="en-US" sz="900" dirty="0"/>
          </a:p>
        </p:txBody>
      </p:sp>
      <p:sp>
        <p:nvSpPr>
          <p:cNvPr id="39" name="Shape 36"/>
          <p:cNvSpPr/>
          <p:nvPr/>
        </p:nvSpPr>
        <p:spPr>
          <a:xfrm>
            <a:off x="6025896" y="2880360"/>
            <a:ext cx="2697480" cy="1664208"/>
          </a:xfrm>
          <a:prstGeom prst="roundRect">
            <a:avLst>
              <a:gd name="adj" fmla="val 3297"/>
            </a:avLst>
          </a:prstGeom>
          <a:solidFill>
            <a:srgbClr val="FFFFFF"/>
          </a:solidFill>
          <a:ln w="9525">
            <a:solidFill>
              <a:srgbClr val="D5DAE2"/>
            </a:solidFill>
            <a:prstDash val="solid"/>
          </a:ln>
        </p:spPr>
      </p:sp>
      <p:sp>
        <p:nvSpPr>
          <p:cNvPr id="40" name="Text 37"/>
          <p:cNvSpPr txBox="1"/>
          <p:nvPr/>
        </p:nvSpPr>
        <p:spPr>
          <a:xfrm>
            <a:off x="6190488" y="3017520"/>
            <a:ext cx="2377440" cy="237744"/>
          </a:xfrm>
          <a:prstGeom prst="rect">
            <a:avLst/>
          </a:prstGeom>
          <a:noFill/>
          <a:ln/>
        </p:spPr>
        <p:txBody>
          <a:bodyPr wrap="square" lIns="0" tIns="0" rIns="0" bIns="0" rtlCol="0" anchor="t"/>
          <a:lstStyle/>
          <a:p>
            <a:pPr indent="0" marL="0">
              <a:buNone/>
            </a:pPr>
            <a:r>
              <a:rPr lang="en-US" sz="1150" b="1" dirty="0">
                <a:solidFill>
                  <a:srgbClr val="141821"/>
                </a:solidFill>
                <a:latin typeface="Cambria" pitchFamily="34" charset="0"/>
                <a:ea typeface="Cambria" pitchFamily="34" charset="-122"/>
                <a:cs typeface="Cambria" pitchFamily="34" charset="-120"/>
              </a:rPr>
              <a:t>Validez de implementación</a:t>
            </a:r>
            <a:endParaRPr lang="en-US" sz="1150" dirty="0"/>
          </a:p>
        </p:txBody>
      </p:sp>
      <p:sp>
        <p:nvSpPr>
          <p:cNvPr id="41" name="Text 38"/>
          <p:cNvSpPr txBox="1"/>
          <p:nvPr/>
        </p:nvSpPr>
        <p:spPr>
          <a:xfrm>
            <a:off x="6190488" y="3310128"/>
            <a:ext cx="2377440" cy="548640"/>
          </a:xfrm>
          <a:prstGeom prst="rect">
            <a:avLst/>
          </a:prstGeom>
          <a:noFill/>
          <a:ln/>
        </p:spPr>
        <p:txBody>
          <a:bodyPr wrap="square" lIns="0" tIns="0" rIns="0" bIns="0" rtlCol="0" anchor="t"/>
          <a:lstStyle/>
          <a:p>
            <a:pPr indent="0" marL="0">
              <a:buNone/>
            </a:pPr>
            <a:r>
              <a:rPr lang="en-US" sz="950" dirty="0">
                <a:solidFill>
                  <a:srgbClr val="3A4250"/>
                </a:solidFill>
                <a:latin typeface="Calibri" pitchFamily="34" charset="0"/>
                <a:ea typeface="Calibri" pitchFamily="34" charset="-122"/>
                <a:cs typeface="Calibri" pitchFamily="34" charset="-120"/>
              </a:rPr>
              <a:t>Cambios de código o datos alteran salidas</a:t>
            </a:r>
            <a:endParaRPr lang="en-US" sz="950" dirty="0"/>
          </a:p>
        </p:txBody>
      </p:sp>
      <p:sp>
        <p:nvSpPr>
          <p:cNvPr id="42" name="Shape 39"/>
          <p:cNvSpPr/>
          <p:nvPr/>
        </p:nvSpPr>
        <p:spPr>
          <a:xfrm>
            <a:off x="6190488" y="3886200"/>
            <a:ext cx="2377440" cy="0"/>
          </a:xfrm>
          <a:prstGeom prst="line">
            <a:avLst/>
          </a:prstGeom>
          <a:noFill/>
          <a:ln w="9525">
            <a:solidFill>
              <a:srgbClr val="D5DAE2"/>
            </a:solidFill>
            <a:prstDash val="solid"/>
          </a:ln>
        </p:spPr>
      </p:sp>
      <p:sp>
        <p:nvSpPr>
          <p:cNvPr id="43" name="Text 40"/>
          <p:cNvSpPr txBox="1"/>
          <p:nvPr/>
        </p:nvSpPr>
        <p:spPr>
          <a:xfrm>
            <a:off x="6190488" y="3950208"/>
            <a:ext cx="2377440" cy="548640"/>
          </a:xfrm>
          <a:prstGeom prst="rect">
            <a:avLst/>
          </a:prstGeom>
          <a:noFill/>
          <a:ln/>
        </p:spPr>
        <p:txBody>
          <a:bodyPr wrap="square" lIns="0" tIns="0" rIns="0" bIns="0" rtlCol="0" anchor="t"/>
          <a:lstStyle/>
          <a:p>
            <a:pPr indent="0" marL="0">
              <a:buNone/>
            </a:pPr>
            <a:r>
              <a:rPr lang="en-US" sz="900" b="1" dirty="0">
                <a:solidFill>
                  <a:srgbClr val="1E8A5A"/>
                </a:solidFill>
                <a:latin typeface="Calibri" pitchFamily="34" charset="0"/>
                <a:ea typeface="Calibri" pitchFamily="34" charset="-122"/>
                <a:cs typeface="Calibri" pitchFamily="34" charset="-120"/>
              </a:rPr>
              <a:t>Control: </a:t>
            </a:r>
            <a:pPr indent="0" marL="0">
              <a:buNone/>
            </a:pPr>
            <a:r>
              <a:rPr lang="en-US" sz="900" dirty="0">
                <a:solidFill>
                  <a:srgbClr val="141821"/>
                </a:solidFill>
                <a:latin typeface="Calibri" pitchFamily="34" charset="0"/>
                <a:ea typeface="Calibri" pitchFamily="34" charset="-122"/>
                <a:cs typeface="Calibri" pitchFamily="34" charset="-120"/>
              </a:rPr>
              <a:t>Hashes, manifiesto, asignaciones, modelos y pruebas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821"/>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Shape 5"/>
          <p:cNvSpPr/>
          <p:nvPr/>
        </p:nvSpPr>
        <p:spPr>
          <a:xfrm>
            <a:off x="3567989" y="4914900"/>
            <a:ext cx="782726" cy="187452"/>
          </a:xfrm>
          <a:prstGeom prst="roundRect">
            <a:avLst>
              <a:gd name="adj" fmla="val 19512"/>
            </a:avLst>
          </a:prstGeom>
          <a:solidFill>
            <a:srgbClr val="CA061C"/>
          </a:solidFill>
          <a:ln w="12700">
            <a:solidFill>
              <a:srgbClr val="CA061C"/>
            </a:solidFill>
            <a:prstDash val="solid"/>
          </a:ln>
        </p:spPr>
      </p:sp>
      <p:sp>
        <p:nvSpPr>
          <p:cNvPr id="8" name="Text 6"/>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 Evaluación</a:t>
            </a:r>
            <a:endParaRPr lang="en-US" sz="750" dirty="0"/>
          </a:p>
        </p:txBody>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19</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FF6B7A"/>
                </a:solidFill>
                <a:latin typeface="Calibri" pitchFamily="34" charset="0"/>
                <a:ea typeface="Calibri" pitchFamily="34" charset="-122"/>
                <a:cs typeface="Calibri" pitchFamily="34" charset="-120"/>
              </a:rPr>
              <a:t>5 · EVALUACIÓN · DEMOSTRACIÓN</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Demo: reproducción del protocolo</a:t>
            </a:r>
            <a:endParaRPr lang="en-US" sz="2400" dirty="0"/>
          </a:p>
        </p:txBody>
      </p:sp>
      <p:sp>
        <p:nvSpPr>
          <p:cNvPr id="14" name="video-slot"/>
          <p:cNvSpPr/>
          <p:nvPr/>
        </p:nvSpPr>
        <p:spPr>
          <a:xfrm>
            <a:off x="411480" y="1051560"/>
            <a:ext cx="5120640" cy="3630168"/>
          </a:xfrm>
          <a:prstGeom prst="roundRect">
            <a:avLst>
              <a:gd name="adj" fmla="val 1511"/>
            </a:avLst>
          </a:prstGeom>
          <a:solidFill>
            <a:srgbClr val="1F2430"/>
          </a:solidFill>
          <a:ln w="12700">
            <a:solidFill>
              <a:srgbClr val="3A4250"/>
            </a:solidFill>
            <a:prstDash val="dash"/>
          </a:ln>
        </p:spPr>
      </p:sp>
      <p:sp>
        <p:nvSpPr>
          <p:cNvPr id="15" name="Text 12"/>
          <p:cNvSpPr txBox="1"/>
          <p:nvPr/>
        </p:nvSpPr>
        <p:spPr>
          <a:xfrm>
            <a:off x="411480" y="2651760"/>
            <a:ext cx="5120640" cy="365760"/>
          </a:xfrm>
          <a:prstGeom prst="rect">
            <a:avLst/>
          </a:prstGeom>
          <a:noFill/>
          <a:ln/>
        </p:spPr>
        <p:txBody>
          <a:bodyPr wrap="square" lIns="0" tIns="0" rIns="0" bIns="0" rtlCol="0" anchor="ctr"/>
          <a:lstStyle/>
          <a:p>
            <a:pPr algn="ctr" indent="0" marL="0">
              <a:buNone/>
            </a:pPr>
            <a:r>
              <a:rPr lang="en-US" sz="1200" dirty="0">
                <a:solidFill>
                  <a:srgbClr val="8A93A3"/>
                </a:solidFill>
                <a:latin typeface="Calibri" pitchFamily="34" charset="0"/>
                <a:ea typeface="Calibri" pitchFamily="34" charset="-122"/>
                <a:cs typeface="Calibri" pitchFamily="34" charset="-120"/>
              </a:rPr>
              <a:t>Espacio para el vídeo de demostración</a:t>
            </a:r>
            <a:endParaRPr lang="en-US" sz="1200" dirty="0"/>
          </a:p>
        </p:txBody>
      </p:sp>
      <p:sp>
        <p:nvSpPr>
          <p:cNvPr id="16" name="Shape 13"/>
          <p:cNvSpPr/>
          <p:nvPr/>
        </p:nvSpPr>
        <p:spPr>
          <a:xfrm>
            <a:off x="5669280" y="1051560"/>
            <a:ext cx="3063240" cy="3630168"/>
          </a:xfrm>
          <a:prstGeom prst="roundRect">
            <a:avLst>
              <a:gd name="adj" fmla="val 1791"/>
            </a:avLst>
          </a:prstGeom>
          <a:solidFill>
            <a:srgbClr val="0D1017"/>
          </a:solidFill>
          <a:ln w="9525">
            <a:solidFill>
              <a:srgbClr val="3A4250"/>
            </a:solidFill>
            <a:prstDash val="solid"/>
          </a:ln>
        </p:spPr>
      </p:sp>
      <p:sp>
        <p:nvSpPr>
          <p:cNvPr id="17" name="Text 14"/>
          <p:cNvSpPr txBox="1"/>
          <p:nvPr/>
        </p:nvSpPr>
        <p:spPr>
          <a:xfrm>
            <a:off x="5852160" y="1188720"/>
            <a:ext cx="274320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PROTOCOLO MÍNIMO (TABLA 17)</a:t>
            </a:r>
            <a:endParaRPr lang="en-US" sz="750" dirty="0"/>
          </a:p>
        </p:txBody>
      </p:sp>
      <p:sp>
        <p:nvSpPr>
          <p:cNvPr id="18" name="Text 15"/>
          <p:cNvSpPr txBox="1"/>
          <p:nvPr/>
        </p:nvSpPr>
        <p:spPr>
          <a:xfrm>
            <a:off x="5852160" y="1463040"/>
            <a:ext cx="274320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Identidad</a:t>
            </a:r>
            <a:endParaRPr lang="en-US" sz="800" dirty="0"/>
          </a:p>
        </p:txBody>
      </p:sp>
      <p:sp>
        <p:nvSpPr>
          <p:cNvPr id="19" name="Text 16"/>
          <p:cNvSpPr txBox="1"/>
          <p:nvPr/>
        </p:nvSpPr>
        <p:spPr>
          <a:xfrm>
            <a:off x="5852160" y="1645920"/>
            <a:ext cx="2788920" cy="228600"/>
          </a:xfrm>
          <a:prstGeom prst="rect">
            <a:avLst/>
          </a:prstGeom>
          <a:noFill/>
          <a:ln/>
        </p:spPr>
        <p:txBody>
          <a:bodyPr wrap="square" lIns="0" tIns="0" rIns="0" bIns="0" rtlCol="0" anchor="ctr"/>
          <a:lstStyle/>
          <a:p>
            <a:pPr indent="0" marL="0">
              <a:buNone/>
            </a:pPr>
            <a:r>
              <a:rPr lang="en-US" sz="800" dirty="0">
                <a:solidFill>
                  <a:srgbClr val="FF8A96"/>
                </a:solidFill>
                <a:latin typeface="Courier New" pitchFamily="34" charset="0"/>
                <a:ea typeface="Courier New" pitchFamily="34" charset="-122"/>
                <a:cs typeface="Courier New" pitchFamily="34" charset="-120"/>
              </a:rPr>
              <a:t>$ </a:t>
            </a:r>
            <a:pPr indent="0" marL="0">
              <a:buNone/>
            </a:pPr>
            <a:r>
              <a:rPr lang="en-US" sz="800" dirty="0">
                <a:solidFill>
                  <a:srgbClr val="7FD1A8"/>
                </a:solidFill>
                <a:latin typeface="Courier New" pitchFamily="34" charset="0"/>
                <a:ea typeface="Courier New" pitchFamily="34" charset="-122"/>
                <a:cs typeface="Courier New" pitchFamily="34" charset="-120"/>
              </a:rPr>
              <a:t>run_robustness_experiments.py --dry-run</a:t>
            </a:r>
            <a:endParaRPr lang="en-US" sz="800" dirty="0"/>
          </a:p>
        </p:txBody>
      </p:sp>
      <p:sp>
        <p:nvSpPr>
          <p:cNvPr id="20" name="Text 17"/>
          <p:cNvSpPr txBox="1"/>
          <p:nvPr/>
        </p:nvSpPr>
        <p:spPr>
          <a:xfrm>
            <a:off x="5852160" y="1920240"/>
            <a:ext cx="274320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Preparación</a:t>
            </a:r>
            <a:endParaRPr lang="en-US" sz="800" dirty="0"/>
          </a:p>
        </p:txBody>
      </p:sp>
      <p:sp>
        <p:nvSpPr>
          <p:cNvPr id="21" name="Text 18"/>
          <p:cNvSpPr txBox="1"/>
          <p:nvPr/>
        </p:nvSpPr>
        <p:spPr>
          <a:xfrm>
            <a:off x="5852160" y="2103120"/>
            <a:ext cx="2788920" cy="228600"/>
          </a:xfrm>
          <a:prstGeom prst="rect">
            <a:avLst/>
          </a:prstGeom>
          <a:noFill/>
          <a:ln/>
        </p:spPr>
        <p:txBody>
          <a:bodyPr wrap="square" lIns="0" tIns="0" rIns="0" bIns="0" rtlCol="0" anchor="ctr"/>
          <a:lstStyle/>
          <a:p>
            <a:pPr indent="0" marL="0">
              <a:buNone/>
            </a:pPr>
            <a:pPr indent="0" marL="0">
              <a:buNone/>
            </a:pPr>
            <a:r>
              <a:rPr lang="en-US" sz="800" dirty="0">
                <a:solidFill>
                  <a:srgbClr val="D5DAE2"/>
                </a:solidFill>
                <a:latin typeface="Courier New" pitchFamily="34" charset="0"/>
                <a:ea typeface="Courier New" pitchFamily="34" charset="-122"/>
                <a:cs typeface="Courier New" pitchFamily="34" charset="-120"/>
              </a:rPr>
              <a:t>ejecución con configs/robustness_config.json</a:t>
            </a:r>
            <a:endParaRPr lang="en-US" sz="800" dirty="0"/>
          </a:p>
        </p:txBody>
      </p:sp>
      <p:sp>
        <p:nvSpPr>
          <p:cNvPr id="22" name="Text 19"/>
          <p:cNvSpPr txBox="1"/>
          <p:nvPr/>
        </p:nvSpPr>
        <p:spPr>
          <a:xfrm>
            <a:off x="5852160" y="2377440"/>
            <a:ext cx="274320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Validación cruzada</a:t>
            </a:r>
            <a:endParaRPr lang="en-US" sz="800" dirty="0"/>
          </a:p>
        </p:txBody>
      </p:sp>
      <p:sp>
        <p:nvSpPr>
          <p:cNvPr id="23" name="Text 20"/>
          <p:cNvSpPr txBox="1"/>
          <p:nvPr/>
        </p:nvSpPr>
        <p:spPr>
          <a:xfrm>
            <a:off x="5852160" y="2560320"/>
            <a:ext cx="2788920" cy="228600"/>
          </a:xfrm>
          <a:prstGeom prst="rect">
            <a:avLst/>
          </a:prstGeom>
          <a:noFill/>
          <a:ln/>
        </p:spPr>
        <p:txBody>
          <a:bodyPr wrap="square" lIns="0" tIns="0" rIns="0" bIns="0" rtlCol="0" anchor="ctr"/>
          <a:lstStyle/>
          <a:p>
            <a:pPr indent="0" marL="0">
              <a:buNone/>
            </a:pPr>
            <a:pPr indent="0" marL="0">
              <a:buNone/>
            </a:pPr>
            <a:r>
              <a:rPr lang="en-US" sz="800" dirty="0">
                <a:solidFill>
                  <a:srgbClr val="D5DAE2"/>
                </a:solidFill>
                <a:latin typeface="Courier New" pitchFamily="34" charset="0"/>
                <a:ea typeface="Courier New" pitchFamily="34" charset="-122"/>
                <a:cs typeface="Courier New" pitchFamily="34" charset="-120"/>
              </a:rPr>
              <a:t>5 folds agrupados y compartidos</a:t>
            </a:r>
            <a:endParaRPr lang="en-US" sz="800" dirty="0"/>
          </a:p>
        </p:txBody>
      </p:sp>
      <p:sp>
        <p:nvSpPr>
          <p:cNvPr id="24" name="Text 21"/>
          <p:cNvSpPr txBox="1"/>
          <p:nvPr/>
        </p:nvSpPr>
        <p:spPr>
          <a:xfrm>
            <a:off x="5852160" y="2834640"/>
            <a:ext cx="274320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Transferencia</a:t>
            </a:r>
            <a:endParaRPr lang="en-US" sz="800" dirty="0"/>
          </a:p>
        </p:txBody>
      </p:sp>
      <p:sp>
        <p:nvSpPr>
          <p:cNvPr id="25" name="Text 22"/>
          <p:cNvSpPr txBox="1"/>
          <p:nvPr/>
        </p:nvSpPr>
        <p:spPr>
          <a:xfrm>
            <a:off x="5852160" y="3017520"/>
            <a:ext cx="2788920" cy="228600"/>
          </a:xfrm>
          <a:prstGeom prst="rect">
            <a:avLst/>
          </a:prstGeom>
          <a:noFill/>
          <a:ln/>
        </p:spPr>
        <p:txBody>
          <a:bodyPr wrap="square" lIns="0" tIns="0" rIns="0" bIns="0" rtlCol="0" anchor="ctr"/>
          <a:lstStyle/>
          <a:p>
            <a:pPr indent="0" marL="0">
              <a:buNone/>
            </a:pPr>
            <a:pPr indent="0" marL="0">
              <a:buNone/>
            </a:pPr>
            <a:r>
              <a:rPr lang="en-US" sz="800" dirty="0">
                <a:solidFill>
                  <a:srgbClr val="D5DAE2"/>
                </a:solidFill>
                <a:latin typeface="Courier New" pitchFamily="34" charset="0"/>
                <a:ea typeface="Courier New" pitchFamily="34" charset="-122"/>
                <a:cs typeface="Courier New" pitchFamily="34" charset="-120"/>
              </a:rPr>
              <a:t>archive2 -&gt; LIAR · LIAR -&gt; archive2</a:t>
            </a:r>
            <a:endParaRPr lang="en-US" sz="800" dirty="0"/>
          </a:p>
        </p:txBody>
      </p:sp>
      <p:sp>
        <p:nvSpPr>
          <p:cNvPr id="26" name="Text 23"/>
          <p:cNvSpPr txBox="1"/>
          <p:nvPr/>
        </p:nvSpPr>
        <p:spPr>
          <a:xfrm>
            <a:off x="5852160" y="3291840"/>
            <a:ext cx="274320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Recuperación</a:t>
            </a:r>
            <a:endParaRPr lang="en-US" sz="800" dirty="0"/>
          </a:p>
        </p:txBody>
      </p:sp>
      <p:sp>
        <p:nvSpPr>
          <p:cNvPr id="27" name="Text 24"/>
          <p:cNvSpPr txBox="1"/>
          <p:nvPr/>
        </p:nvSpPr>
        <p:spPr>
          <a:xfrm>
            <a:off x="5852160" y="3474720"/>
            <a:ext cx="2788920" cy="228600"/>
          </a:xfrm>
          <a:prstGeom prst="rect">
            <a:avLst/>
          </a:prstGeom>
          <a:noFill/>
          <a:ln/>
        </p:spPr>
        <p:txBody>
          <a:bodyPr wrap="square" lIns="0" tIns="0" rIns="0" bIns="0" rtlCol="0" anchor="ctr"/>
          <a:lstStyle/>
          <a:p>
            <a:pPr indent="0" marL="0">
              <a:buNone/>
            </a:pPr>
            <a:r>
              <a:rPr lang="en-US" sz="800" dirty="0">
                <a:solidFill>
                  <a:srgbClr val="FF8A96"/>
                </a:solidFill>
                <a:latin typeface="Courier New" pitchFamily="34" charset="0"/>
                <a:ea typeface="Courier New" pitchFamily="34" charset="-122"/>
                <a:cs typeface="Courier New" pitchFamily="34" charset="-120"/>
              </a:rPr>
              <a:t>$ </a:t>
            </a:r>
            <a:pPr indent="0" marL="0">
              <a:buNone/>
            </a:pPr>
            <a:r>
              <a:rPr lang="en-US" sz="800" dirty="0">
                <a:solidFill>
                  <a:srgbClr val="7FD1A8"/>
                </a:solidFill>
                <a:latin typeface="Courier New" pitchFamily="34" charset="0"/>
                <a:ea typeface="Courier New" pitchFamily="34" charset="-122"/>
                <a:cs typeface="Courier New" pitchFamily="34" charset="-120"/>
              </a:rPr>
              <a:t>--resume &lt;run_id&gt;</a:t>
            </a:r>
            <a:endParaRPr lang="en-US" sz="800" dirty="0"/>
          </a:p>
        </p:txBody>
      </p:sp>
      <p:sp>
        <p:nvSpPr>
          <p:cNvPr id="28" name="Text 25"/>
          <p:cNvSpPr txBox="1"/>
          <p:nvPr/>
        </p:nvSpPr>
        <p:spPr>
          <a:xfrm>
            <a:off x="5852160" y="3749040"/>
            <a:ext cx="2743200" cy="182880"/>
          </a:xfrm>
          <a:prstGeom prst="rect">
            <a:avLst/>
          </a:prstGeom>
          <a:noFill/>
          <a:ln/>
        </p:spPr>
        <p:txBody>
          <a:bodyPr wrap="square" lIns="0" tIns="0" rIns="0" bIns="0" rtlCol="0" anchor="ctr"/>
          <a:lstStyle/>
          <a:p>
            <a:pPr indent="0" marL="0">
              <a:buNone/>
            </a:pPr>
            <a:r>
              <a:rPr lang="en-US" sz="800" dirty="0">
                <a:solidFill>
                  <a:srgbClr val="AEB6C4"/>
                </a:solidFill>
                <a:latin typeface="Calibri" pitchFamily="34" charset="0"/>
                <a:ea typeface="Calibri" pitchFamily="34" charset="-122"/>
                <a:cs typeface="Calibri" pitchFamily="34" charset="-120"/>
              </a:rPr>
              <a:t>Pruebas</a:t>
            </a:r>
            <a:endParaRPr lang="en-US" sz="800" dirty="0"/>
          </a:p>
        </p:txBody>
      </p:sp>
      <p:sp>
        <p:nvSpPr>
          <p:cNvPr id="29" name="Text 26"/>
          <p:cNvSpPr txBox="1"/>
          <p:nvPr/>
        </p:nvSpPr>
        <p:spPr>
          <a:xfrm>
            <a:off x="5852160" y="3931920"/>
            <a:ext cx="2788920" cy="228600"/>
          </a:xfrm>
          <a:prstGeom prst="rect">
            <a:avLst/>
          </a:prstGeom>
          <a:noFill/>
          <a:ln/>
        </p:spPr>
        <p:txBody>
          <a:bodyPr wrap="square" lIns="0" tIns="0" rIns="0" bIns="0" rtlCol="0" anchor="ctr"/>
          <a:lstStyle/>
          <a:p>
            <a:pPr indent="0" marL="0">
              <a:buNone/>
            </a:pPr>
            <a:r>
              <a:rPr lang="en-US" sz="800" dirty="0">
                <a:solidFill>
                  <a:srgbClr val="FF8A96"/>
                </a:solidFill>
                <a:latin typeface="Courier New" pitchFamily="34" charset="0"/>
                <a:ea typeface="Courier New" pitchFamily="34" charset="-122"/>
                <a:cs typeface="Courier New" pitchFamily="34" charset="-120"/>
              </a:rPr>
              <a:t>$ </a:t>
            </a:r>
            <a:pPr indent="0" marL="0">
              <a:buNone/>
            </a:pPr>
            <a:r>
              <a:rPr lang="en-US" sz="800" dirty="0">
                <a:solidFill>
                  <a:srgbClr val="7FD1A8"/>
                </a:solidFill>
                <a:latin typeface="Courier New" pitchFamily="34" charset="0"/>
                <a:ea typeface="Courier New" pitchFamily="34" charset="-122"/>
                <a:cs typeface="Courier New" pitchFamily="34" charset="-120"/>
              </a:rPr>
              <a:t>pytest -q</a:t>
            </a:r>
            <a:endParaRPr lang="en-US" sz="800" dirty="0"/>
          </a:p>
        </p:txBody>
      </p:sp>
      <p:sp>
        <p:nvSpPr>
          <p:cNvPr id="30" name="Text 27"/>
          <p:cNvSpPr txBox="1"/>
          <p:nvPr/>
        </p:nvSpPr>
        <p:spPr>
          <a:xfrm>
            <a:off x="5852160" y="4297680"/>
            <a:ext cx="2788920" cy="274320"/>
          </a:xfrm>
          <a:prstGeom prst="rect">
            <a:avLst/>
          </a:prstGeom>
          <a:noFill/>
          <a:ln/>
        </p:spPr>
        <p:txBody>
          <a:bodyPr wrap="square" lIns="0" tIns="0" rIns="0" bIns="0" rtlCol="0" anchor="ctr"/>
          <a:lstStyle/>
          <a:p>
            <a:pPr indent="0" marL="0">
              <a:buNone/>
            </a:pPr>
            <a:r>
              <a:rPr lang="en-US" sz="750" dirty="0">
                <a:solidFill>
                  <a:srgbClr val="8A93A3"/>
                </a:solidFill>
                <a:latin typeface="Courier New" pitchFamily="34" charset="0"/>
                <a:ea typeface="Courier New" pitchFamily="34" charset="-122"/>
                <a:cs typeface="Courier New" pitchFamily="34" charset="-120"/>
              </a:rPr>
              <a:t>run de referencia: robustness-1a94400d502b149f</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footer"/>
          <p:cNvSpPr/>
          <p:nvPr/>
        </p:nvSpPr>
        <p:spPr>
          <a:xfrm>
            <a:off x="0" y="4873752"/>
            <a:ext cx="9144000" cy="269748"/>
          </a:xfrm>
          <a:prstGeom prst="rect">
            <a:avLst/>
          </a:prstGeom>
          <a:solidFill>
            <a:srgbClr val="141821"/>
          </a:solidFill>
          <a:ln w="12700">
            <a:solidFill>
              <a:srgbClr val="141821"/>
            </a:solidFill>
            <a:prstDash val="solid"/>
          </a:ln>
        </p:spPr>
      </p:sp>
      <p:sp>
        <p:nvSpPr>
          <p:cNvPr id="3" name="Text 1"/>
          <p:cNvSpPr txBox="1"/>
          <p:nvPr/>
        </p:nvSpPr>
        <p:spPr>
          <a:xfrm>
            <a:off x="201168" y="4914900"/>
            <a:ext cx="888797"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1 Introducción</a:t>
            </a:r>
            <a:endParaRPr lang="en-US" sz="750" dirty="0"/>
          </a:p>
        </p:txBody>
      </p:sp>
      <p:sp>
        <p:nvSpPr>
          <p:cNvPr id="4" name="Text 2"/>
          <p:cNvSpPr txBox="1"/>
          <p:nvPr/>
        </p:nvSpPr>
        <p:spPr>
          <a:xfrm>
            <a:off x="1135685" y="4914900"/>
            <a:ext cx="67665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2 Contexto</a:t>
            </a:r>
            <a:endParaRPr lang="en-US" sz="750" dirty="0"/>
          </a:p>
        </p:txBody>
      </p:sp>
      <p:sp>
        <p:nvSpPr>
          <p:cNvPr id="5" name="Text 3"/>
          <p:cNvSpPr txBox="1"/>
          <p:nvPr/>
        </p:nvSpPr>
        <p:spPr>
          <a:xfrm>
            <a:off x="1858061" y="4914900"/>
            <a:ext cx="835762"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3 Metodología</a:t>
            </a:r>
            <a:endParaRPr lang="en-US" sz="750" dirty="0"/>
          </a:p>
        </p:txBody>
      </p:sp>
      <p:sp>
        <p:nvSpPr>
          <p:cNvPr id="6" name="Text 4"/>
          <p:cNvSpPr txBox="1"/>
          <p:nvPr/>
        </p:nvSpPr>
        <p:spPr>
          <a:xfrm>
            <a:off x="2739542"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4 Desarrollo</a:t>
            </a:r>
            <a:endParaRPr lang="en-US" sz="750" dirty="0"/>
          </a:p>
        </p:txBody>
      </p:sp>
      <p:sp>
        <p:nvSpPr>
          <p:cNvPr id="7" name="Text 5"/>
          <p:cNvSpPr txBox="1"/>
          <p:nvPr/>
        </p:nvSpPr>
        <p:spPr>
          <a:xfrm>
            <a:off x="3567989" y="4914900"/>
            <a:ext cx="782726" cy="187452"/>
          </a:xfrm>
          <a:prstGeom prst="rect">
            <a:avLst/>
          </a:prstGeom>
          <a:noFill/>
          <a:ln/>
        </p:spPr>
        <p:txBody>
          <a:bodyPr wrap="square" lIns="0" tIns="0" rIns="0" bIns="0" rtlCol="0" anchor="ctr"/>
          <a:lstStyle/>
          <a:p>
            <a:pPr algn="ctr" indent="0" marL="0">
              <a:buNone/>
            </a:pPr>
            <a:r>
              <a:rPr lang="en-US" sz="750" dirty="0">
                <a:solidFill>
                  <a:srgbClr val="8A93A3"/>
                </a:solidFill>
                <a:latin typeface="Calibri" pitchFamily="34" charset="0"/>
                <a:ea typeface="Calibri" pitchFamily="34" charset="-122"/>
                <a:cs typeface="Calibri" pitchFamily="34" charset="-120"/>
              </a:rPr>
              <a:t>5 Evaluación</a:t>
            </a:r>
            <a:endParaRPr lang="en-US" sz="750" dirty="0"/>
          </a:p>
        </p:txBody>
      </p:sp>
      <p:sp>
        <p:nvSpPr>
          <p:cNvPr id="8" name="Shape 6"/>
          <p:cNvSpPr/>
          <p:nvPr/>
        </p:nvSpPr>
        <p:spPr>
          <a:xfrm>
            <a:off x="4396435" y="4914900"/>
            <a:ext cx="888797" cy="187452"/>
          </a:xfrm>
          <a:prstGeom prst="roundRect">
            <a:avLst>
              <a:gd name="adj" fmla="val 19512"/>
            </a:avLst>
          </a:prstGeom>
          <a:solidFill>
            <a:srgbClr val="CA061C"/>
          </a:solidFill>
          <a:ln w="12700">
            <a:solidFill>
              <a:srgbClr val="CA061C"/>
            </a:solidFill>
            <a:prstDash val="solid"/>
          </a:ln>
        </p:spPr>
      </p:sp>
      <p:sp>
        <p:nvSpPr>
          <p:cNvPr id="9" name="Text 7"/>
          <p:cNvSpPr txBox="1"/>
          <p:nvPr/>
        </p:nvSpPr>
        <p:spPr>
          <a:xfrm>
            <a:off x="4396435" y="4914900"/>
            <a:ext cx="888797" cy="1874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 Conclusiones</a:t>
            </a:r>
            <a:endParaRPr lang="en-US" sz="750" dirty="0"/>
          </a:p>
        </p:txBody>
      </p:sp>
      <p:sp>
        <p:nvSpPr>
          <p:cNvPr id="10" name="Text 8"/>
          <p:cNvSpPr txBox="1"/>
          <p:nvPr/>
        </p:nvSpPr>
        <p:spPr>
          <a:xfrm>
            <a:off x="7955280" y="4901184"/>
            <a:ext cx="1005840" cy="214884"/>
          </a:xfrm>
          <a:prstGeom prst="rect">
            <a:avLst/>
          </a:prstGeom>
          <a:noFill/>
          <a:ln/>
        </p:spPr>
        <p:txBody>
          <a:bodyPr wrap="square" lIns="0" tIns="0" rIns="0" bIns="0" rtlCol="0" anchor="ct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20</a:t>
            </a:r>
            <a:pPr algn="r" indent="0" marL="0">
              <a:buNone/>
            </a:pPr>
            <a:r>
              <a:rPr lang="en-US" sz="800" dirty="0">
                <a:solidFill>
                  <a:srgbClr val="8A93A3"/>
                </a:solidFill>
                <a:latin typeface="Courier New" pitchFamily="34" charset="0"/>
                <a:ea typeface="Courier New" pitchFamily="34" charset="-122"/>
                <a:cs typeface="Courier New" pitchFamily="34" charset="-120"/>
              </a:rPr>
              <a:t>  /  21</a:t>
            </a:r>
            <a:endParaRPr lang="en-US" sz="800" dirty="0"/>
          </a:p>
        </p:txBody>
      </p:sp>
      <p:sp>
        <p:nvSpPr>
          <p:cNvPr id="11" name="Text 9"/>
          <p:cNvSpPr txBox="1"/>
          <p:nvPr/>
        </p:nvSpPr>
        <p:spPr>
          <a:xfrm>
            <a:off x="411480" y="201168"/>
            <a:ext cx="8229600" cy="201168"/>
          </a:xfrm>
          <a:prstGeom prst="rect">
            <a:avLst/>
          </a:prstGeom>
          <a:noFill/>
          <a:ln/>
        </p:spPr>
        <p:txBody>
          <a:bodyPr wrap="square" lIns="0" tIns="0" rIns="0" bIns="0" rtlCol="0" anchor="ctr"/>
          <a:lstStyle/>
          <a:p>
            <a:pPr indent="0" marL="0">
              <a:buNone/>
            </a:pPr>
            <a:r>
              <a:rPr lang="en-US" sz="850" b="1" spc="200" kern="0" dirty="0">
                <a:solidFill>
                  <a:srgbClr val="CA061C"/>
                </a:solidFill>
                <a:latin typeface="Calibri" pitchFamily="34" charset="0"/>
                <a:ea typeface="Calibri" pitchFamily="34" charset="-122"/>
                <a:cs typeface="Calibri" pitchFamily="34" charset="-120"/>
              </a:rPr>
              <a:t>6 · CONCLUSIONES Y LÍNEAS FUTURAS</a:t>
            </a:r>
            <a:endParaRPr lang="en-US" sz="850" dirty="0"/>
          </a:p>
        </p:txBody>
      </p:sp>
      <p:sp>
        <p:nvSpPr>
          <p:cNvPr id="12" name="Text 10"/>
          <p:cNvSpPr txBox="1"/>
          <p:nvPr/>
        </p:nvSpPr>
        <p:spPr>
          <a:xfrm>
            <a:off x="411480" y="402336"/>
            <a:ext cx="8321040" cy="457200"/>
          </a:xfrm>
          <a:prstGeom prst="rect">
            <a:avLst/>
          </a:prstGeom>
          <a:noFill/>
          <a:ln/>
        </p:spPr>
        <p:txBody>
          <a:bodyPr wrap="square" lIns="0" tIns="0" rIns="0" bIns="0" rtlCol="0" anchor="ctr"/>
          <a:lstStyle/>
          <a:p>
            <a:pPr indent="0" marL="0">
              <a:buNone/>
            </a:pPr>
            <a:r>
              <a:rPr lang="en-US" sz="2400" b="1" dirty="0">
                <a:solidFill>
                  <a:srgbClr val="141821"/>
                </a:solidFill>
                <a:latin typeface="Cambria" pitchFamily="34" charset="0"/>
                <a:ea typeface="Cambria" pitchFamily="34" charset="-122"/>
                <a:cs typeface="Cambria" pitchFamily="34" charset="-120"/>
              </a:rPr>
              <a:t>Una línea base reproducible, interpretable y auditable</a:t>
            </a:r>
            <a:endParaRPr lang="en-US" sz="2400" dirty="0"/>
          </a:p>
        </p:txBody>
      </p:sp>
      <p:sp>
        <p:nvSpPr>
          <p:cNvPr id="14" name="Shape 11"/>
          <p:cNvSpPr/>
          <p:nvPr/>
        </p:nvSpPr>
        <p:spPr>
          <a:xfrm>
            <a:off x="411480" y="1051560"/>
            <a:ext cx="4572000" cy="3630168"/>
          </a:xfrm>
          <a:prstGeom prst="roundRect">
            <a:avLst>
              <a:gd name="adj" fmla="val 1511"/>
            </a:avLst>
          </a:prstGeom>
          <a:solidFill>
            <a:srgbClr val="141821"/>
          </a:solidFill>
          <a:ln w="9525">
            <a:solidFill>
              <a:srgbClr val="141821"/>
            </a:solidFill>
            <a:prstDash val="solid"/>
          </a:ln>
        </p:spPr>
      </p:sp>
      <p:sp>
        <p:nvSpPr>
          <p:cNvPr id="15" name="Text 12"/>
          <p:cNvSpPr txBox="1"/>
          <p:nvPr/>
        </p:nvSpPr>
        <p:spPr>
          <a:xfrm>
            <a:off x="640080" y="1207008"/>
            <a:ext cx="4114800" cy="182880"/>
          </a:xfrm>
          <a:prstGeom prst="rect">
            <a:avLst/>
          </a:prstGeom>
          <a:noFill/>
          <a:ln/>
        </p:spPr>
        <p:txBody>
          <a:bodyPr wrap="square" lIns="0" tIns="0" rIns="0" bIns="0" rtlCol="0" anchor="ctr"/>
          <a:lstStyle/>
          <a:p>
            <a:pPr indent="0" marL="0">
              <a:buNone/>
            </a:pPr>
            <a:r>
              <a:rPr lang="en-US" sz="750" b="1" spc="150" kern="0" dirty="0">
                <a:solidFill>
                  <a:srgbClr val="FF8A96"/>
                </a:solidFill>
                <a:latin typeface="Calibri" pitchFamily="34" charset="0"/>
                <a:ea typeface="Calibri" pitchFamily="34" charset="-122"/>
                <a:cs typeface="Calibri" pitchFamily="34" charset="-120"/>
              </a:rPr>
              <a:t>LO CONSEGUIDO</a:t>
            </a:r>
            <a:endParaRPr lang="en-US" sz="750" dirty="0"/>
          </a:p>
        </p:txBody>
      </p:sp>
      <p:sp>
        <p:nvSpPr>
          <p:cNvPr id="16" name="Text 13"/>
          <p:cNvSpPr txBox="1"/>
          <p:nvPr/>
        </p:nvSpPr>
        <p:spPr>
          <a:xfrm>
            <a:off x="640080" y="1481328"/>
            <a:ext cx="228600" cy="411480"/>
          </a:xfrm>
          <a:prstGeom prst="rect">
            <a:avLst/>
          </a:prstGeom>
          <a:noFill/>
          <a:ln/>
        </p:spPr>
        <p:txBody>
          <a:bodyPr wrap="square" lIns="0" tIns="0" rIns="0" bIns="0" rtlCol="0" anchor="ctr"/>
          <a:lstStyle/>
          <a:p>
            <a:pPr indent="0" marL="0">
              <a:buNone/>
            </a:pPr>
            <a:r>
              <a:rPr lang="en-US" sz="1200" b="1" dirty="0">
                <a:solidFill>
                  <a:srgbClr val="7FD1A8"/>
                </a:solidFill>
                <a:latin typeface="Calibri" pitchFamily="34" charset="0"/>
                <a:ea typeface="Calibri" pitchFamily="34" charset="-122"/>
                <a:cs typeface="Calibri" pitchFamily="34" charset="-120"/>
              </a:rPr>
              <a:t>✓</a:t>
            </a:r>
            <a:endParaRPr lang="en-US" sz="1200" dirty="0"/>
          </a:p>
        </p:txBody>
      </p:sp>
      <p:sp>
        <p:nvSpPr>
          <p:cNvPr id="17" name="Text 14"/>
          <p:cNvSpPr txBox="1"/>
          <p:nvPr/>
        </p:nvSpPr>
        <p:spPr>
          <a:xfrm>
            <a:off x="896112" y="1481328"/>
            <a:ext cx="3931920" cy="4297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Corpus derivado</a:t>
            </a:r>
            <a:pPr indent="0" marL="0">
              <a:buNone/>
            </a:pPr>
            <a:r>
              <a:rPr lang="en-US" sz="950" dirty="0">
                <a:solidFill>
                  <a:srgbClr val="D5DAE2"/>
                </a:solidFill>
                <a:latin typeface="Calibri" pitchFamily="34" charset="0"/>
                <a:ea typeface="Calibri" pitchFamily="34" charset="-122"/>
                <a:cs typeface="Calibri" pitchFamily="34" charset="-120"/>
              </a:rPr>
              <a:t> de 44.408 registros con criterios explícitos y duplicados agrupados</a:t>
            </a:r>
            <a:endParaRPr lang="en-US" sz="950" dirty="0"/>
          </a:p>
        </p:txBody>
      </p:sp>
      <p:sp>
        <p:nvSpPr>
          <p:cNvPr id="18" name="Text 15"/>
          <p:cNvSpPr txBox="1"/>
          <p:nvPr/>
        </p:nvSpPr>
        <p:spPr>
          <a:xfrm>
            <a:off x="640080" y="1956816"/>
            <a:ext cx="228600" cy="411480"/>
          </a:xfrm>
          <a:prstGeom prst="rect">
            <a:avLst/>
          </a:prstGeom>
          <a:noFill/>
          <a:ln/>
        </p:spPr>
        <p:txBody>
          <a:bodyPr wrap="square" lIns="0" tIns="0" rIns="0" bIns="0" rtlCol="0" anchor="ctr"/>
          <a:lstStyle/>
          <a:p>
            <a:pPr indent="0" marL="0">
              <a:buNone/>
            </a:pPr>
            <a:r>
              <a:rPr lang="en-US" sz="1200" b="1" dirty="0">
                <a:solidFill>
                  <a:srgbClr val="7FD1A8"/>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96112" y="1956816"/>
            <a:ext cx="3931920" cy="4297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Flujo trazable</a:t>
            </a:r>
            <a:pPr indent="0" marL="0">
              <a:buNone/>
            </a:pPr>
            <a:r>
              <a:rPr lang="en-US" sz="950" dirty="0">
                <a:solidFill>
                  <a:srgbClr val="D5DAE2"/>
                </a:solidFill>
                <a:latin typeface="Calibri" pitchFamily="34" charset="0"/>
                <a:ea typeface="Calibri" pitchFamily="34" charset="-122"/>
                <a:cs typeface="Calibri" pitchFamily="34" charset="-120"/>
              </a:rPr>
              <a:t>: procedencia, validación estructural y reconstrucción de cada run</a:t>
            </a:r>
            <a:endParaRPr lang="en-US" sz="950" dirty="0"/>
          </a:p>
        </p:txBody>
      </p:sp>
      <p:sp>
        <p:nvSpPr>
          <p:cNvPr id="20" name="Text 17"/>
          <p:cNvSpPr txBox="1"/>
          <p:nvPr/>
        </p:nvSpPr>
        <p:spPr>
          <a:xfrm>
            <a:off x="640080" y="2432304"/>
            <a:ext cx="228600" cy="411480"/>
          </a:xfrm>
          <a:prstGeom prst="rect">
            <a:avLst/>
          </a:prstGeom>
          <a:noFill/>
          <a:ln/>
        </p:spPr>
        <p:txBody>
          <a:bodyPr wrap="square" lIns="0" tIns="0" rIns="0" bIns="0" rtlCol="0" anchor="ctr"/>
          <a:lstStyle/>
          <a:p>
            <a:pPr indent="0" marL="0">
              <a:buNone/>
            </a:pPr>
            <a:r>
              <a:rPr lang="en-US" sz="1200" b="1" dirty="0">
                <a:solidFill>
                  <a:srgbClr val="7FD1A8"/>
                </a:solidFill>
                <a:latin typeface="Calibri" pitchFamily="34" charset="0"/>
                <a:ea typeface="Calibri" pitchFamily="34" charset="-122"/>
                <a:cs typeface="Calibri" pitchFamily="34" charset="-120"/>
              </a:rPr>
              <a:t>✓</a:t>
            </a:r>
            <a:endParaRPr lang="en-US" sz="1200" dirty="0"/>
          </a:p>
        </p:txBody>
      </p:sp>
      <p:sp>
        <p:nvSpPr>
          <p:cNvPr id="21" name="Text 18"/>
          <p:cNvSpPr txBox="1"/>
          <p:nvPr/>
        </p:nvSpPr>
        <p:spPr>
          <a:xfrm>
            <a:off x="896112" y="2432304"/>
            <a:ext cx="3931920" cy="4297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Comparación agrupada</a:t>
            </a:r>
            <a:pPr indent="0" marL="0">
              <a:buNone/>
            </a:pPr>
            <a:r>
              <a:rPr lang="en-US" sz="950" dirty="0">
                <a:solidFill>
                  <a:srgbClr val="D5DAE2"/>
                </a:solidFill>
                <a:latin typeface="Calibri" pitchFamily="34" charset="0"/>
                <a:ea typeface="Calibri" pitchFamily="34" charset="-122"/>
                <a:cs typeface="Calibri" pitchFamily="34" charset="-120"/>
              </a:rPr>
              <a:t>: RL 0,9392 ± 0,0013 frente a SVC 0,9388 ± 0,0020</a:t>
            </a:r>
            <a:endParaRPr lang="en-US" sz="950" dirty="0"/>
          </a:p>
        </p:txBody>
      </p:sp>
      <p:sp>
        <p:nvSpPr>
          <p:cNvPr id="22" name="Text 19"/>
          <p:cNvSpPr txBox="1"/>
          <p:nvPr/>
        </p:nvSpPr>
        <p:spPr>
          <a:xfrm>
            <a:off x="640080" y="2907792"/>
            <a:ext cx="228600" cy="411480"/>
          </a:xfrm>
          <a:prstGeom prst="rect">
            <a:avLst/>
          </a:prstGeom>
          <a:noFill/>
          <a:ln/>
        </p:spPr>
        <p:txBody>
          <a:bodyPr wrap="square" lIns="0" tIns="0" rIns="0" bIns="0" rtlCol="0" anchor="ctr"/>
          <a:lstStyle/>
          <a:p>
            <a:pPr indent="0" marL="0">
              <a:buNone/>
            </a:pPr>
            <a:r>
              <a:rPr lang="en-US" sz="1200" b="1" dirty="0">
                <a:solidFill>
                  <a:srgbClr val="7FD1A8"/>
                </a:solidFill>
                <a:latin typeface="Calibri" pitchFamily="34" charset="0"/>
                <a:ea typeface="Calibri" pitchFamily="34" charset="-122"/>
                <a:cs typeface="Calibri" pitchFamily="34" charset="-120"/>
              </a:rPr>
              <a:t>✓</a:t>
            </a:r>
            <a:endParaRPr lang="en-US" sz="1200" dirty="0"/>
          </a:p>
        </p:txBody>
      </p:sp>
      <p:sp>
        <p:nvSpPr>
          <p:cNvPr id="23" name="Text 20"/>
          <p:cNvSpPr txBox="1"/>
          <p:nvPr/>
        </p:nvSpPr>
        <p:spPr>
          <a:xfrm>
            <a:off x="896112" y="2907792"/>
            <a:ext cx="3931920" cy="4297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Análisis crítico</a:t>
            </a:r>
            <a:pPr indent="0" marL="0">
              <a:buNone/>
            </a:pPr>
            <a:r>
              <a:rPr lang="en-US" sz="950" dirty="0">
                <a:solidFill>
                  <a:srgbClr val="D5DAE2"/>
                </a:solidFill>
                <a:latin typeface="Calibri" pitchFamily="34" charset="0"/>
                <a:ea typeface="Calibri" pitchFamily="34" charset="-122"/>
                <a:cs typeface="Calibri" pitchFamily="34" charset="-120"/>
              </a:rPr>
              <a:t>: desglose por fuente, transferencia y amenazas a la validez</a:t>
            </a:r>
            <a:endParaRPr lang="en-US" sz="950" dirty="0"/>
          </a:p>
        </p:txBody>
      </p:sp>
      <p:sp>
        <p:nvSpPr>
          <p:cNvPr id="24" name="Text 21"/>
          <p:cNvSpPr txBox="1"/>
          <p:nvPr/>
        </p:nvSpPr>
        <p:spPr>
          <a:xfrm>
            <a:off x="640080" y="3383280"/>
            <a:ext cx="228600" cy="411480"/>
          </a:xfrm>
          <a:prstGeom prst="rect">
            <a:avLst/>
          </a:prstGeom>
          <a:noFill/>
          <a:ln/>
        </p:spPr>
        <p:txBody>
          <a:bodyPr wrap="square" lIns="0" tIns="0" rIns="0" bIns="0" rtlCol="0" anchor="ctr"/>
          <a:lstStyle/>
          <a:p>
            <a:pPr indent="0" marL="0">
              <a:buNone/>
            </a:pPr>
            <a:r>
              <a:rPr lang="en-US" sz="1200" b="1" dirty="0">
                <a:solidFill>
                  <a:srgbClr val="7FD1A8"/>
                </a:solidFill>
                <a:latin typeface="Calibri" pitchFamily="34" charset="0"/>
                <a:ea typeface="Calibri" pitchFamily="34" charset="-122"/>
                <a:cs typeface="Calibri" pitchFamily="34" charset="-120"/>
              </a:rPr>
              <a:t>✓</a:t>
            </a:r>
            <a:endParaRPr lang="en-US" sz="1200" dirty="0"/>
          </a:p>
        </p:txBody>
      </p:sp>
      <p:sp>
        <p:nvSpPr>
          <p:cNvPr id="25" name="Text 22"/>
          <p:cNvSpPr txBox="1"/>
          <p:nvPr/>
        </p:nvSpPr>
        <p:spPr>
          <a:xfrm>
            <a:off x="896112" y="3383280"/>
            <a:ext cx="3931920" cy="4297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Telegram desacoplado</a:t>
            </a:r>
            <a:pPr indent="0" marL="0">
              <a:buNone/>
            </a:pPr>
            <a:r>
              <a:rPr lang="en-US" sz="950" dirty="0">
                <a:solidFill>
                  <a:srgbClr val="D5DAE2"/>
                </a:solidFill>
                <a:latin typeface="Calibri" pitchFamily="34" charset="0"/>
                <a:ea typeface="Calibri" pitchFamily="34" charset="-122"/>
                <a:cs typeface="Calibri" pitchFamily="34" charset="-120"/>
              </a:rPr>
              <a:t>: adquisición bajo demanda, sin etiquetas ni uso en la evaluación</a:t>
            </a:r>
            <a:endParaRPr lang="en-US" sz="950" dirty="0"/>
          </a:p>
        </p:txBody>
      </p:sp>
      <p:sp>
        <p:nvSpPr>
          <p:cNvPr id="26" name="Shape 23"/>
          <p:cNvSpPr/>
          <p:nvPr/>
        </p:nvSpPr>
        <p:spPr>
          <a:xfrm>
            <a:off x="640080" y="3931920"/>
            <a:ext cx="4114800" cy="0"/>
          </a:xfrm>
          <a:prstGeom prst="line">
            <a:avLst/>
          </a:prstGeom>
          <a:noFill/>
          <a:ln w="9525">
            <a:solidFill>
              <a:srgbClr val="3A4250"/>
            </a:solidFill>
            <a:prstDash val="solid"/>
          </a:ln>
        </p:spPr>
      </p:sp>
      <p:sp>
        <p:nvSpPr>
          <p:cNvPr id="27" name="Text 24"/>
          <p:cNvSpPr txBox="1"/>
          <p:nvPr/>
        </p:nvSpPr>
        <p:spPr>
          <a:xfrm>
            <a:off x="640080" y="4005072"/>
            <a:ext cx="4114800" cy="548640"/>
          </a:xfrm>
          <a:prstGeom prst="rect">
            <a:avLst/>
          </a:prstGeom>
          <a:noFill/>
          <a:ln/>
        </p:spPr>
        <p:txBody>
          <a:bodyPr wrap="square" lIns="0" tIns="0" rIns="0" bIns="0" rtlCol="0" anchor="t"/>
          <a:lstStyle/>
          <a:p>
            <a:pPr indent="0" marL="0">
              <a:buNone/>
            </a:pPr>
            <a:r>
              <a:rPr lang="en-US" sz="950" dirty="0">
                <a:solidFill>
                  <a:srgbClr val="AEB6C4"/>
                </a:solidFill>
                <a:latin typeface="Calibri" pitchFamily="34" charset="0"/>
                <a:ea typeface="Calibri" pitchFamily="34" charset="-122"/>
                <a:cs typeface="Calibri" pitchFamily="34" charset="-120"/>
              </a:rPr>
              <a:t>La métrica no basta: hay que explicar </a:t>
            </a:r>
            <a:pPr indent="0" marL="0">
              <a:buNone/>
            </a:pPr>
            <a:r>
              <a:rPr lang="en-US" sz="950" b="1" dirty="0">
                <a:solidFill>
                  <a:srgbClr val="FFFFFF"/>
                </a:solidFill>
                <a:latin typeface="Calibri" pitchFamily="34" charset="0"/>
                <a:ea typeface="Calibri" pitchFamily="34" charset="-122"/>
                <a:cs typeface="Calibri" pitchFamily="34" charset="-120"/>
              </a:rPr>
              <a:t>con qué datos, decisiones y limitaciones</a:t>
            </a:r>
            <a:pPr indent="0" marL="0">
              <a:buNone/>
            </a:pPr>
            <a:r>
              <a:rPr lang="en-US" sz="950" dirty="0">
                <a:solidFill>
                  <a:srgbClr val="AEB6C4"/>
                </a:solidFill>
                <a:latin typeface="Calibri" pitchFamily="34" charset="0"/>
                <a:ea typeface="Calibri" pitchFamily="34" charset="-122"/>
                <a:cs typeface="Calibri" pitchFamily="34" charset="-120"/>
              </a:rPr>
              <a:t> se obtiene.</a:t>
            </a:r>
            <a:endParaRPr lang="en-US" sz="950" dirty="0"/>
          </a:p>
        </p:txBody>
      </p:sp>
      <p:sp>
        <p:nvSpPr>
          <p:cNvPr id="28" name="Text 25"/>
          <p:cNvSpPr txBox="1"/>
          <p:nvPr/>
        </p:nvSpPr>
        <p:spPr>
          <a:xfrm>
            <a:off x="5166360" y="1097280"/>
            <a:ext cx="347472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LÍNEAS FUTURAS</a:t>
            </a:r>
            <a:endParaRPr lang="en-US" sz="750" dirty="0"/>
          </a:p>
        </p:txBody>
      </p:sp>
      <p:sp>
        <p:nvSpPr>
          <p:cNvPr id="29" name="Shape 26"/>
          <p:cNvSpPr/>
          <p:nvPr/>
        </p:nvSpPr>
        <p:spPr>
          <a:xfrm>
            <a:off x="5166360" y="1353312"/>
            <a:ext cx="3566160" cy="576072"/>
          </a:xfrm>
          <a:prstGeom prst="roundRect">
            <a:avLst>
              <a:gd name="adj" fmla="val 9524"/>
            </a:avLst>
          </a:prstGeom>
          <a:solidFill>
            <a:srgbClr val="FBE7EA"/>
          </a:solidFill>
          <a:ln w="9525">
            <a:solidFill>
              <a:srgbClr val="FBE7EA"/>
            </a:solidFill>
            <a:prstDash val="solid"/>
          </a:ln>
        </p:spPr>
      </p:sp>
      <p:sp>
        <p:nvSpPr>
          <p:cNvPr id="30" name="Text 27"/>
          <p:cNvSpPr txBox="1"/>
          <p:nvPr/>
        </p:nvSpPr>
        <p:spPr>
          <a:xfrm>
            <a:off x="5321808" y="1353312"/>
            <a:ext cx="3291840" cy="576072"/>
          </a:xfrm>
          <a:prstGeom prst="rect">
            <a:avLst/>
          </a:prstGeom>
          <a:noFill/>
          <a:ln/>
        </p:spPr>
        <p:txBody>
          <a:bodyPr wrap="square" lIns="0" tIns="0" rIns="0" bIns="0" rtlCol="0" anchor="ctr"/>
          <a:lstStyle/>
          <a:p>
            <a:pPr indent="0" marL="0">
              <a:buNone/>
            </a:pPr>
            <a:r>
              <a:rPr lang="en-US" sz="950" b="1" dirty="0">
                <a:solidFill>
                  <a:srgbClr val="CA061C"/>
                </a:solidFill>
                <a:latin typeface="Calibri" pitchFamily="34" charset="0"/>
                <a:ea typeface="Calibri" pitchFamily="34" charset="-122"/>
                <a:cs typeface="Calibri" pitchFamily="34" charset="-120"/>
              </a:rPr>
              <a:t>Corpus de Telegram </a:t>
            </a:r>
            <a:pPr indent="0" marL="0">
              <a:buNone/>
            </a:pPr>
            <a:r>
              <a:rPr lang="en-US" sz="950" dirty="0">
                <a:solidFill>
                  <a:srgbClr val="3A4250"/>
                </a:solidFill>
                <a:latin typeface="Calibri" pitchFamily="34" charset="0"/>
                <a:ea typeface="Calibri" pitchFamily="34" charset="-122"/>
                <a:cs typeface="Calibri" pitchFamily="34" charset="-120"/>
              </a:rPr>
              <a:t>con selección, anotación y control de calidad documentados</a:t>
            </a:r>
            <a:endParaRPr lang="en-US" sz="950" dirty="0"/>
          </a:p>
        </p:txBody>
      </p:sp>
      <p:sp>
        <p:nvSpPr>
          <p:cNvPr id="31" name="Shape 28"/>
          <p:cNvSpPr/>
          <p:nvPr/>
        </p:nvSpPr>
        <p:spPr>
          <a:xfrm>
            <a:off x="5166360" y="2020824"/>
            <a:ext cx="3566160" cy="576072"/>
          </a:xfrm>
          <a:prstGeom prst="roundRect">
            <a:avLst>
              <a:gd name="adj" fmla="val 9524"/>
            </a:avLst>
          </a:prstGeom>
          <a:solidFill>
            <a:srgbClr val="EEF1F6"/>
          </a:solidFill>
          <a:ln w="9525">
            <a:solidFill>
              <a:srgbClr val="EEF1F6"/>
            </a:solidFill>
            <a:prstDash val="solid"/>
          </a:ln>
        </p:spPr>
      </p:sp>
      <p:sp>
        <p:nvSpPr>
          <p:cNvPr id="32" name="Text 29"/>
          <p:cNvSpPr txBox="1"/>
          <p:nvPr/>
        </p:nvSpPr>
        <p:spPr>
          <a:xfrm>
            <a:off x="5321808" y="2020824"/>
            <a:ext cx="3291840" cy="576072"/>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Particiones temporales </a:t>
            </a:r>
            <a:pPr indent="0" marL="0">
              <a:buNone/>
            </a:pPr>
            <a:r>
              <a:rPr lang="en-US" sz="950" dirty="0">
                <a:solidFill>
                  <a:srgbClr val="3A4250"/>
                </a:solidFill>
                <a:latin typeface="Calibri" pitchFamily="34" charset="0"/>
                <a:ea typeface="Calibri" pitchFamily="34" charset="-122"/>
                <a:cs typeface="Calibri" pitchFamily="34" charset="-120"/>
              </a:rPr>
              <a:t>y fuentes adicionales</a:t>
            </a:r>
            <a:endParaRPr lang="en-US" sz="950" dirty="0"/>
          </a:p>
        </p:txBody>
      </p:sp>
      <p:sp>
        <p:nvSpPr>
          <p:cNvPr id="33" name="Shape 30"/>
          <p:cNvSpPr/>
          <p:nvPr/>
        </p:nvSpPr>
        <p:spPr>
          <a:xfrm>
            <a:off x="5166360" y="2688336"/>
            <a:ext cx="3566160" cy="576072"/>
          </a:xfrm>
          <a:prstGeom prst="roundRect">
            <a:avLst>
              <a:gd name="adj" fmla="val 9524"/>
            </a:avLst>
          </a:prstGeom>
          <a:solidFill>
            <a:srgbClr val="EEF1F6"/>
          </a:solidFill>
          <a:ln w="9525">
            <a:solidFill>
              <a:srgbClr val="EEF1F6"/>
            </a:solidFill>
            <a:prstDash val="solid"/>
          </a:ln>
        </p:spPr>
      </p:sp>
      <p:sp>
        <p:nvSpPr>
          <p:cNvPr id="34" name="Text 31"/>
          <p:cNvSpPr txBox="1"/>
          <p:nvPr/>
        </p:nvSpPr>
        <p:spPr>
          <a:xfrm>
            <a:off x="5321808" y="2688336"/>
            <a:ext cx="3291840" cy="576072"/>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Errores y términos </a:t>
            </a:r>
            <a:pPr indent="0" marL="0">
              <a:buNone/>
            </a:pPr>
            <a:r>
              <a:rPr lang="en-US" sz="950" dirty="0">
                <a:solidFill>
                  <a:srgbClr val="3A4250"/>
                </a:solidFill>
                <a:latin typeface="Calibri" pitchFamily="34" charset="0"/>
                <a:ea typeface="Calibri" pitchFamily="34" charset="-122"/>
                <a:cs typeface="Calibri" pitchFamily="34" charset="-120"/>
              </a:rPr>
              <a:t>análisis y estabilidad de los términos influyentes</a:t>
            </a:r>
            <a:endParaRPr lang="en-US" sz="950" dirty="0"/>
          </a:p>
        </p:txBody>
      </p:sp>
      <p:sp>
        <p:nvSpPr>
          <p:cNvPr id="35" name="Shape 32"/>
          <p:cNvSpPr/>
          <p:nvPr/>
        </p:nvSpPr>
        <p:spPr>
          <a:xfrm>
            <a:off x="5166360" y="3355848"/>
            <a:ext cx="3566160" cy="576072"/>
          </a:xfrm>
          <a:prstGeom prst="roundRect">
            <a:avLst>
              <a:gd name="adj" fmla="val 9524"/>
            </a:avLst>
          </a:prstGeom>
          <a:solidFill>
            <a:srgbClr val="EEF1F6"/>
          </a:solidFill>
          <a:ln w="9525">
            <a:solidFill>
              <a:srgbClr val="EEF1F6"/>
            </a:solidFill>
            <a:prstDash val="solid"/>
          </a:ln>
        </p:spPr>
      </p:sp>
      <p:sp>
        <p:nvSpPr>
          <p:cNvPr id="36" name="Text 33"/>
          <p:cNvSpPr txBox="1"/>
          <p:nvPr/>
        </p:nvSpPr>
        <p:spPr>
          <a:xfrm>
            <a:off x="5321808" y="3355848"/>
            <a:ext cx="3291840" cy="576072"/>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Calibración </a:t>
            </a:r>
            <a:pPr indent="0" marL="0">
              <a:buNone/>
            </a:pPr>
            <a:r>
              <a:rPr lang="en-US" sz="950" dirty="0">
                <a:solidFill>
                  <a:srgbClr val="3A4250"/>
                </a:solidFill>
                <a:latin typeface="Calibri" pitchFamily="34" charset="0"/>
                <a:ea typeface="Calibri" pitchFamily="34" charset="-122"/>
                <a:cs typeface="Calibri" pitchFamily="34" charset="-120"/>
              </a:rPr>
              <a:t>de las salidas de los modelos</a:t>
            </a:r>
            <a:endParaRPr lang="en-US" sz="950" dirty="0"/>
          </a:p>
        </p:txBody>
      </p:sp>
      <p:sp>
        <p:nvSpPr>
          <p:cNvPr id="37" name="Shape 34"/>
          <p:cNvSpPr/>
          <p:nvPr/>
        </p:nvSpPr>
        <p:spPr>
          <a:xfrm>
            <a:off x="5166360" y="4023360"/>
            <a:ext cx="3566160" cy="576072"/>
          </a:xfrm>
          <a:prstGeom prst="roundRect">
            <a:avLst>
              <a:gd name="adj" fmla="val 9524"/>
            </a:avLst>
          </a:prstGeom>
          <a:solidFill>
            <a:srgbClr val="EEF1F6"/>
          </a:solidFill>
          <a:ln w="9525">
            <a:solidFill>
              <a:srgbClr val="EEF1F6"/>
            </a:solidFill>
            <a:prstDash val="solid"/>
          </a:ln>
        </p:spPr>
      </p:sp>
      <p:sp>
        <p:nvSpPr>
          <p:cNvPr id="38" name="Text 35"/>
          <p:cNvSpPr txBox="1"/>
          <p:nvPr/>
        </p:nvSpPr>
        <p:spPr>
          <a:xfrm>
            <a:off x="5321808" y="4023360"/>
            <a:ext cx="3291840" cy="576072"/>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Modelos preentrenados </a:t>
            </a:r>
            <a:pPr indent="0" marL="0">
              <a:buNone/>
            </a:pPr>
            <a:r>
              <a:rPr lang="en-US" sz="950" dirty="0">
                <a:solidFill>
                  <a:srgbClr val="3A4250"/>
                </a:solidFill>
                <a:latin typeface="Calibri" pitchFamily="34" charset="0"/>
                <a:ea typeface="Calibri" pitchFamily="34" charset="-122"/>
                <a:cs typeface="Calibri" pitchFamily="34" charset="-120"/>
              </a:rPr>
              <a:t>con particiones y criterios equivalentes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18872" cy="5143500"/>
          </a:xfrm>
          <a:prstGeom prst="rect">
            <a:avLst/>
          </a:prstGeom>
          <a:solidFill>
            <a:srgbClr val="CA061C"/>
          </a:solidFill>
          <a:ln w="12700">
            <a:solidFill>
              <a:srgbClr val="CA061C"/>
            </a:solidFill>
            <a:prstDash val="solid"/>
          </a:ln>
        </p:spPr>
      </p:sp>
      <p:pic>
        <p:nvPicPr>
          <p:cNvPr id="4" name="Image 0" descr="/tmp/claude-0/-home-user/ce555fa8-9152-5329-9285-191cb93ac5af/scratchpad/logo.png">    </p:cNvPr>
          <p:cNvPicPr>
            <a:picLocks noChangeAspect="1"/>
          </p:cNvPicPr>
          <p:nvPr/>
        </p:nvPicPr>
        <p:blipFill>
          <a:blip r:embed="rId1"/>
          <a:stretch>
            <a:fillRect/>
          </a:stretch>
        </p:blipFill>
        <p:spPr>
          <a:xfrm>
            <a:off x="493776" y="329184"/>
            <a:ext cx="210312" cy="429768"/>
          </a:xfrm>
          <a:prstGeom prst="rect">
            <a:avLst/>
          </a:prstGeom>
        </p:spPr>
      </p:pic>
      <p:sp>
        <p:nvSpPr>
          <p:cNvPr id="5" name="Text 1"/>
          <p:cNvSpPr txBox="1"/>
          <p:nvPr/>
        </p:nvSpPr>
        <p:spPr>
          <a:xfrm>
            <a:off x="4754880" y="384048"/>
            <a:ext cx="3931920" cy="329184"/>
          </a:xfrm>
          <a:prstGeom prst="rect">
            <a:avLst/>
          </a:prstGeom>
          <a:noFill/>
          <a:ln/>
        </p:spPr>
        <p:txBody>
          <a:bodyPr wrap="square" lIns="0" tIns="0" rIns="0" bIns="0" rtlCol="0" anchor="ctr"/>
          <a:lstStyle/>
          <a:p>
            <a:pPr algn="r" indent="0" marL="0">
              <a:lnSpc>
                <a:spcPct val="130000"/>
              </a:lnSpc>
              <a:buNone/>
            </a:pPr>
            <a:r>
              <a:rPr lang="en-US" sz="750" b="1" spc="150" kern="0" dirty="0">
                <a:solidFill>
                  <a:srgbClr val="3A4250"/>
                </a:solidFill>
                <a:latin typeface="Calibri" pitchFamily="34" charset="0"/>
                <a:ea typeface="Calibri" pitchFamily="34" charset="-122"/>
                <a:cs typeface="Calibri" pitchFamily="34" charset="-120"/>
              </a:rPr>
              <a:t>DEFENSA DE TRABAJO FIN DE GRADO</a:t>
            </a:r>
            <a:endParaRPr lang="en-US" sz="750" dirty="0"/>
          </a:p>
          <a:p>
            <a:pPr algn="r" indent="0" marL="0">
              <a:lnSpc>
                <a:spcPct val="130000"/>
              </a:lnSpc>
              <a:buNone/>
            </a:pPr>
            <a:r>
              <a:rPr lang="en-US" sz="750" b="1" spc="150" kern="0" dirty="0">
                <a:solidFill>
                  <a:srgbClr val="3A4250"/>
                </a:solidFill>
                <a:latin typeface="Calibri" pitchFamily="34" charset="0"/>
                <a:ea typeface="Calibri" pitchFamily="34" charset="-122"/>
                <a:cs typeface="Calibri" pitchFamily="34" charset="-120"/>
              </a:rPr>
              <a:t>UNIVERSIDAD REY JUAN CARLOS</a:t>
            </a:r>
            <a:endParaRPr lang="en-US" sz="750" dirty="0"/>
          </a:p>
        </p:txBody>
      </p:sp>
      <p:sp>
        <p:nvSpPr>
          <p:cNvPr id="6" name="Text 2"/>
          <p:cNvSpPr txBox="1"/>
          <p:nvPr/>
        </p:nvSpPr>
        <p:spPr>
          <a:xfrm>
            <a:off x="493776" y="1600200"/>
            <a:ext cx="7315200" cy="685800"/>
          </a:xfrm>
          <a:prstGeom prst="rect">
            <a:avLst/>
          </a:prstGeom>
          <a:noFill/>
          <a:ln/>
        </p:spPr>
        <p:txBody>
          <a:bodyPr wrap="square" lIns="0" tIns="0" rIns="0" bIns="0" rtlCol="0" anchor="ctr"/>
          <a:lstStyle/>
          <a:p>
            <a:pPr indent="0" marL="0">
              <a:buNone/>
            </a:pPr>
            <a:r>
              <a:rPr lang="en-US" sz="4400" b="1" dirty="0">
                <a:solidFill>
                  <a:srgbClr val="CA061C"/>
                </a:solidFill>
                <a:latin typeface="Cambria" pitchFamily="34" charset="0"/>
                <a:ea typeface="Cambria" pitchFamily="34" charset="-122"/>
                <a:cs typeface="Cambria" pitchFamily="34" charset="-120"/>
              </a:rPr>
              <a:t>Gracias</a:t>
            </a:r>
            <a:endParaRPr lang="en-US" sz="4400" dirty="0"/>
          </a:p>
        </p:txBody>
      </p:sp>
      <p:sp>
        <p:nvSpPr>
          <p:cNvPr id="7" name="Text 3"/>
          <p:cNvSpPr txBox="1"/>
          <p:nvPr/>
        </p:nvSpPr>
        <p:spPr>
          <a:xfrm>
            <a:off x="493776" y="2286000"/>
            <a:ext cx="7315200" cy="320040"/>
          </a:xfrm>
          <a:prstGeom prst="rect">
            <a:avLst/>
          </a:prstGeom>
          <a:noFill/>
          <a:ln/>
        </p:spPr>
        <p:txBody>
          <a:bodyPr wrap="square" lIns="0" tIns="0" rIns="0" bIns="0" rtlCol="0" anchor="ctr"/>
          <a:lstStyle/>
          <a:p>
            <a:pPr indent="0" marL="0">
              <a:buNone/>
            </a:pPr>
            <a:r>
              <a:rPr lang="en-US" sz="1800" dirty="0">
                <a:solidFill>
                  <a:srgbClr val="141821"/>
                </a:solidFill>
                <a:latin typeface="Cambria" pitchFamily="34" charset="0"/>
                <a:ea typeface="Cambria" pitchFamily="34" charset="-122"/>
                <a:cs typeface="Cambria" pitchFamily="34" charset="-120"/>
              </a:rPr>
              <a:t>¿Preguntas?</a:t>
            </a:r>
            <a:endParaRPr lang="en-US" sz="1800" dirty="0"/>
          </a:p>
        </p:txBody>
      </p:sp>
      <p:sp>
        <p:nvSpPr>
          <p:cNvPr id="8" name="Shape 4"/>
          <p:cNvSpPr/>
          <p:nvPr/>
        </p:nvSpPr>
        <p:spPr>
          <a:xfrm>
            <a:off x="493776" y="2788920"/>
            <a:ext cx="27432" cy="384048"/>
          </a:xfrm>
          <a:prstGeom prst="rect">
            <a:avLst/>
          </a:prstGeom>
          <a:solidFill>
            <a:srgbClr val="CA061C"/>
          </a:solidFill>
          <a:ln w="12700">
            <a:solidFill>
              <a:srgbClr val="CA061C"/>
            </a:solidFill>
            <a:prstDash val="solid"/>
          </a:ln>
        </p:spPr>
      </p:sp>
      <p:sp>
        <p:nvSpPr>
          <p:cNvPr id="9" name="Text 5"/>
          <p:cNvSpPr txBox="1"/>
          <p:nvPr/>
        </p:nvSpPr>
        <p:spPr>
          <a:xfrm>
            <a:off x="603504" y="2761488"/>
            <a:ext cx="6949440" cy="438912"/>
          </a:xfrm>
          <a:prstGeom prst="rect">
            <a:avLst/>
          </a:prstGeom>
          <a:noFill/>
          <a:ln/>
        </p:spPr>
        <p:txBody>
          <a:bodyPr wrap="square" lIns="0" tIns="0" rIns="0" bIns="0" rtlCol="0" anchor="ctr"/>
          <a:lstStyle/>
          <a:p>
            <a:pPr indent="0" marL="0">
              <a:buNone/>
            </a:pPr>
            <a:r>
              <a:rPr lang="en-US" sz="1150" b="1" dirty="0">
                <a:solidFill>
                  <a:srgbClr val="141821"/>
                </a:solidFill>
                <a:latin typeface="Cambria" pitchFamily="34" charset="0"/>
                <a:ea typeface="Cambria" pitchFamily="34" charset="-122"/>
                <a:cs typeface="Cambria" pitchFamily="34" charset="-120"/>
              </a:rPr>
              <a:t>Diseño de un pipeline experimental reproducible para la clasificación de fake news mediante modelos de aprendizaje automático</a:t>
            </a:r>
            <a:endParaRPr lang="en-US" sz="1150" dirty="0"/>
          </a:p>
        </p:txBody>
      </p:sp>
      <p:sp>
        <p:nvSpPr>
          <p:cNvPr id="10" name="Shape 6"/>
          <p:cNvSpPr/>
          <p:nvPr/>
        </p:nvSpPr>
        <p:spPr>
          <a:xfrm>
            <a:off x="493776" y="4041648"/>
            <a:ext cx="8193024" cy="0"/>
          </a:xfrm>
          <a:prstGeom prst="line">
            <a:avLst/>
          </a:prstGeom>
          <a:noFill/>
          <a:ln w="12700">
            <a:solidFill>
              <a:srgbClr val="141821"/>
            </a:solidFill>
            <a:prstDash val="solid"/>
          </a:ln>
        </p:spPr>
      </p:sp>
      <p:sp>
        <p:nvSpPr>
          <p:cNvPr id="11" name="Text 7"/>
          <p:cNvSpPr txBox="1"/>
          <p:nvPr/>
        </p:nvSpPr>
        <p:spPr>
          <a:xfrm>
            <a:off x="493776" y="4160520"/>
            <a:ext cx="1828800" cy="182880"/>
          </a:xfrm>
          <a:prstGeom prst="rect">
            <a:avLst/>
          </a:prstGeom>
          <a:noFill/>
          <a:ln/>
        </p:spPr>
        <p:txBody>
          <a:bodyPr wrap="square" lIns="0" tIns="0" rIns="0" bIns="0" rtlCol="0" anchor="ctr"/>
          <a:lstStyle/>
          <a:p>
            <a:pPr indent="0" marL="0">
              <a:buNone/>
            </a:pPr>
            <a:r>
              <a:rPr lang="en-US" sz="750" b="1" spc="150" kern="0" dirty="0">
                <a:solidFill>
                  <a:srgbClr val="5B6472"/>
                </a:solidFill>
                <a:latin typeface="Calibri" pitchFamily="34" charset="0"/>
                <a:ea typeface="Calibri" pitchFamily="34" charset="-122"/>
                <a:cs typeface="Calibri" pitchFamily="34" charset="-120"/>
              </a:rPr>
              <a:t>AUTOR</a:t>
            </a:r>
            <a:endParaRPr lang="en-US" sz="750" dirty="0"/>
          </a:p>
        </p:txBody>
      </p:sp>
      <p:sp>
        <p:nvSpPr>
          <p:cNvPr id="12" name="Text 8"/>
          <p:cNvSpPr txBox="1"/>
          <p:nvPr/>
        </p:nvSpPr>
        <p:spPr>
          <a:xfrm>
            <a:off x="493776" y="4343400"/>
            <a:ext cx="3657600" cy="22860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Álvaro Osuna Flores</a:t>
            </a:r>
            <a:endParaRPr lang="en-US" sz="1300" dirty="0"/>
          </a:p>
        </p:txBody>
      </p:sp>
      <p:sp>
        <p:nvSpPr>
          <p:cNvPr id="13" name="Text 9"/>
          <p:cNvSpPr txBox="1"/>
          <p:nvPr/>
        </p:nvSpPr>
        <p:spPr>
          <a:xfrm>
            <a:off x="493776" y="4572000"/>
            <a:ext cx="365760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Grado en Ingeniería Informática</a:t>
            </a:r>
            <a:endParaRPr lang="en-US" sz="1000" dirty="0"/>
          </a:p>
        </p:txBody>
      </p:sp>
      <p:sp>
        <p:nvSpPr>
          <p:cNvPr id="14" name="Text 10"/>
          <p:cNvSpPr txBox="1"/>
          <p:nvPr/>
        </p:nvSpPr>
        <p:spPr>
          <a:xfrm>
            <a:off x="5943600" y="4389120"/>
            <a:ext cx="2743200" cy="182880"/>
          </a:xfrm>
          <a:prstGeom prst="rect">
            <a:avLst/>
          </a:prstGeom>
          <a:noFill/>
          <a:ln/>
        </p:spPr>
        <p:txBody>
          <a:bodyPr wrap="square" lIns="0" tIns="0" rIns="0" bIns="0" rtlCol="0" anchor="ctr"/>
          <a:lstStyle/>
          <a:p>
            <a:pPr algn="r" indent="0" marL="0">
              <a:buNone/>
            </a:pPr>
            <a:r>
              <a:rPr lang="en-US" sz="750" b="1" spc="150" kern="0" dirty="0">
                <a:solidFill>
                  <a:srgbClr val="5B6472"/>
                </a:solidFill>
                <a:latin typeface="Calibri" pitchFamily="34" charset="0"/>
                <a:ea typeface="Calibri" pitchFamily="34" charset="-122"/>
                <a:cs typeface="Calibri" pitchFamily="34" charset="-120"/>
              </a:rPr>
              <a:t>TUTORA</a:t>
            </a:r>
            <a:endParaRPr lang="en-US" sz="750" dirty="0"/>
          </a:p>
        </p:txBody>
      </p:sp>
      <p:sp>
        <p:nvSpPr>
          <p:cNvPr id="15" name="Text 11"/>
          <p:cNvSpPr txBox="1"/>
          <p:nvPr/>
        </p:nvSpPr>
        <p:spPr>
          <a:xfrm>
            <a:off x="5029200" y="4572000"/>
            <a:ext cx="3657600" cy="219456"/>
          </a:xfrm>
          <a:prstGeom prst="rect">
            <a:avLst/>
          </a:prstGeom>
          <a:noFill/>
          <a:ln/>
        </p:spPr>
        <p:txBody>
          <a:bodyPr wrap="square" lIns="0" tIns="0" rIns="0" bIns="0" rtlCol="0" anchor="ctr"/>
          <a:lstStyle/>
          <a:p>
            <a:pPr algn="r" indent="0" marL="0">
              <a:buNone/>
            </a:pPr>
            <a:r>
              <a:rPr lang="en-US" sz="1150" b="1" dirty="0">
                <a:solidFill>
                  <a:srgbClr val="141821"/>
                </a:solidFill>
                <a:latin typeface="Calibri" pitchFamily="34" charset="0"/>
                <a:ea typeface="Calibri" pitchFamily="34" charset="-122"/>
                <a:cs typeface="Calibri" pitchFamily="34" charset="-120"/>
              </a:rPr>
              <a:t>Liliana Patricia Santacruz Valencia</a:t>
            </a:r>
            <a:endParaRPr lang="en-US" sz="1150" dirty="0"/>
          </a:p>
        </p:txBody>
      </p:sp>
      <p:sp>
        <p:nvSpPr>
          <p:cNvPr id="16" name="Text 12"/>
          <p:cNvSpPr txBox="1"/>
          <p:nvPr/>
        </p:nvSpPr>
        <p:spPr>
          <a:xfrm>
            <a:off x="8138160" y="4864608"/>
            <a:ext cx="822960" cy="182880"/>
          </a:xfrm>
          <a:prstGeom prst="rect">
            <a:avLst/>
          </a:prstGeom>
          <a:noFill/>
          <a:ln/>
        </p:spPr>
        <p:txBody>
          <a:bodyPr wrap="square" lIns="0" tIns="0" rIns="0" bIns="0" rtlCol="0" anchor="ctr"/>
          <a:lstStyle/>
          <a:p>
            <a:pPr algn="r" indent="0" marL="0">
              <a:buNone/>
            </a:pPr>
            <a:r>
              <a:rPr lang="en-US" sz="700" dirty="0">
                <a:solidFill>
                  <a:srgbClr val="9AA2AF"/>
                </a:solidFill>
                <a:latin typeface="Courier New" pitchFamily="34" charset="0"/>
                <a:ea typeface="Courier New" pitchFamily="34" charset="-122"/>
                <a:cs typeface="Courier New" pitchFamily="34" charset="-120"/>
              </a:rPr>
              <a:t>21 / 21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TFG · Pipeline experimental reproducible para la clasificación de fake news</dc:title>
  <dc:subject>PptxGenJS Presentation</dc:subject>
  <dc:creator>Álvaro Osuna Flores</dc:creator>
  <cp:lastModifiedBy>Álvaro Osuna Flores</cp:lastModifiedBy>
  <cp:revision>1</cp:revision>
  <dcterms:created xsi:type="dcterms:W3CDTF">2026-10-22T19:13:44Z</dcterms:created>
  <dcterms:modified xsi:type="dcterms:W3CDTF">2026-10-22T19:13:44Z</dcterms:modified>
</cp:coreProperties>
</file>